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16x9"/>
  <p:notesSz cx="6858000" cy="9144000"/>
  <p:defaultTextStyle>
    <a:defPPr>
      <a:defRPr lang="ru"/>
    </a:defPPr>
    <a:lvl1pPr marL="0" algn="l" defTabSz="457200" rtl="0" eaLnBrk="1" latinLnBrk="0" hangingPunct="1">
      <a:defRPr sz="1800" kern="1200" lang="ru">
        <a:solidFill>
          <a:schemeClr val="tx1"/>
        </a:solidFill>
        <a:latin typeface="+mn-lt"/>
        <a:ea typeface="+mn-ea"/>
        <a:cs typeface="+mn-cs"/>
      </a:defRPr>
    </a:lvl1pPr>
    <a:lvl2pPr marL="457200" algn="l" defTabSz="457200" rtl="0" eaLnBrk="1" latinLnBrk="0" hangingPunct="1">
      <a:defRPr sz="1800" kern="1200" lang="ru">
        <a:solidFill>
          <a:schemeClr val="tx1"/>
        </a:solidFill>
        <a:latin typeface="+mn-lt"/>
        <a:ea typeface="+mn-ea"/>
        <a:cs typeface="+mn-cs"/>
      </a:defRPr>
    </a:lvl2pPr>
    <a:lvl3pPr marL="914400" algn="l" defTabSz="457200" rtl="0" eaLnBrk="1" latinLnBrk="0" hangingPunct="1">
      <a:defRPr sz="1800" kern="1200" lang="ru">
        <a:solidFill>
          <a:schemeClr val="tx1"/>
        </a:solidFill>
        <a:latin typeface="+mn-lt"/>
        <a:ea typeface="+mn-ea"/>
        <a:cs typeface="+mn-cs"/>
      </a:defRPr>
    </a:lvl3pPr>
    <a:lvl4pPr marL="1371600" algn="l" defTabSz="457200" rtl="0" eaLnBrk="1" latinLnBrk="0" hangingPunct="1">
      <a:defRPr sz="1800" kern="1200" lang="ru">
        <a:solidFill>
          <a:schemeClr val="tx1"/>
        </a:solidFill>
        <a:latin typeface="+mn-lt"/>
        <a:ea typeface="+mn-ea"/>
        <a:cs typeface="+mn-cs"/>
      </a:defRPr>
    </a:lvl4pPr>
    <a:lvl5pPr marL="1828800" algn="l" defTabSz="457200" rtl="0" eaLnBrk="1" latinLnBrk="0" hangingPunct="1">
      <a:defRPr sz="1800" kern="1200" lang="ru">
        <a:solidFill>
          <a:schemeClr val="tx1"/>
        </a:solidFill>
        <a:latin typeface="+mn-lt"/>
        <a:ea typeface="+mn-ea"/>
        <a:cs typeface="+mn-cs"/>
      </a:defRPr>
    </a:lvl5pPr>
    <a:lvl6pPr marL="2286000" algn="l" defTabSz="457200" rtl="0" eaLnBrk="1" latinLnBrk="0" hangingPunct="1">
      <a:defRPr sz="1800" kern="1200" lang="ru">
        <a:solidFill>
          <a:schemeClr val="tx1"/>
        </a:solidFill>
        <a:latin typeface="+mn-lt"/>
        <a:ea typeface="+mn-ea"/>
        <a:cs typeface="+mn-cs"/>
      </a:defRPr>
    </a:lvl6pPr>
    <a:lvl7pPr marL="2743200" algn="l" defTabSz="457200" rtl="0" eaLnBrk="1" latinLnBrk="0" hangingPunct="1">
      <a:defRPr sz="1800" kern="1200" lang="ru">
        <a:solidFill>
          <a:schemeClr val="tx1"/>
        </a:solidFill>
        <a:latin typeface="+mn-lt"/>
        <a:ea typeface="+mn-ea"/>
        <a:cs typeface="+mn-cs"/>
      </a:defRPr>
    </a:lvl7pPr>
    <a:lvl8pPr marL="3200400" algn="l" defTabSz="457200" rtl="0" eaLnBrk="1" latinLnBrk="0" hangingPunct="1">
      <a:defRPr sz="1800" kern="1200" lang="ru">
        <a:solidFill>
          <a:schemeClr val="tx1"/>
        </a:solidFill>
        <a:latin typeface="+mn-lt"/>
        <a:ea typeface="+mn-ea"/>
        <a:cs typeface="+mn-cs"/>
      </a:defRPr>
    </a:lvl8pPr>
    <a:lvl9pPr marL="3657600" algn="l" defTabSz="457200" rtl="0" eaLnBrk="1" latinLnBrk="0" hangingPunct="1">
      <a:defRPr sz="1800" kern="1200" lang="ru">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ru"/>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ru"/>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ru"/>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ru"/>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ru"/>
          </a:p>
        </p:txBody>
      </p:sp>
    </p:spTree>
  </p:cSld>
  <p:clrMap bg1="lt1" tx1="dk1" bg2="lt2" tx2="dk2" accent1="accent1" accent2="accent2" accent3="accent3" accent4="accent4" accent5="accent5" accent6="accent6" hlink="hlink" folHlink="folHlink"/>
  <p:hf/>
  <p:notesStyle>
    <a:lvl1pPr marL="0" algn="l">
      <a:defRPr sz="1200" lang="ru"/>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Добрый день. Мы, Илья Давиденко и Дарья Данилова, студенты первого курса магистратуры, группа БИ-02. Тема нашего доклада: «Интернет вещей и анализ потоковых данных».</a:t>
            </a:r>
          </a:p>
          <a:p>
            <a:pPr/>
            <a:endParaRPr lang="ru" dirty="0"/>
          </a:p>
          <a:p>
            <a:pPr/>
            <a:r>
              <a:rPr lang="ru" dirty="0"/>
              <a:t>Основная мысль доклада такая: данные интернета вещей поступают непрерывно, поэтому их анализируют как поток, а не пакетами.</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Доклад состоит из пяти частей. Сначала мы определим, что такое интернет вещей, и приведём оценки его масштаба. Затем опишем, как устроена система интернета вещей и какими свойствами обладают её данные.</a:t>
            </a:r>
          </a:p>
          <a:p>
            <a:pPr/>
            <a:endParaRPr lang="ru" dirty="0"/>
          </a:p>
          <a:p>
            <a:pPr/>
            <a:r>
              <a:rPr lang="ru" dirty="0"/>
              <a:t>В третьей части сравним пакетную и потоковую обработку. В четвёртой разберём основные понятия потокового анализа и инструменты, на которых он строится. В завершение рассмотрим пример и сформулируем выводы.</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Интернетом вещей называют сеть физических устройств, которые оснащены датчиками, подключены к сети и обмениваются данными без постоянного участия человека. Это промышленные датчики, счётчики, медицинские приборы, транспорт, элементы умного дома.</a:t>
            </a:r>
          </a:p>
          <a:p>
            <a:pPr/>
            <a:endParaRPr lang="ru" dirty="0"/>
          </a:p>
          <a:p>
            <a:pPr/>
            <a:r>
              <a:rPr lang="ru" dirty="0"/>
              <a:t>Сам термин предложил Кевин Эштон в 1999 году. Так он назвал презентацию для компании Procter &amp; Gamble о радиочастотных метках в цепочке поставок.</a:t>
            </a:r>
          </a:p>
          <a:p>
            <a:pPr/>
            <a:endParaRPr lang="ru" dirty="0"/>
          </a:p>
          <a:p>
            <a:pPr/>
            <a:r>
              <a:rPr lang="ru" dirty="0"/>
              <a:t>Масштаб технологии показывают оценки аналитической компании IoT Analytics. В 2024 году в мире было около 18,5 миллиарда подключённых устройств. По оценке на конец 2025 года, их число выросло на 14 процентов, до 21,1 миллиарда. К 2030 году компания прогнозирует около 39 миллиардов устройств, то есть рост примерно на 13 процентов в год. Это оценки и прогноз, и у разных агентств методика подсчёта различается.</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Чтобы понять, откуда берётся поток данных, рассмотрим устройство системы интернета вещей. Обычно в ней выделяют четыре уровня.</a:t>
            </a:r>
          </a:p>
          <a:p>
            <a:pPr/>
            <a:endParaRPr lang="ru" dirty="0"/>
          </a:p>
          <a:p>
            <a:pPr/>
            <a:r>
              <a:rPr lang="ru" dirty="0"/>
              <a:t>Первый уровень: устройства и датчики. Они измеряют температуру, давление, вибрацию, координаты и другие величины.</a:t>
            </a:r>
          </a:p>
          <a:p>
            <a:pPr/>
            <a:endParaRPr lang="ru" dirty="0"/>
          </a:p>
          <a:p>
            <a:pPr/>
            <a:r>
              <a:rPr lang="ru" dirty="0"/>
              <a:t>Второй уровень: шлюзы и граничные вычисления. Шлюз собирает данные от ближайших устройств, фильтрует их и передаёт дальше. Часть расчётов выполняется прямо здесь, рядом с источником. Такой подход называют граничными вычислениями.</a:t>
            </a:r>
          </a:p>
          <a:p>
            <a:pPr/>
            <a:endParaRPr lang="ru" dirty="0"/>
          </a:p>
          <a:p>
            <a:pPr/>
            <a:r>
              <a:rPr lang="ru" dirty="0"/>
              <a:t>Третий уровень: сеть и брокер сообщений. Брокер принимает данные от множества устройств и передаёт их системам, которые на них подписаны. Для передачи часто используют протокол MQTT. Это облегчённый протокол, который работает по схеме публикации и подписки. Его версия 5.0 стала стандартом OASIS в 2019 году.</a:t>
            </a:r>
          </a:p>
          <a:p>
            <a:pPr/>
            <a:endParaRPr lang="ru" dirty="0"/>
          </a:p>
          <a:p>
            <a:pPr/>
            <a:r>
              <a:rPr lang="ru" dirty="0"/>
              <a:t>Четвёртый уровень: платформа анализа и приложения. Здесь данные обрабатываются, сохраняются и превращаются в отчёты, оповещения и управляющие команды.</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Данные, которые производят такие системы, обладают четырьмя особенностями.</a:t>
            </a:r>
          </a:p>
          <a:p>
            <a:pPr/>
            <a:endParaRPr lang="ru" dirty="0"/>
          </a:p>
          <a:p>
            <a:pPr/>
            <a:r>
              <a:rPr lang="ru" dirty="0"/>
              <a:t>Во-первых, они поступают непрерывно. Датчик не прекращает работу после одного замера, поэтому набор данных не имеет заранее известного конца.</a:t>
            </a:r>
          </a:p>
          <a:p>
            <a:pPr/>
            <a:endParaRPr lang="ru" dirty="0"/>
          </a:p>
          <a:p>
            <a:pPr/>
            <a:r>
              <a:rPr lang="ru" dirty="0"/>
              <a:t>Во-вторых, каждое измерение привязано ко времени. Значение имеет не только результат замера, но и момент, когда он получен.</a:t>
            </a:r>
          </a:p>
          <a:p>
            <a:pPr/>
            <a:endParaRPr lang="ru" dirty="0"/>
          </a:p>
          <a:p>
            <a:pPr/>
            <a:r>
              <a:rPr lang="ru" dirty="0"/>
              <a:t>В-третьих, данные приходят с задержками и не всегда по порядку. Устройство может временно потерять связь, а затем передать накопленные записи.</a:t>
            </a:r>
          </a:p>
          <a:p>
            <a:pPr/>
            <a:endParaRPr lang="ru" dirty="0"/>
          </a:p>
          <a:p>
            <a:pPr/>
            <a:r>
              <a:rPr lang="ru" dirty="0"/>
              <a:t>В-четвёртых, объём и скорость поступления велики. При тысячах датчиков счёт идёт на тысячи измерений в секунду.</a:t>
            </a:r>
          </a:p>
          <a:p>
            <a:pPr/>
            <a:endParaRPr lang="ru" dirty="0"/>
          </a:p>
          <a:p>
            <a:pPr/>
            <a:r>
              <a:rPr lang="ru" dirty="0"/>
              <a:t>Из этих свойств следует, что данные интернета вещей удобно рассматривать как поток событий.</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Отсюда следует различие двух подходов к обработке.</a:t>
            </a:r>
          </a:p>
          <a:p>
            <a:pPr/>
            <a:endParaRPr lang="ru" dirty="0"/>
          </a:p>
          <a:p>
            <a:pPr/>
            <a:r>
              <a:rPr lang="ru" dirty="0"/>
              <a:t>Пакетная обработка имеет дело с ограниченным набором данных. Данные сначала накапливаются, а затем обрабатываются по расписанию, например раз в сутки. Результат появляется через минуты или часы. Этот подход применяют для отчётов за месяц и для обучения моделей на исторических данных.</a:t>
            </a:r>
          </a:p>
          <a:p>
            <a:pPr/>
            <a:endParaRPr lang="ru" dirty="0"/>
          </a:p>
          <a:p>
            <a:pPr/>
            <a:r>
              <a:rPr lang="ru" dirty="0"/>
              <a:t>Потоковая обработка имеет дело с неограниченным потоком. Каждое событие обрабатывается сразу после поступления, а результат обновляется непрерывно. Задержка составляет от долей секунды до нескольких секунд. Этот подход нужен там, где важна быстрая реакция: при обнаружении аварий, контроле оборудования, мониторинге транспорта.</a:t>
            </a:r>
          </a:p>
          <a:p>
            <a:pPr/>
            <a:endParaRPr lang="ru" dirty="0"/>
          </a:p>
          <a:p>
            <a:pPr/>
            <a:r>
              <a:rPr lang="ru" dirty="0"/>
              <a:t>На практике два подхода часто дополняют друг друга.</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Перейдём к основным понятиям потокового анализа. Их систематически описала модель Dataflow, которую инженеры Google опубликовали в 2015 году. В 2026 году эта работа получила премию VLDB Test of Time, которая отмечает работы с долгосрочным влиянием.</a:t>
            </a:r>
          </a:p>
          <a:p>
            <a:pPr/>
            <a:endParaRPr lang="ru" dirty="0"/>
          </a:p>
          <a:p>
            <a:pPr/>
            <a:r>
              <a:rPr lang="ru" dirty="0"/>
              <a:t>Первое понятие: время события. Это момент, когда измерение произошло на устройстве. Второе понятие: время обработки. Это момент, когда событие дошло до системы. Из-за задержек сети эти моменты расходятся, и события приходят не по порядку.</a:t>
            </a:r>
          </a:p>
          <a:p>
            <a:pPr/>
            <a:endParaRPr lang="ru" dirty="0"/>
          </a:p>
          <a:p>
            <a:pPr/>
            <a:r>
              <a:rPr lang="ru" dirty="0"/>
              <a:t>Корректный анализ опирается на время события. При этом системе нужно понимать, когда данные за период можно считать полными. Для этого используется водяной знак. Он сообщает системе, что событий старше определённого момента больше не ожидается. На схеме событие 3 произошло раньше события 4, но дошло до системы уже после водяного знака. Такое событие считается опоздавшим. Опоздавшие события учитывают отдельно или отбрасывают.</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Поток не имеет конца, поэтому посчитать по нему, например, среднее значение напрямую нельзя. Для расчётов поток делят на окна, то есть на конечные интервалы времени. Рассмотрим три основных типа окон. Все они есть, например, в Apache Flink.</a:t>
            </a:r>
          </a:p>
          <a:p>
            <a:pPr/>
            <a:endParaRPr lang="ru" dirty="0"/>
          </a:p>
          <a:p>
            <a:pPr/>
            <a:r>
              <a:rPr lang="ru" dirty="0"/>
              <a:t>Фиксированные окна имеют одинаковую длину и не пересекаются. Например, система считает среднюю температуру за каждую минуту.</a:t>
            </a:r>
          </a:p>
          <a:p>
            <a:pPr/>
            <a:endParaRPr lang="ru" dirty="0"/>
          </a:p>
          <a:p>
            <a:pPr/>
            <a:r>
              <a:rPr lang="ru" dirty="0"/>
              <a:t>Скользящие окна тоже имеют фиксированную длину, но сдвигаются с меньшим шагом и поэтому пересекаются. Например, окно длиной пять минут пересчитывается каждую минуту. Так получается сглаженная картина.</a:t>
            </a:r>
          </a:p>
          <a:p>
            <a:pPr/>
            <a:endParaRPr lang="ru" dirty="0"/>
          </a:p>
          <a:p>
            <a:pPr/>
            <a:r>
              <a:rPr lang="ru" dirty="0"/>
              <a:t>Сессионные окна не имеют фиксированной длины. Окно закрывается, когда от источника какое-то время не поступает событий. Их используют для анализа периодов активности устройства.</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Теперь об инструментах. Типичная потоковая система состоит из двух основных компонентов.</a:t>
            </a:r>
          </a:p>
          <a:p>
            <a:pPr/>
            <a:endParaRPr lang="ru" dirty="0"/>
          </a:p>
          <a:p>
            <a:pPr/>
            <a:r>
              <a:rPr lang="ru" dirty="0"/>
              <a:t>Первый компонент: брокер сообщений. Широко используемый пример: Apache Kafka, которую создали в LinkedIn и открыли в 2011 году. Брокер принимает события от устройств, хранит их в журнале и передаёт обработчикам.</a:t>
            </a:r>
          </a:p>
          <a:p>
            <a:pPr/>
            <a:endParaRPr lang="ru" dirty="0"/>
          </a:p>
          <a:p>
            <a:pPr/>
            <a:r>
              <a:rPr lang="ru" dirty="0"/>
              <a:t>Второй компонент: движок потоковой обработки, например Apache Flink или Spark Structured Streaming. Он применяет к потоку окна, агрегирует данные и передаёт результаты в хранилище и приложения.</a:t>
            </a:r>
          </a:p>
          <a:p>
            <a:pPr/>
            <a:endParaRPr lang="ru" dirty="0"/>
          </a:p>
          <a:p>
            <a:pPr/>
            <a:r>
              <a:rPr lang="ru" dirty="0"/>
              <a:t>Компоненты объединяют по разным архитектурам. В архитектуре Lambda, которую описал Натан Марц в 2011 году, данные проходят два контура: пакетный и потоковый. Логику обработки при этом приходится поддерживать дважды. В архитектуре Kappa, которую предложил Джей Крепс в 2014 году, остаётся только потоковый контур. Пересчёт истории в ней выполняется повторным чтением журнала.</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Рассмотрим, как эти элементы работают вместе, на условном примере мониторинга насосной станции.</a:t>
            </a:r>
          </a:p>
          <a:p>
            <a:pPr/>
            <a:endParaRPr lang="ru" dirty="0"/>
          </a:p>
          <a:p>
            <a:pPr/>
            <a:r>
              <a:rPr lang="ru" dirty="0"/>
              <a:t>На станции установлено 200 датчиков вибрации. Каждый делает 10 замеров в секунду, то есть система получает 2 000 событий в секунду. Шлюз на станции отсеивает явно ошибочные значения и передаёт данные в Kafka.</a:t>
            </a:r>
          </a:p>
          <a:p>
            <a:pPr/>
            <a:endParaRPr lang="ru" dirty="0"/>
          </a:p>
          <a:p>
            <a:pPr/>
            <a:r>
              <a:rPr lang="ru" dirty="0"/>
              <a:t>Движок обработки группирует события каждого насоса в фиксированные окна длиной одна минута по времени события. Для каждого окна он считает среднее и максимальное значение вибрации и сравнивает их с допустимым порогом.</a:t>
            </a:r>
          </a:p>
          <a:p>
            <a:pPr/>
            <a:endParaRPr lang="ru" dirty="0"/>
          </a:p>
          <a:p>
            <a:pPr/>
            <a:r>
              <a:rPr lang="ru" dirty="0"/>
              <a:t>Если порог превышен, диспетчер получает оповещение в течение минуты после начала отклонения. Одновременно агрегированные данные сохраняются в хранилище, и по ним строятся пакетные отчёты.</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Подведём итоги.</a:t>
            </a:r>
          </a:p>
          <a:p>
            <a:pPr/>
            <a:endParaRPr lang="ru" dirty="0"/>
          </a:p>
          <a:p>
            <a:pPr/>
            <a:r>
              <a:rPr lang="ru" dirty="0"/>
              <a:t>Первое: в мире работает более 20 миллиардов подключённых устройств, и они непрерывно производят данные с метками времени.</a:t>
            </a:r>
          </a:p>
          <a:p>
            <a:pPr/>
            <a:endParaRPr lang="ru" dirty="0"/>
          </a:p>
          <a:p>
            <a:pPr/>
            <a:r>
              <a:rPr lang="ru" dirty="0"/>
              <a:t>Второе: такие данные анализируют в потоковом режиме. Его основу составляют время события, водяные знаки и окна.</a:t>
            </a:r>
          </a:p>
          <a:p>
            <a:pPr/>
            <a:endParaRPr lang="ru" dirty="0"/>
          </a:p>
          <a:p>
            <a:pPr/>
            <a:r>
              <a:rPr lang="ru" dirty="0"/>
              <a:t>Третье: потоковые системы строят из брокера сообщений и движка обработки, а пакетная обработка дополняет их для отчётов и работы с историей.</a:t>
            </a:r>
          </a:p>
          <a:p>
            <a:pPr/>
            <a:endParaRPr lang="ru" dirty="0"/>
          </a:p>
          <a:p>
            <a:pPr/>
            <a:r>
              <a:rPr lang="ru" dirty="0"/>
              <a:t>Среди ограничений подхода: опоздавшие данные, защита большого числа устройств, стоимость хранения и качество измерений.</a:t>
            </a:r>
          </a:p>
          <a:p>
            <a:pPr/>
            <a:endParaRPr lang="ru" dirty="0"/>
          </a:p>
          <a:p>
            <a:pPr/>
            <a:r>
              <a:rPr lang="ru" dirty="0"/>
              <a:t>Главная мысль доклада остаётся прежней: данные интернета вещей поступают непрерывно, поэтому их анализируют как поток, а не пакетами.</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ru" dirty="0"/>
              <a:t>На последнем слайде приведены источники, на которые мы опирались. Это отчёт IoT Analytics, статьи о модели Dataflow и о Kafka, документация Apache Flink и стандарт MQTT. Также мы использовали работы авторов архитектур Lambda и Kappa. Спасибо за внимание.</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iot-streamin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ru" smtClean="0"/>
              <a:t>1/27/13</a:t>
            </a:fld>
            <a:endParaRPr lang="ru"/>
          </a:p>
        </p:txBody>
      </p:sp>
      <p:sp>
        <p:nvSpPr>
          <p:cNvPr id="3" name="Footer Placeholder 2"/>
          <p:cNvSpPr>
            <a:spLocks noGrp="1"/>
          </p:cNvSpPr>
          <p:nvPr>
            <p:ph type="ftr" sz="quarter" idx="11"/>
          </p:nvPr>
        </p:nvSpPr>
        <p:spPr/>
        <p:txBody>
          <a:bodyPr/>
          <a:lstStyle/>
          <a:p>
            <a:endParaRPr lang="ru"/>
          </a:p>
        </p:txBody>
      </p:sp>
      <p:sp>
        <p:nvSpPr>
          <p:cNvPr id="4" name="Slide Number Placeholder 3"/>
          <p:cNvSpPr>
            <a:spLocks noGrp="1"/>
          </p:cNvSpPr>
          <p:nvPr>
            <p:ph type="sldNum" sz="quarter" idx="12"/>
          </p:nvPr>
        </p:nvSpPr>
        <p:spPr/>
        <p:txBody>
          <a:bodyPr/>
          <a:lstStyle/>
          <a:p>
            <a:fld id="{C1FF6DA9-008F-8B48-92A6-B652298478BF}" type="slidenum">
              <a:rPr lang="ru" smtClean="0"/>
              <a:t>‹#›</a:t>
            </a:fld>
            <a:endParaRPr lang="ru"/>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iot-streamin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ru">
                <a:solidFill>
                  <a:schemeClr val="tx1">
                    <a:tint val="75000"/>
                  </a:schemeClr>
                </a:solidFill>
              </a:defRPr>
            </a:lvl1pPr>
          </a:lstStyle>
          <a:p>
            <a:fld id="{5BCAD085-E8A6-8845-BD4E-CB4CCA059FC4}" type="datetimeFigureOut">
              <a:rPr lang="ru" smtClean="0"/>
              <a:t>1/27/13</a:t>
            </a:fld>
            <a:endParaRPr lang="r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ru">
                <a:solidFill>
                  <a:schemeClr val="tx1">
                    <a:tint val="75000"/>
                  </a:schemeClr>
                </a:solidFill>
              </a:defRPr>
            </a:lvl1pPr>
          </a:lstStyle>
          <a:p>
            <a:endParaRPr lang="r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ru">
                <a:solidFill>
                  <a:schemeClr val="tx1">
                    <a:tint val="75000"/>
                  </a:schemeClr>
                </a:solidFill>
              </a:defRPr>
            </a:lvl1pPr>
          </a:lstStyle>
          <a:p>
            <a:fld id="{C1FF6DA9-008F-8B48-92A6-B652298478BF}" type="slidenum">
              <a:rPr lang="ru" smtClean="0"/>
              <a:t>‹#›</a:t>
            </a:fld>
            <a:endParaRPr lang="ru"/>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ru">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ru">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ru">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ru">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ru">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ru">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ru">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ru">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ru">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ru">
          <a:solidFill>
            <a:schemeClr val="tx1"/>
          </a:solidFill>
          <a:latin typeface="+mn-lt"/>
          <a:ea typeface="+mn-ea"/>
          <a:cs typeface="+mn-cs"/>
        </a:defRPr>
      </a:lvl9pPr>
    </p:bodyStyle>
    <p:otherStyle>
      <a:defPPr>
        <a:defRPr lang="ru"/>
      </a:defPPr>
      <a:lvl1pPr marL="0" algn="l" defTabSz="457200" rtl="0" eaLnBrk="1" latinLnBrk="0" hangingPunct="1">
        <a:defRPr sz="1800" kern="1200" lang="ru">
          <a:solidFill>
            <a:schemeClr val="tx1"/>
          </a:solidFill>
          <a:latin typeface="+mn-lt"/>
          <a:ea typeface="+mn-ea"/>
          <a:cs typeface="+mn-cs"/>
        </a:defRPr>
      </a:lvl1pPr>
      <a:lvl2pPr marL="457200" algn="l" defTabSz="457200" rtl="0" eaLnBrk="1" latinLnBrk="0" hangingPunct="1">
        <a:defRPr sz="1800" kern="1200" lang="ru">
          <a:solidFill>
            <a:schemeClr val="tx1"/>
          </a:solidFill>
          <a:latin typeface="+mn-lt"/>
          <a:ea typeface="+mn-ea"/>
          <a:cs typeface="+mn-cs"/>
        </a:defRPr>
      </a:lvl2pPr>
      <a:lvl3pPr marL="914400" algn="l" defTabSz="457200" rtl="0" eaLnBrk="1" latinLnBrk="0" hangingPunct="1">
        <a:defRPr sz="1800" kern="1200" lang="ru">
          <a:solidFill>
            <a:schemeClr val="tx1"/>
          </a:solidFill>
          <a:latin typeface="+mn-lt"/>
          <a:ea typeface="+mn-ea"/>
          <a:cs typeface="+mn-cs"/>
        </a:defRPr>
      </a:lvl3pPr>
      <a:lvl4pPr marL="1371600" algn="l" defTabSz="457200" rtl="0" eaLnBrk="1" latinLnBrk="0" hangingPunct="1">
        <a:defRPr sz="1800" kern="1200" lang="ru">
          <a:solidFill>
            <a:schemeClr val="tx1"/>
          </a:solidFill>
          <a:latin typeface="+mn-lt"/>
          <a:ea typeface="+mn-ea"/>
          <a:cs typeface="+mn-cs"/>
        </a:defRPr>
      </a:lvl4pPr>
      <a:lvl5pPr marL="1828800" algn="l" defTabSz="457200" rtl="0" eaLnBrk="1" latinLnBrk="0" hangingPunct="1">
        <a:defRPr sz="1800" kern="1200" lang="ru">
          <a:solidFill>
            <a:schemeClr val="tx1"/>
          </a:solidFill>
          <a:latin typeface="+mn-lt"/>
          <a:ea typeface="+mn-ea"/>
          <a:cs typeface="+mn-cs"/>
        </a:defRPr>
      </a:lvl5pPr>
      <a:lvl6pPr marL="2286000" algn="l" defTabSz="457200" rtl="0" eaLnBrk="1" latinLnBrk="0" hangingPunct="1">
        <a:defRPr sz="1800" kern="1200" lang="ru">
          <a:solidFill>
            <a:schemeClr val="tx1"/>
          </a:solidFill>
          <a:latin typeface="+mn-lt"/>
          <a:ea typeface="+mn-ea"/>
          <a:cs typeface="+mn-cs"/>
        </a:defRPr>
      </a:lvl6pPr>
      <a:lvl7pPr marL="2743200" algn="l" defTabSz="457200" rtl="0" eaLnBrk="1" latinLnBrk="0" hangingPunct="1">
        <a:defRPr sz="1800" kern="1200" lang="ru">
          <a:solidFill>
            <a:schemeClr val="tx1"/>
          </a:solidFill>
          <a:latin typeface="+mn-lt"/>
          <a:ea typeface="+mn-ea"/>
          <a:cs typeface="+mn-cs"/>
        </a:defRPr>
      </a:lvl7pPr>
      <a:lvl8pPr marL="3200400" algn="l" defTabSz="457200" rtl="0" eaLnBrk="1" latinLnBrk="0" hangingPunct="1">
        <a:defRPr sz="1800" kern="1200" lang="ru">
          <a:solidFill>
            <a:schemeClr val="tx1"/>
          </a:solidFill>
          <a:latin typeface="+mn-lt"/>
          <a:ea typeface="+mn-ea"/>
          <a:cs typeface="+mn-cs"/>
        </a:defRPr>
      </a:lvl8pPr>
      <a:lvl9pPr marL="3657600" algn="l" defTabSz="457200" rtl="0" eaLnBrk="1" latinLnBrk="0" hangingPunct="1">
        <a:defRPr sz="1800" kern="1200" lang="ru">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3" name="stream-field"/>
          <p:cNvGrpSpPr/>
          <p:nvPr/>
        </p:nvGrpSpPr>
        <p:grpSpPr>
          <a:xfrm>
            <a:off x="8382000" y="0"/>
            <a:ext cx="3810000" cy="6858000"/>
            <a:chOff x="8382000" y="0"/>
            <a:chExt cx="3810000" cy="6858000"/>
          </a:xfrm>
        </p:grpSpPr>
        <p:sp>
          <p:nvSpPr>
            <p:cNvPr id="2" name="Rectangle 2"/>
            <p:cNvSpPr/>
            <p:nvPr/>
          </p:nvSpPr>
          <p:spPr>
            <a:xfrm>
              <a:off x="8382000" y="0"/>
              <a:ext cx="3810000" cy="6858000"/>
            </a:xfrm>
            <a:prstGeom prst="rect">
              <a:avLst/>
            </a:prstGeom>
            <a:solidFill>
              <a:srgbClr val="0E6680"/>
            </a:solidFill>
            <a:ln>
              <a:noFill/>
            </a:ln>
          </p:spPr>
        </p:sp>
        <p:grpSp>
          <p:nvGrpSpPr>
            <p:cNvPr id="6" name="stream-lines"/>
            <p:cNvGrpSpPr/>
            <p:nvPr/>
          </p:nvGrpSpPr>
          <p:grpSpPr>
            <a:xfrm>
              <a:off x="8763000" y="2381250"/>
              <a:ext cx="3009900" cy="2095501"/>
              <a:chOff x="8763000" y="2381250"/>
              <a:chExt cx="3009900" cy="2095501"/>
            </a:xfrm>
          </p:grpSpPr>
          <p:sp>
            <p:nvSpPr>
              <p:cNvPr id="3" name="Line 3"/>
              <p:cNvSpPr/>
              <p:nvPr/>
            </p:nvSpPr>
            <p:spPr>
              <a:xfrm>
                <a:off x="8763000" y="2381250"/>
                <a:ext cx="3009900" cy="1"/>
              </a:xfrm>
              <a:prstGeom prst="line">
                <a:avLst/>
              </a:prstGeom>
              <a:noFill/>
              <a:ln w="19050">
                <a:solidFill>
                  <a:srgbClr val="7FB3C4"/>
                </a:solidFill>
                <a:tailEnd type="triangle" w="lg" len="lg"/>
              </a:ln>
            </p:spPr>
          </p:sp>
          <p:sp>
            <p:nvSpPr>
              <p:cNvPr id="4" name="Line 4"/>
              <p:cNvSpPr/>
              <p:nvPr/>
            </p:nvSpPr>
            <p:spPr>
              <a:xfrm>
                <a:off x="8763000" y="3429000"/>
                <a:ext cx="3009900" cy="1"/>
              </a:xfrm>
              <a:prstGeom prst="line">
                <a:avLst/>
              </a:prstGeom>
              <a:noFill/>
              <a:ln w="19050">
                <a:solidFill>
                  <a:srgbClr val="7FB3C4"/>
                </a:solidFill>
                <a:tailEnd type="triangle" w="lg" len="lg"/>
              </a:ln>
            </p:spPr>
          </p:sp>
          <p:sp>
            <p:nvSpPr>
              <p:cNvPr id="5" name="Line 5"/>
              <p:cNvSpPr/>
              <p:nvPr/>
            </p:nvSpPr>
            <p:spPr>
              <a:xfrm>
                <a:off x="8763000" y="4476750"/>
                <a:ext cx="3009900" cy="1"/>
              </a:xfrm>
              <a:prstGeom prst="line">
                <a:avLst/>
              </a:prstGeom>
              <a:noFill/>
              <a:ln w="19050">
                <a:solidFill>
                  <a:srgbClr val="7FB3C4"/>
                </a:solidFill>
                <a:tailEnd type="triangle" w="lg" len="lg"/>
              </a:ln>
            </p:spPr>
          </p:sp>
        </p:grpSp>
        <p:grpSp>
          <p:nvGrpSpPr>
            <p:cNvPr id="21" name="stream-events"/>
            <p:cNvGrpSpPr/>
            <p:nvPr/>
          </p:nvGrpSpPr>
          <p:grpSpPr>
            <a:xfrm>
              <a:off x="8877300" y="2305050"/>
              <a:ext cx="2590800" cy="2247900"/>
              <a:chOff x="8877300" y="2305050"/>
              <a:chExt cx="2590800" cy="2247900"/>
            </a:xfrm>
          </p:grpSpPr>
          <p:sp>
            <p:nvSpPr>
              <p:cNvPr id="7" name="Ellipse 7"/>
              <p:cNvSpPr/>
              <p:nvPr/>
            </p:nvSpPr>
            <p:spPr>
              <a:xfrm>
                <a:off x="8953500" y="2305050"/>
                <a:ext cx="152400" cy="152400"/>
              </a:xfrm>
              <a:prstGeom prst="ellipse">
                <a:avLst/>
              </a:prstGeom>
              <a:solidFill>
                <a:srgbClr val="FFFFFF"/>
              </a:solidFill>
              <a:ln>
                <a:noFill/>
              </a:ln>
            </p:spPr>
          </p:sp>
          <p:sp>
            <p:nvSpPr>
              <p:cNvPr id="8" name="Ellipse 8"/>
              <p:cNvSpPr/>
              <p:nvPr/>
            </p:nvSpPr>
            <p:spPr>
              <a:xfrm>
                <a:off x="9467850" y="2305050"/>
                <a:ext cx="152400" cy="152400"/>
              </a:xfrm>
              <a:prstGeom prst="ellipse">
                <a:avLst/>
              </a:prstGeom>
              <a:solidFill>
                <a:srgbClr val="FFFFFF"/>
              </a:solidFill>
              <a:ln>
                <a:noFill/>
              </a:ln>
            </p:spPr>
          </p:sp>
          <p:sp>
            <p:nvSpPr>
              <p:cNvPr id="9" name="Ellipse 9"/>
              <p:cNvSpPr/>
              <p:nvPr/>
            </p:nvSpPr>
            <p:spPr>
              <a:xfrm>
                <a:off x="9734550" y="2305050"/>
                <a:ext cx="152400" cy="152400"/>
              </a:xfrm>
              <a:prstGeom prst="ellipse">
                <a:avLst/>
              </a:prstGeom>
              <a:solidFill>
                <a:srgbClr val="FFFFFF"/>
              </a:solidFill>
              <a:ln>
                <a:noFill/>
              </a:ln>
            </p:spPr>
          </p:sp>
          <p:sp>
            <p:nvSpPr>
              <p:cNvPr id="10" name="Ellipse 10"/>
              <p:cNvSpPr/>
              <p:nvPr/>
            </p:nvSpPr>
            <p:spPr>
              <a:xfrm>
                <a:off x="10439400" y="2305050"/>
                <a:ext cx="152400" cy="152400"/>
              </a:xfrm>
              <a:prstGeom prst="ellipse">
                <a:avLst/>
              </a:prstGeom>
              <a:solidFill>
                <a:srgbClr val="FFFFFF"/>
              </a:solidFill>
              <a:ln>
                <a:noFill/>
              </a:ln>
            </p:spPr>
          </p:sp>
          <p:sp>
            <p:nvSpPr>
              <p:cNvPr id="11" name="Ellipse 11"/>
              <p:cNvSpPr/>
              <p:nvPr/>
            </p:nvSpPr>
            <p:spPr>
              <a:xfrm>
                <a:off x="11068050" y="2305050"/>
                <a:ext cx="152400" cy="152400"/>
              </a:xfrm>
              <a:prstGeom prst="ellipse">
                <a:avLst/>
              </a:prstGeom>
              <a:solidFill>
                <a:srgbClr val="FFFFFF"/>
              </a:solidFill>
              <a:ln>
                <a:noFill/>
              </a:ln>
            </p:spPr>
          </p:sp>
          <p:sp>
            <p:nvSpPr>
              <p:cNvPr id="12" name="Ellipse 12"/>
              <p:cNvSpPr/>
              <p:nvPr/>
            </p:nvSpPr>
            <p:spPr>
              <a:xfrm>
                <a:off x="9105900" y="3352800"/>
                <a:ext cx="152400" cy="152400"/>
              </a:xfrm>
              <a:prstGeom prst="ellipse">
                <a:avLst/>
              </a:prstGeom>
              <a:solidFill>
                <a:srgbClr val="FFFFFF"/>
              </a:solidFill>
              <a:ln>
                <a:noFill/>
              </a:ln>
            </p:spPr>
          </p:sp>
          <p:sp>
            <p:nvSpPr>
              <p:cNvPr id="13" name="Ellipse 13"/>
              <p:cNvSpPr/>
              <p:nvPr/>
            </p:nvSpPr>
            <p:spPr>
              <a:xfrm>
                <a:off x="9620250" y="3352800"/>
                <a:ext cx="152400" cy="152400"/>
              </a:xfrm>
              <a:prstGeom prst="ellipse">
                <a:avLst/>
              </a:prstGeom>
              <a:solidFill>
                <a:srgbClr val="FFFFFF"/>
              </a:solidFill>
              <a:ln>
                <a:noFill/>
              </a:ln>
            </p:spPr>
          </p:sp>
          <p:sp>
            <p:nvSpPr>
              <p:cNvPr id="14" name="Ellipse 14"/>
              <p:cNvSpPr/>
              <p:nvPr/>
            </p:nvSpPr>
            <p:spPr>
              <a:xfrm>
                <a:off x="10877550" y="3352800"/>
                <a:ext cx="152400" cy="152400"/>
              </a:xfrm>
              <a:prstGeom prst="ellipse">
                <a:avLst/>
              </a:prstGeom>
              <a:solidFill>
                <a:srgbClr val="FFFFFF"/>
              </a:solidFill>
              <a:ln>
                <a:noFill/>
              </a:ln>
            </p:spPr>
          </p:sp>
          <p:sp>
            <p:nvSpPr>
              <p:cNvPr id="15" name="Ellipse 15"/>
              <p:cNvSpPr/>
              <p:nvPr/>
            </p:nvSpPr>
            <p:spPr>
              <a:xfrm>
                <a:off x="11125200" y="3352800"/>
                <a:ext cx="152400" cy="152400"/>
              </a:xfrm>
              <a:prstGeom prst="ellipse">
                <a:avLst/>
              </a:prstGeom>
              <a:solidFill>
                <a:srgbClr val="FFFFFF"/>
              </a:solidFill>
              <a:ln>
                <a:noFill/>
              </a:ln>
            </p:spPr>
          </p:sp>
          <p:sp>
            <p:nvSpPr>
              <p:cNvPr id="16" name="Ellipse 16"/>
              <p:cNvSpPr/>
              <p:nvPr/>
            </p:nvSpPr>
            <p:spPr>
              <a:xfrm>
                <a:off x="8877300" y="4400550"/>
                <a:ext cx="152400" cy="152400"/>
              </a:xfrm>
              <a:prstGeom prst="ellipse">
                <a:avLst/>
              </a:prstGeom>
              <a:solidFill>
                <a:srgbClr val="FFFFFF"/>
              </a:solidFill>
              <a:ln>
                <a:noFill/>
              </a:ln>
            </p:spPr>
          </p:sp>
          <p:sp>
            <p:nvSpPr>
              <p:cNvPr id="17" name="Ellipse 17"/>
              <p:cNvSpPr/>
              <p:nvPr/>
            </p:nvSpPr>
            <p:spPr>
              <a:xfrm>
                <a:off x="10020300" y="4400550"/>
                <a:ext cx="152400" cy="152400"/>
              </a:xfrm>
              <a:prstGeom prst="ellipse">
                <a:avLst/>
              </a:prstGeom>
              <a:solidFill>
                <a:srgbClr val="FFFFFF"/>
              </a:solidFill>
              <a:ln>
                <a:noFill/>
              </a:ln>
            </p:spPr>
          </p:sp>
          <p:sp>
            <p:nvSpPr>
              <p:cNvPr id="18" name="Ellipse 18"/>
              <p:cNvSpPr/>
              <p:nvPr/>
            </p:nvSpPr>
            <p:spPr>
              <a:xfrm>
                <a:off x="10287000" y="4400550"/>
                <a:ext cx="152400" cy="152400"/>
              </a:xfrm>
              <a:prstGeom prst="ellipse">
                <a:avLst/>
              </a:prstGeom>
              <a:solidFill>
                <a:srgbClr val="FFFFFF"/>
              </a:solidFill>
              <a:ln>
                <a:noFill/>
              </a:ln>
            </p:spPr>
          </p:sp>
          <p:sp>
            <p:nvSpPr>
              <p:cNvPr id="19" name="Ellipse 19"/>
              <p:cNvSpPr/>
              <p:nvPr/>
            </p:nvSpPr>
            <p:spPr>
              <a:xfrm>
                <a:off x="10782300" y="4400550"/>
                <a:ext cx="152400" cy="152400"/>
              </a:xfrm>
              <a:prstGeom prst="ellipse">
                <a:avLst/>
              </a:prstGeom>
              <a:solidFill>
                <a:srgbClr val="FFFFFF"/>
              </a:solidFill>
              <a:ln>
                <a:noFill/>
              </a:ln>
            </p:spPr>
          </p:sp>
          <p:sp>
            <p:nvSpPr>
              <p:cNvPr id="20" name="Ellipse 20"/>
              <p:cNvSpPr/>
              <p:nvPr/>
            </p:nvSpPr>
            <p:spPr>
              <a:xfrm>
                <a:off x="11315700" y="4400550"/>
                <a:ext cx="152400" cy="152400"/>
              </a:xfrm>
              <a:prstGeom prst="ellipse">
                <a:avLst/>
              </a:prstGeom>
              <a:solidFill>
                <a:srgbClr val="FFFFFF"/>
              </a:solidFill>
              <a:ln>
                <a:noFill/>
              </a:ln>
            </p:spPr>
          </p:sp>
        </p:grpSp>
        <p:sp>
          <p:nvSpPr>
            <p:cNvPr id="22" name="Ellipse 22"/>
            <p:cNvSpPr/>
            <p:nvPr/>
          </p:nvSpPr>
          <p:spPr>
            <a:xfrm>
              <a:off x="10629900" y="3352800"/>
              <a:ext cx="152400" cy="152400"/>
            </a:xfrm>
            <a:prstGeom prst="ellipse">
              <a:avLst/>
            </a:prstGeom>
            <a:solidFill>
              <a:srgbClr val="F2B880"/>
            </a:solidFill>
            <a:ln>
              <a:noFill/>
            </a:ln>
          </p:spPr>
        </p:sp>
      </p:grpSp>
      <p:grpSp>
        <p:nvGrpSpPr>
          <p:cNvPr id="25" name="affiliation"/>
          <p:cNvGrpSpPr/>
          <p:nvPr/>
        </p:nvGrpSpPr>
        <p:grpSpPr>
          <a:xfrm>
            <a:off x="601980" y="876300"/>
            <a:ext cx="4137942" cy="293370"/>
            <a:chOff x="601980" y="876300"/>
            <a:chExt cx="4137942" cy="293370"/>
          </a:xfrm>
        </p:grpSpPr>
        <p:sp>
          <p:nvSpPr>
            <p:cNvPr id="24" name="TextBox 24"/>
            <p:cNvSpPr txBox="1"/>
            <p:nvPr/>
          </p:nvSpPr>
          <p:spPr>
            <a:xfrm>
              <a:off x="601980" y="876300"/>
              <a:ext cx="5048289" cy="293370"/>
            </a:xfrm>
            <a:prstGeom prst="rect">
              <a:avLst/>
            </a:prstGeom>
            <a:noFill/>
            <a:ln>
              <a:noFill/>
            </a:ln>
          </p:spPr>
          <p:txBody>
            <a:bodyPr wrap="square" lIns="0" tIns="0" rIns="0" bIns="0" anchor="t" anchorCtr="0">
              <a:spAutoFit/>
            </a:bodyPr>
            <a:lstStyle/>
            <a:p>
              <a:pPr algn="l"/>
              <a:r>
                <a:rPr lang="ru" sz="1500" b="1" dirty="0">
                  <a:solidFill>
                    <a:srgbClr val="0E6680"/>
                  </a:solidFill>
                  <a:latin typeface="+mn-lt"/>
                  <a:ea typeface="+mn-ea"/>
                  <a:cs typeface="+mn-cs"/>
                </a:rPr>
                <a:t>МГУ · 1 курс магистратуры · группа БИ-02</a:t>
              </a:r>
            </a:p>
          </p:txBody>
        </p:sp>
      </p:grpSp>
      <p:grpSp>
        <p:nvGrpSpPr>
          <p:cNvPr id="27" name="title"/>
          <p:cNvGrpSpPr/>
          <p:nvPr/>
        </p:nvGrpSpPr>
        <p:grpSpPr>
          <a:xfrm>
            <a:off x="590550" y="1752600"/>
            <a:ext cx="6171598" cy="1371600"/>
            <a:chOff x="590550" y="1752600"/>
            <a:chExt cx="6171598" cy="1371600"/>
          </a:xfrm>
        </p:grpSpPr>
        <p:sp>
          <p:nvSpPr>
            <p:cNvPr id="26" name="TextBox 26"/>
            <p:cNvSpPr txBox="1"/>
            <p:nvPr/>
          </p:nvSpPr>
          <p:spPr>
            <a:xfrm>
              <a:off x="590550" y="1752600"/>
              <a:ext cx="7529349" cy="1371600"/>
            </a:xfrm>
            <a:prstGeom prst="rect">
              <a:avLst/>
            </a:prstGeom>
            <a:noFill/>
            <a:ln>
              <a:noFill/>
            </a:ln>
          </p:spPr>
          <p:txBody>
            <a:bodyPr wrap="square" lIns="0" tIns="0" rIns="0" bIns="0" anchor="t" anchorCtr="0">
              <a:spAutoFit/>
            </a:bodyPr>
            <a:lstStyle/>
            <a:p>
              <a:pPr algn="l">
                <a:lnSpc>
                  <a:spcPts val="4800"/>
                </a:lnSpc>
              </a:pPr>
              <a:r>
                <a:rPr lang="ru" sz="3900" b="1" dirty="0">
                  <a:solidFill>
                    <a:srgbClr val="17212B"/>
                  </a:solidFill>
                  <a:latin typeface="+mn-lt"/>
                  <a:ea typeface="+mn-ea"/>
                  <a:cs typeface="+mn-cs"/>
                </a:rPr>
                <a:t>Интернет вещей и анализ</a:t>
              </a:r>
              <a:br>
                <a:rPr lang="ru" sz="3900" b="1" dirty="0">
                  <a:solidFill>
                    <a:srgbClr val="17212B"/>
                  </a:solidFill>
                  <a:latin typeface="+mn-lt"/>
                  <a:ea typeface="+mn-ea"/>
                  <a:cs typeface="+mn-cs"/>
                </a:rPr>
              </a:br>
              <a:r>
                <a:rPr lang="ru" sz="3900" b="1" dirty="0">
                  <a:solidFill>
                    <a:srgbClr val="17212B"/>
                  </a:solidFill>
                  <a:latin typeface="+mn-lt"/>
                  <a:ea typeface="+mn-ea"/>
                  <a:cs typeface="+mn-cs"/>
                </a:rPr>
                <a:t>потоковых данных</a:t>
              </a:r>
            </a:p>
          </p:txBody>
        </p:sp>
      </p:grpSp>
      <p:grpSp>
        <p:nvGrpSpPr>
          <p:cNvPr id="30" name="core-message"/>
          <p:cNvGrpSpPr/>
          <p:nvPr/>
        </p:nvGrpSpPr>
        <p:grpSpPr>
          <a:xfrm>
            <a:off x="600456" y="3143250"/>
            <a:ext cx="6182898" cy="1012444"/>
            <a:chOff x="600456" y="3143250"/>
            <a:chExt cx="6182898" cy="1012444"/>
          </a:xfrm>
        </p:grpSpPr>
        <p:sp>
          <p:nvSpPr>
            <p:cNvPr id="28" name="Rectangle 28"/>
            <p:cNvSpPr/>
            <p:nvPr/>
          </p:nvSpPr>
          <p:spPr>
            <a:xfrm>
              <a:off x="609600" y="3143250"/>
              <a:ext cx="762000" cy="57150"/>
            </a:xfrm>
            <a:prstGeom prst="rect">
              <a:avLst/>
            </a:prstGeom>
            <a:solidFill>
              <a:srgbClr val="0E6680"/>
            </a:solidFill>
            <a:ln>
              <a:noFill/>
            </a:ln>
          </p:spPr>
        </p:sp>
        <p:sp>
          <p:nvSpPr>
            <p:cNvPr id="29" name="TextBox 29"/>
            <p:cNvSpPr txBox="1"/>
            <p:nvPr/>
          </p:nvSpPr>
          <p:spPr>
            <a:xfrm>
              <a:off x="600456" y="3479800"/>
              <a:ext cx="7543135" cy="675894"/>
            </a:xfrm>
            <a:prstGeom prst="rect">
              <a:avLst/>
            </a:prstGeom>
            <a:noFill/>
            <a:ln>
              <a:noFill/>
            </a:ln>
          </p:spPr>
          <p:txBody>
            <a:bodyPr wrap="square" lIns="0" tIns="0" rIns="0" bIns="0" anchor="t" anchorCtr="0">
              <a:spAutoFit/>
            </a:bodyPr>
            <a:lstStyle/>
            <a:p>
              <a:pPr algn="l">
                <a:lnSpc>
                  <a:spcPts val="2550"/>
                </a:lnSpc>
              </a:pPr>
              <a:r>
                <a:rPr lang="ru" sz="1800" dirty="0">
                  <a:solidFill>
                    <a:srgbClr val="4A5663"/>
                  </a:solidFill>
                  <a:latin typeface="+mn-lt"/>
                  <a:ea typeface="+mn-ea"/>
                  <a:cs typeface="+mn-cs"/>
                </a:rPr>
                <a:t>Данные интернета вещей поступают непрерывно, поэтому</a:t>
              </a:r>
              <a:br>
                <a:rPr lang="ru" sz="1800" dirty="0">
                  <a:solidFill>
                    <a:srgbClr val="4A5663"/>
                  </a:solidFill>
                  <a:latin typeface="+mn-lt"/>
                  <a:ea typeface="+mn-ea"/>
                  <a:cs typeface="+mn-cs"/>
                </a:rPr>
              </a:br>
              <a:r>
                <a:rPr lang="ru" sz="1800" dirty="0">
                  <a:solidFill>
                    <a:srgbClr val="4A5663"/>
                  </a:solidFill>
                  <a:latin typeface="+mn-lt"/>
                  <a:ea typeface="+mn-ea"/>
                  <a:cs typeface="+mn-cs"/>
                </a:rPr>
                <a:t>их анализируют как поток, а не пакетами</a:t>
              </a:r>
            </a:p>
          </p:txBody>
        </p:sp>
      </p:grpSp>
      <p:grpSp>
        <p:nvGrpSpPr>
          <p:cNvPr id="34" name="authors"/>
          <p:cNvGrpSpPr/>
          <p:nvPr/>
        </p:nvGrpSpPr>
        <p:grpSpPr>
          <a:xfrm>
            <a:off x="600456" y="4991100"/>
            <a:ext cx="3181678" cy="1263396"/>
            <a:chOff x="600456" y="4991100"/>
            <a:chExt cx="3181678" cy="1263396"/>
          </a:xfrm>
        </p:grpSpPr>
        <p:sp>
          <p:nvSpPr>
            <p:cNvPr id="31" name="TextBox 31"/>
            <p:cNvSpPr txBox="1"/>
            <p:nvPr/>
          </p:nvSpPr>
          <p:spPr>
            <a:xfrm>
              <a:off x="603504" y="4991100"/>
              <a:ext cx="778916"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Авторы</a:t>
              </a:r>
            </a:p>
          </p:txBody>
        </p:sp>
        <p:sp>
          <p:nvSpPr>
            <p:cNvPr id="32" name="TextBox 32"/>
            <p:cNvSpPr txBox="1"/>
            <p:nvPr/>
          </p:nvSpPr>
          <p:spPr>
            <a:xfrm>
              <a:off x="600456" y="5251450"/>
              <a:ext cx="3881647" cy="675894"/>
            </a:xfrm>
            <a:prstGeom prst="rect">
              <a:avLst/>
            </a:prstGeom>
            <a:noFill/>
            <a:ln>
              <a:noFill/>
            </a:ln>
          </p:spPr>
          <p:txBody>
            <a:bodyPr wrap="square" lIns="0" tIns="0" rIns="0" bIns="0" anchor="t" anchorCtr="0">
              <a:spAutoFit/>
            </a:bodyPr>
            <a:lstStyle/>
            <a:p>
              <a:pPr algn="l">
                <a:lnSpc>
                  <a:spcPts val="2550"/>
                </a:lnSpc>
              </a:pPr>
              <a:r>
                <a:rPr lang="ru" sz="1800" b="1" dirty="0">
                  <a:solidFill>
                    <a:srgbClr val="17212B"/>
                  </a:solidFill>
                  <a:latin typeface="+mn-lt"/>
                  <a:ea typeface="+mn-ea"/>
                  <a:cs typeface="+mn-cs"/>
                </a:rPr>
                <a:t>Давиденко Илья Николаевич</a:t>
              </a:r>
              <a:br>
                <a:rPr lang="ru" sz="1800" b="1" dirty="0">
                  <a:solidFill>
                    <a:srgbClr val="17212B"/>
                  </a:solidFill>
                  <a:latin typeface="+mn-lt"/>
                  <a:ea typeface="+mn-ea"/>
                  <a:cs typeface="+mn-cs"/>
                </a:rPr>
              </a:br>
              <a:r>
                <a:rPr lang="ru" sz="1800" b="1" dirty="0">
                  <a:solidFill>
                    <a:srgbClr val="17212B"/>
                  </a:solidFill>
                  <a:latin typeface="+mn-lt"/>
                  <a:ea typeface="+mn-ea"/>
                  <a:cs typeface="+mn-cs"/>
                </a:rPr>
                <a:t>Данилова Дарья Олеговна</a:t>
              </a:r>
            </a:p>
          </p:txBody>
        </p:sp>
        <p:sp>
          <p:nvSpPr>
            <p:cNvPr id="33" name="TextBox 33"/>
            <p:cNvSpPr txBox="1"/>
            <p:nvPr/>
          </p:nvSpPr>
          <p:spPr>
            <a:xfrm>
              <a:off x="603504" y="6019800"/>
              <a:ext cx="1232311"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Москва,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830109" cy="714629"/>
            <a:chOff x="596646" y="381000"/>
            <a:chExt cx="830109" cy="71462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596900"/>
              <a:ext cx="1058709" cy="498729"/>
            </a:xfrm>
            <a:prstGeom prst="rect">
              <a:avLst/>
            </a:prstGeom>
            <a:noFill/>
            <a:ln>
              <a:noFill/>
            </a:ln>
          </p:spPr>
          <p:txBody>
            <a:bodyPr wrap="square" lIns="0" tIns="0" rIns="0" bIns="0" anchor="t" anchorCtr="0">
              <a:spAutoFit/>
            </a:bodyPr>
            <a:lstStyle/>
            <a:p>
              <a:pPr algn="l"/>
              <a:r>
                <a:rPr lang="ru" sz="2550" b="1" dirty="0">
                  <a:solidFill>
                    <a:srgbClr val="17212B"/>
                  </a:solidFill>
                  <a:latin typeface="+mn-lt"/>
                  <a:ea typeface="+mn-ea"/>
                  <a:cs typeface="+mn-cs"/>
                </a:rPr>
                <a:t>План</a:t>
              </a:r>
            </a:p>
          </p:txBody>
        </p:sp>
      </p:grpSp>
      <p:grpSp>
        <p:nvGrpSpPr>
          <p:cNvPr id="30" name="plan-list"/>
          <p:cNvGrpSpPr/>
          <p:nvPr/>
        </p:nvGrpSpPr>
        <p:grpSpPr>
          <a:xfrm>
            <a:off x="594360" y="1733550"/>
            <a:ext cx="10994136" cy="4295775"/>
            <a:chOff x="594360" y="1733550"/>
            <a:chExt cx="10994136" cy="4295775"/>
          </a:xfrm>
        </p:grpSpPr>
        <p:grpSp>
          <p:nvGrpSpPr>
            <p:cNvPr id="11" name="plan-rules"/>
            <p:cNvGrpSpPr/>
            <p:nvPr/>
          </p:nvGrpSpPr>
          <p:grpSpPr>
            <a:xfrm>
              <a:off x="609600" y="1733550"/>
              <a:ext cx="10972800" cy="4295775"/>
              <a:chOff x="609600" y="1733550"/>
              <a:chExt cx="10972800" cy="4295775"/>
            </a:xfrm>
          </p:grpSpPr>
          <p:sp>
            <p:nvSpPr>
              <p:cNvPr id="5" name="Line 5"/>
              <p:cNvSpPr/>
              <p:nvPr/>
            </p:nvSpPr>
            <p:spPr>
              <a:xfrm>
                <a:off x="609600" y="173355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6" name="Line 6"/>
              <p:cNvSpPr/>
              <p:nvPr/>
            </p:nvSpPr>
            <p:spPr>
              <a:xfrm>
                <a:off x="609600" y="259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7" name="Line 7"/>
              <p:cNvSpPr/>
              <p:nvPr/>
            </p:nvSpPr>
            <p:spPr>
              <a:xfrm>
                <a:off x="609600" y="344805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8" name="Line 8"/>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9" name="Line 9"/>
              <p:cNvSpPr/>
              <p:nvPr/>
            </p:nvSpPr>
            <p:spPr>
              <a:xfrm>
                <a:off x="609600" y="516255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10" name="Line 10"/>
              <p:cNvSpPr/>
              <p:nvPr/>
            </p:nvSpPr>
            <p:spPr>
              <a:xfrm>
                <a:off x="609600" y="6019800"/>
                <a:ext cx="10972800" cy="9525"/>
              </a:xfrm>
              <a:custGeom>
                <a:avLst/>
                <a:gdLst/>
                <a:ahLst/>
                <a:cxnLst/>
                <a:rect l="l" t="t" r="r" b="b"/>
                <a:pathLst>
                  <a:path w="10972800" h="9525">
                    <a:moveTo>
                      <a:pt x="0" y="0"/>
                    </a:moveTo>
                    <a:lnTo>
                      <a:pt x="10972800" y="0"/>
                    </a:lnTo>
                  </a:path>
                </a:pathLst>
              </a:custGeom>
              <a:noFill/>
              <a:ln w="9525">
                <a:solidFill>
                  <a:srgbClr val="D3DBE1"/>
                </a:solidFill>
              </a:ln>
            </p:spPr>
          </p:sp>
        </p:grpSp>
        <p:grpSp>
          <p:nvGrpSpPr>
            <p:cNvPr id="17" name="plan-numbers"/>
            <p:cNvGrpSpPr/>
            <p:nvPr/>
          </p:nvGrpSpPr>
          <p:grpSpPr>
            <a:xfrm>
              <a:off x="594360" y="1927225"/>
              <a:ext cx="479734" cy="4015740"/>
              <a:chOff x="594360" y="1927225"/>
              <a:chExt cx="479734" cy="4015740"/>
            </a:xfrm>
          </p:grpSpPr>
          <p:sp>
            <p:nvSpPr>
              <p:cNvPr id="12" name="TextBox 12"/>
              <p:cNvSpPr txBox="1"/>
              <p:nvPr/>
            </p:nvSpPr>
            <p:spPr>
              <a:xfrm>
                <a:off x="594360" y="1927225"/>
                <a:ext cx="708334" cy="586740"/>
              </a:xfrm>
              <a:prstGeom prst="rect">
                <a:avLst/>
              </a:prstGeom>
              <a:noFill/>
              <a:ln>
                <a:noFill/>
              </a:ln>
            </p:spPr>
            <p:txBody>
              <a:bodyPr wrap="square" lIns="0" tIns="0" rIns="0" bIns="0" anchor="t" anchorCtr="0">
                <a:spAutoFit/>
              </a:bodyPr>
              <a:lstStyle/>
              <a:p>
                <a:pPr algn="l"/>
                <a:r>
                  <a:rPr lang="ru" sz="3000" b="1" dirty="0">
                    <a:solidFill>
                      <a:srgbClr val="0E6680"/>
                    </a:solidFill>
                    <a:latin typeface="+mn-lt"/>
                    <a:ea typeface="+mn-ea"/>
                    <a:cs typeface="+mn-cs"/>
                  </a:rPr>
                  <a:t>01</a:t>
                </a:r>
              </a:p>
            </p:txBody>
          </p:sp>
          <p:sp>
            <p:nvSpPr>
              <p:cNvPr id="13" name="TextBox 13"/>
              <p:cNvSpPr txBox="1"/>
              <p:nvPr/>
            </p:nvSpPr>
            <p:spPr>
              <a:xfrm>
                <a:off x="594360" y="2784475"/>
                <a:ext cx="708334" cy="586740"/>
              </a:xfrm>
              <a:prstGeom prst="rect">
                <a:avLst/>
              </a:prstGeom>
              <a:noFill/>
              <a:ln>
                <a:noFill/>
              </a:ln>
            </p:spPr>
            <p:txBody>
              <a:bodyPr wrap="square" lIns="0" tIns="0" rIns="0" bIns="0" anchor="t" anchorCtr="0">
                <a:spAutoFit/>
              </a:bodyPr>
              <a:lstStyle/>
              <a:p>
                <a:pPr algn="l"/>
                <a:r>
                  <a:rPr lang="ru" sz="3000" b="1" dirty="0">
                    <a:solidFill>
                      <a:srgbClr val="0E6680"/>
                    </a:solidFill>
                    <a:latin typeface="+mn-lt"/>
                    <a:ea typeface="+mn-ea"/>
                    <a:cs typeface="+mn-cs"/>
                  </a:rPr>
                  <a:t>02</a:t>
                </a:r>
              </a:p>
            </p:txBody>
          </p:sp>
          <p:sp>
            <p:nvSpPr>
              <p:cNvPr id="14" name="TextBox 14"/>
              <p:cNvSpPr txBox="1"/>
              <p:nvPr/>
            </p:nvSpPr>
            <p:spPr>
              <a:xfrm>
                <a:off x="594360" y="3641725"/>
                <a:ext cx="708334" cy="586740"/>
              </a:xfrm>
              <a:prstGeom prst="rect">
                <a:avLst/>
              </a:prstGeom>
              <a:noFill/>
              <a:ln>
                <a:noFill/>
              </a:ln>
            </p:spPr>
            <p:txBody>
              <a:bodyPr wrap="square" lIns="0" tIns="0" rIns="0" bIns="0" anchor="t" anchorCtr="0">
                <a:spAutoFit/>
              </a:bodyPr>
              <a:lstStyle/>
              <a:p>
                <a:pPr algn="l"/>
                <a:r>
                  <a:rPr lang="ru" sz="3000" b="1" dirty="0">
                    <a:solidFill>
                      <a:srgbClr val="0E6680"/>
                    </a:solidFill>
                    <a:latin typeface="+mn-lt"/>
                    <a:ea typeface="+mn-ea"/>
                    <a:cs typeface="+mn-cs"/>
                  </a:rPr>
                  <a:t>03</a:t>
                </a:r>
              </a:p>
            </p:txBody>
          </p:sp>
          <p:sp>
            <p:nvSpPr>
              <p:cNvPr id="15" name="TextBox 15"/>
              <p:cNvSpPr txBox="1"/>
              <p:nvPr/>
            </p:nvSpPr>
            <p:spPr>
              <a:xfrm>
                <a:off x="594360" y="4498975"/>
                <a:ext cx="708334" cy="586740"/>
              </a:xfrm>
              <a:prstGeom prst="rect">
                <a:avLst/>
              </a:prstGeom>
              <a:noFill/>
              <a:ln>
                <a:noFill/>
              </a:ln>
            </p:spPr>
            <p:txBody>
              <a:bodyPr wrap="square" lIns="0" tIns="0" rIns="0" bIns="0" anchor="t" anchorCtr="0">
                <a:spAutoFit/>
              </a:bodyPr>
              <a:lstStyle/>
              <a:p>
                <a:pPr algn="l"/>
                <a:r>
                  <a:rPr lang="ru" sz="3000" b="1" dirty="0">
                    <a:solidFill>
                      <a:srgbClr val="0E6680"/>
                    </a:solidFill>
                    <a:latin typeface="+mn-lt"/>
                    <a:ea typeface="+mn-ea"/>
                    <a:cs typeface="+mn-cs"/>
                  </a:rPr>
                  <a:t>04</a:t>
                </a:r>
              </a:p>
            </p:txBody>
          </p:sp>
          <p:sp>
            <p:nvSpPr>
              <p:cNvPr id="16" name="TextBox 16"/>
              <p:cNvSpPr txBox="1"/>
              <p:nvPr/>
            </p:nvSpPr>
            <p:spPr>
              <a:xfrm>
                <a:off x="594360" y="5356225"/>
                <a:ext cx="708334" cy="586740"/>
              </a:xfrm>
              <a:prstGeom prst="rect">
                <a:avLst/>
              </a:prstGeom>
              <a:noFill/>
              <a:ln>
                <a:noFill/>
              </a:ln>
            </p:spPr>
            <p:txBody>
              <a:bodyPr wrap="square" lIns="0" tIns="0" rIns="0" bIns="0" anchor="t" anchorCtr="0">
                <a:spAutoFit/>
              </a:bodyPr>
              <a:lstStyle/>
              <a:p>
                <a:pPr algn="l"/>
                <a:r>
                  <a:rPr lang="ru" sz="3000" b="1" dirty="0">
                    <a:solidFill>
                      <a:srgbClr val="0E6680"/>
                    </a:solidFill>
                    <a:latin typeface="+mn-lt"/>
                    <a:ea typeface="+mn-ea"/>
                    <a:cs typeface="+mn-cs"/>
                  </a:rPr>
                  <a:t>05</a:t>
                </a:r>
              </a:p>
            </p:txBody>
          </p:sp>
        </p:grpSp>
        <p:grpSp>
          <p:nvGrpSpPr>
            <p:cNvPr id="23" name="plan-items"/>
            <p:cNvGrpSpPr/>
            <p:nvPr/>
          </p:nvGrpSpPr>
          <p:grpSpPr>
            <a:xfrm>
              <a:off x="1591056" y="2019300"/>
              <a:ext cx="5093374" cy="3781044"/>
              <a:chOff x="1591056" y="2019300"/>
              <a:chExt cx="5093374" cy="3781044"/>
            </a:xfrm>
          </p:grpSpPr>
          <p:sp>
            <p:nvSpPr>
              <p:cNvPr id="18" name="TextBox 18"/>
              <p:cNvSpPr txBox="1"/>
              <p:nvPr/>
            </p:nvSpPr>
            <p:spPr>
              <a:xfrm>
                <a:off x="1591056" y="2019300"/>
                <a:ext cx="4263046" cy="352044"/>
              </a:xfrm>
              <a:prstGeom prst="rect">
                <a:avLst/>
              </a:prstGeom>
              <a:noFill/>
              <a:ln>
                <a:noFill/>
              </a:ln>
            </p:spPr>
            <p:txBody>
              <a:bodyPr wrap="square" lIns="0" tIns="0" rIns="0" bIns="0" anchor="t" anchorCtr="0">
                <a:spAutoFit/>
              </a:bodyPr>
              <a:lstStyle/>
              <a:p>
                <a:pPr algn="l"/>
                <a:r>
                  <a:rPr lang="ru" sz="1800" dirty="0">
                    <a:solidFill>
                      <a:srgbClr val="17212B"/>
                    </a:solidFill>
                    <a:latin typeface="+mn-lt"/>
                    <a:ea typeface="+mn-ea"/>
                    <a:cs typeface="+mn-cs"/>
                  </a:rPr>
                  <a:t>Интернет вещей и его масштаб</a:t>
                </a:r>
              </a:p>
            </p:txBody>
          </p:sp>
          <p:sp>
            <p:nvSpPr>
              <p:cNvPr id="19" name="TextBox 19"/>
              <p:cNvSpPr txBox="1"/>
              <p:nvPr/>
            </p:nvSpPr>
            <p:spPr>
              <a:xfrm>
                <a:off x="1591056" y="2876550"/>
                <a:ext cx="5971019" cy="352044"/>
              </a:xfrm>
              <a:prstGeom prst="rect">
                <a:avLst/>
              </a:prstGeom>
              <a:noFill/>
              <a:ln>
                <a:noFill/>
              </a:ln>
            </p:spPr>
            <p:txBody>
              <a:bodyPr wrap="square" lIns="0" tIns="0" rIns="0" bIns="0" anchor="t" anchorCtr="0">
                <a:spAutoFit/>
              </a:bodyPr>
              <a:lstStyle/>
              <a:p>
                <a:pPr algn="l"/>
                <a:r>
                  <a:rPr lang="ru" sz="1800" dirty="0">
                    <a:solidFill>
                      <a:srgbClr val="17212B"/>
                    </a:solidFill>
                    <a:latin typeface="+mn-lt"/>
                    <a:ea typeface="+mn-ea"/>
                    <a:cs typeface="+mn-cs"/>
                  </a:rPr>
                  <a:t>Устройство системы и свойства её данных</a:t>
                </a:r>
              </a:p>
            </p:txBody>
          </p:sp>
          <p:sp>
            <p:nvSpPr>
              <p:cNvPr id="20" name="TextBox 20"/>
              <p:cNvSpPr txBox="1"/>
              <p:nvPr/>
            </p:nvSpPr>
            <p:spPr>
              <a:xfrm>
                <a:off x="1591056" y="3733800"/>
                <a:ext cx="4668444" cy="352044"/>
              </a:xfrm>
              <a:prstGeom prst="rect">
                <a:avLst/>
              </a:prstGeom>
              <a:noFill/>
              <a:ln>
                <a:noFill/>
              </a:ln>
            </p:spPr>
            <p:txBody>
              <a:bodyPr wrap="square" lIns="0" tIns="0" rIns="0" bIns="0" anchor="t" anchorCtr="0">
                <a:spAutoFit/>
              </a:bodyPr>
              <a:lstStyle/>
              <a:p>
                <a:pPr algn="l"/>
                <a:r>
                  <a:rPr lang="ru" sz="1800" dirty="0">
                    <a:solidFill>
                      <a:srgbClr val="17212B"/>
                    </a:solidFill>
                    <a:latin typeface="+mn-lt"/>
                    <a:ea typeface="+mn-ea"/>
                    <a:cs typeface="+mn-cs"/>
                  </a:rPr>
                  <a:t>Пакетная и потоковая обработка</a:t>
                </a:r>
              </a:p>
            </p:txBody>
          </p:sp>
          <p:sp>
            <p:nvSpPr>
              <p:cNvPr id="21" name="TextBox 21"/>
              <p:cNvSpPr txBox="1"/>
              <p:nvPr/>
            </p:nvSpPr>
            <p:spPr>
              <a:xfrm>
                <a:off x="1591056" y="4591050"/>
                <a:ext cx="6213916" cy="352044"/>
              </a:xfrm>
              <a:prstGeom prst="rect">
                <a:avLst/>
              </a:prstGeom>
              <a:noFill/>
              <a:ln>
                <a:noFill/>
              </a:ln>
            </p:spPr>
            <p:txBody>
              <a:bodyPr wrap="square" lIns="0" tIns="0" rIns="0" bIns="0" anchor="t" anchorCtr="0">
                <a:spAutoFit/>
              </a:bodyPr>
              <a:lstStyle/>
              <a:p>
                <a:pPr algn="l"/>
                <a:r>
                  <a:rPr lang="ru" sz="1800" dirty="0">
                    <a:solidFill>
                      <a:srgbClr val="17212B"/>
                    </a:solidFill>
                    <a:latin typeface="+mn-lt"/>
                    <a:ea typeface="+mn-ea"/>
                    <a:cs typeface="+mn-cs"/>
                  </a:rPr>
                  <a:t>Понятия и инструменты потокового анализа</a:t>
                </a:r>
              </a:p>
            </p:txBody>
          </p:sp>
          <p:sp>
            <p:nvSpPr>
              <p:cNvPr id="22" name="TextBox 22"/>
              <p:cNvSpPr txBox="1"/>
              <p:nvPr/>
            </p:nvSpPr>
            <p:spPr>
              <a:xfrm>
                <a:off x="1591056" y="5448300"/>
                <a:ext cx="2310201" cy="352044"/>
              </a:xfrm>
              <a:prstGeom prst="rect">
                <a:avLst/>
              </a:prstGeom>
              <a:noFill/>
              <a:ln>
                <a:noFill/>
              </a:ln>
            </p:spPr>
            <p:txBody>
              <a:bodyPr wrap="square" lIns="0" tIns="0" rIns="0" bIns="0" anchor="t" anchorCtr="0">
                <a:spAutoFit/>
              </a:bodyPr>
              <a:lstStyle/>
              <a:p>
                <a:pPr algn="l"/>
                <a:r>
                  <a:rPr lang="ru" sz="1800" dirty="0">
                    <a:solidFill>
                      <a:srgbClr val="17212B"/>
                    </a:solidFill>
                    <a:latin typeface="+mn-lt"/>
                    <a:ea typeface="+mn-ea"/>
                    <a:cs typeface="+mn-cs"/>
                  </a:rPr>
                  <a:t>Пример и выводы</a:t>
                </a:r>
              </a:p>
            </p:txBody>
          </p:sp>
        </p:grpSp>
        <p:grpSp>
          <p:nvGrpSpPr>
            <p:cNvPr id="29" name="plan-slides"/>
            <p:cNvGrpSpPr/>
            <p:nvPr/>
          </p:nvGrpSpPr>
          <p:grpSpPr>
            <a:xfrm>
              <a:off x="10549078" y="2076450"/>
              <a:ext cx="1039418" cy="3663696"/>
              <a:chOff x="10549078" y="2076450"/>
              <a:chExt cx="1039418" cy="3663696"/>
            </a:xfrm>
          </p:grpSpPr>
          <p:sp>
            <p:nvSpPr>
              <p:cNvPr id="24" name="TextBox 24"/>
              <p:cNvSpPr txBox="1"/>
              <p:nvPr/>
            </p:nvSpPr>
            <p:spPr>
              <a:xfrm>
                <a:off x="10768730" y="2076450"/>
                <a:ext cx="819766"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слайд 3</a:t>
                </a:r>
              </a:p>
            </p:txBody>
          </p:sp>
          <p:sp>
            <p:nvSpPr>
              <p:cNvPr id="25" name="TextBox 25"/>
              <p:cNvSpPr txBox="1"/>
              <p:nvPr/>
            </p:nvSpPr>
            <p:spPr>
              <a:xfrm>
                <a:off x="10500180" y="2933700"/>
                <a:ext cx="1088316"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слайды 4–5</a:t>
                </a:r>
              </a:p>
            </p:txBody>
          </p:sp>
          <p:sp>
            <p:nvSpPr>
              <p:cNvPr id="26" name="TextBox 26"/>
              <p:cNvSpPr txBox="1"/>
              <p:nvPr/>
            </p:nvSpPr>
            <p:spPr>
              <a:xfrm>
                <a:off x="10768730" y="3790950"/>
                <a:ext cx="819766"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слайд 6</a:t>
                </a:r>
              </a:p>
            </p:txBody>
          </p:sp>
          <p:sp>
            <p:nvSpPr>
              <p:cNvPr id="27" name="TextBox 27"/>
              <p:cNvSpPr txBox="1"/>
              <p:nvPr/>
            </p:nvSpPr>
            <p:spPr>
              <a:xfrm>
                <a:off x="10500180" y="4648200"/>
                <a:ext cx="1088316"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слайды 7–9</a:t>
                </a:r>
              </a:p>
            </p:txBody>
          </p:sp>
          <p:sp>
            <p:nvSpPr>
              <p:cNvPr id="28" name="TextBox 28"/>
              <p:cNvSpPr txBox="1"/>
              <p:nvPr/>
            </p:nvSpPr>
            <p:spPr>
              <a:xfrm>
                <a:off x="10320407" y="5505450"/>
                <a:ext cx="1268089"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слайды 10–11</a:t>
                </a:r>
              </a:p>
            </p:txBody>
          </p:sp>
        </p:grpSp>
      </p:grpSp>
      <p:grpSp>
        <p:nvGrpSpPr>
          <p:cNvPr id="34" name="footer"/>
          <p:cNvGrpSpPr/>
          <p:nvPr/>
        </p:nvGrpSpPr>
        <p:grpSpPr>
          <a:xfrm>
            <a:off x="603504" y="6400800"/>
            <a:ext cx="10984992" cy="348996"/>
            <a:chOff x="603504" y="6400800"/>
            <a:chExt cx="10984992" cy="348996"/>
          </a:xfrm>
        </p:grpSpPr>
        <p:sp>
          <p:nvSpPr>
            <p:cNvPr id="31" name="Line 31"/>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32" name="TextBox 32"/>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33" name="TextBox 33"/>
            <p:cNvSpPr txBox="1"/>
            <p:nvPr/>
          </p:nvSpPr>
          <p:spPr>
            <a:xfrm>
              <a:off x="10943521" y="6515100"/>
              <a:ext cx="644975"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2 / 12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6314945" cy="1127379"/>
            <a:chOff x="596646" y="381000"/>
            <a:chExt cx="6314945" cy="112737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609600"/>
              <a:ext cx="7704232" cy="898779"/>
            </a:xfrm>
            <a:prstGeom prst="rect">
              <a:avLst/>
            </a:prstGeom>
            <a:noFill/>
            <a:ln>
              <a:noFill/>
            </a:ln>
          </p:spPr>
          <p:txBody>
            <a:bodyPr wrap="square" lIns="0" tIns="0" rIns="0" bIns="0" anchor="t" anchorCtr="0">
              <a:spAutoFit/>
            </a:bodyPr>
            <a:lstStyle/>
            <a:p>
              <a:pPr algn="l">
                <a:lnSpc>
                  <a:spcPts val="3150"/>
                </a:lnSpc>
              </a:pPr>
              <a:r>
                <a:rPr lang="ru" sz="2550" b="1" dirty="0">
                  <a:solidFill>
                    <a:srgbClr val="17212B"/>
                  </a:solidFill>
                  <a:latin typeface="+mn-lt"/>
                  <a:ea typeface="+mn-ea"/>
                  <a:cs typeface="+mn-cs"/>
                </a:rPr>
                <a:t>К концу 2025 года в мире около 21 млрд</a:t>
              </a:r>
              <a:br>
                <a:rPr lang="ru" sz="2550" b="1" dirty="0">
                  <a:solidFill>
                    <a:srgbClr val="17212B"/>
                  </a:solidFill>
                  <a:latin typeface="+mn-lt"/>
                  <a:ea typeface="+mn-ea"/>
                  <a:cs typeface="+mn-cs"/>
                </a:rPr>
              </a:br>
              <a:r>
                <a:rPr lang="ru" sz="2550" b="1" dirty="0">
                  <a:solidFill>
                    <a:srgbClr val="17212B"/>
                  </a:solidFill>
                  <a:latin typeface="+mn-lt"/>
                  <a:ea typeface="+mn-ea"/>
                  <a:cs typeface="+mn-cs"/>
                </a:rPr>
                <a:t>подключённых устройств</a:t>
              </a:r>
            </a:p>
          </p:txBody>
        </p:sp>
      </p:grpSp>
      <p:grpSp>
        <p:nvGrpSpPr>
          <p:cNvPr id="34" name="device-count"/>
          <p:cNvGrpSpPr/>
          <p:nvPr/>
        </p:nvGrpSpPr>
        <p:grpSpPr>
          <a:xfrm>
            <a:off x="603504" y="1809750"/>
            <a:ext cx="6349746" cy="4406646"/>
            <a:chOff x="603504" y="1809750"/>
            <a:chExt cx="6349746" cy="4406646"/>
          </a:xfrm>
        </p:grpSpPr>
        <p:sp>
          <p:nvSpPr>
            <p:cNvPr id="5" name="TextBox 5"/>
            <p:cNvSpPr txBox="1"/>
            <p:nvPr/>
          </p:nvSpPr>
          <p:spPr>
            <a:xfrm>
              <a:off x="603504" y="1809750"/>
              <a:ext cx="2834274"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млрд подключённых устройств</a:t>
              </a:r>
            </a:p>
          </p:txBody>
        </p:sp>
        <p:grpSp>
          <p:nvGrpSpPr>
            <p:cNvPr id="33" name="device-count-chartArea"/>
            <p:cNvGrpSpPr/>
            <p:nvPr/>
          </p:nvGrpSpPr>
          <p:grpSpPr>
            <a:xfrm>
              <a:off x="823852" y="1933575"/>
              <a:ext cx="6129398" cy="4282821"/>
              <a:chOff x="823852" y="1933575"/>
              <a:chExt cx="6129398" cy="4282821"/>
            </a:xfrm>
          </p:grpSpPr>
          <p:grpSp>
            <p:nvGrpSpPr>
              <p:cNvPr id="12" name="device-count-axis"/>
              <p:cNvGrpSpPr/>
              <p:nvPr/>
            </p:nvGrpSpPr>
            <p:grpSpPr>
              <a:xfrm>
                <a:off x="1085850" y="2190750"/>
                <a:ext cx="5867400" cy="3438525"/>
                <a:chOff x="1085850" y="2190750"/>
                <a:chExt cx="5867400" cy="3438525"/>
              </a:xfrm>
            </p:grpSpPr>
            <p:sp>
              <p:nvSpPr>
                <p:cNvPr id="6" name="Line 6"/>
                <p:cNvSpPr/>
                <p:nvPr/>
              </p:nvSpPr>
              <p:spPr>
                <a:xfrm>
                  <a:off x="1143000" y="2190750"/>
                  <a:ext cx="9525" cy="3429000"/>
                </a:xfrm>
                <a:custGeom>
                  <a:avLst/>
                  <a:gdLst/>
                  <a:ahLst/>
                  <a:cxnLst/>
                  <a:rect l="l" t="t" r="r" b="b"/>
                  <a:pathLst>
                    <a:path w="9525" h="3429000">
                      <a:moveTo>
                        <a:pt x="0" y="0"/>
                      </a:moveTo>
                      <a:lnTo>
                        <a:pt x="0" y="3429000"/>
                      </a:lnTo>
                    </a:path>
                  </a:pathLst>
                </a:custGeom>
                <a:noFill/>
                <a:ln w="9525">
                  <a:solidFill>
                    <a:srgbClr val="4A5663"/>
                  </a:solidFill>
                </a:ln>
              </p:spPr>
            </p:sp>
            <p:sp>
              <p:nvSpPr>
                <p:cNvPr id="7" name="Line 7"/>
                <p:cNvSpPr/>
                <p:nvPr/>
              </p:nvSpPr>
              <p:spPr>
                <a:xfrm>
                  <a:off x="1143000" y="5619750"/>
                  <a:ext cx="5810250" cy="9525"/>
                </a:xfrm>
                <a:custGeom>
                  <a:avLst/>
                  <a:gdLst/>
                  <a:ahLst/>
                  <a:cxnLst/>
                  <a:rect l="l" t="t" r="r" b="b"/>
                  <a:pathLst>
                    <a:path w="5810250" h="9525">
                      <a:moveTo>
                        <a:pt x="0" y="0"/>
                      </a:moveTo>
                      <a:lnTo>
                        <a:pt x="5810250" y="0"/>
                      </a:lnTo>
                    </a:path>
                  </a:pathLst>
                </a:custGeom>
                <a:noFill/>
                <a:ln w="9525">
                  <a:solidFill>
                    <a:srgbClr val="4A5663"/>
                  </a:solidFill>
                </a:ln>
              </p:spPr>
            </p:sp>
            <p:sp>
              <p:nvSpPr>
                <p:cNvPr id="8" name="Line 8"/>
                <p:cNvSpPr/>
                <p:nvPr/>
              </p:nvSpPr>
              <p:spPr>
                <a:xfrm>
                  <a:off x="1085850" y="2190750"/>
                  <a:ext cx="57150" cy="9525"/>
                </a:xfrm>
                <a:custGeom>
                  <a:avLst/>
                  <a:gdLst/>
                  <a:ahLst/>
                  <a:cxnLst/>
                  <a:rect l="l" t="t" r="r" b="b"/>
                  <a:pathLst>
                    <a:path w="57150" h="9525">
                      <a:moveTo>
                        <a:pt x="0" y="0"/>
                      </a:moveTo>
                      <a:lnTo>
                        <a:pt x="57150" y="0"/>
                      </a:lnTo>
                    </a:path>
                  </a:pathLst>
                </a:custGeom>
                <a:noFill/>
                <a:ln w="9525">
                  <a:solidFill>
                    <a:srgbClr val="4A5663"/>
                  </a:solidFill>
                </a:ln>
              </p:spPr>
            </p:sp>
            <p:sp>
              <p:nvSpPr>
                <p:cNvPr id="9" name="Line 9"/>
                <p:cNvSpPr/>
                <p:nvPr/>
              </p:nvSpPr>
              <p:spPr>
                <a:xfrm>
                  <a:off x="1085850" y="3048000"/>
                  <a:ext cx="57150" cy="9525"/>
                </a:xfrm>
                <a:custGeom>
                  <a:avLst/>
                  <a:gdLst/>
                  <a:ahLst/>
                  <a:cxnLst/>
                  <a:rect l="l" t="t" r="r" b="b"/>
                  <a:pathLst>
                    <a:path w="57150" h="9525">
                      <a:moveTo>
                        <a:pt x="0" y="0"/>
                      </a:moveTo>
                      <a:lnTo>
                        <a:pt x="57150" y="0"/>
                      </a:lnTo>
                    </a:path>
                  </a:pathLst>
                </a:custGeom>
                <a:noFill/>
                <a:ln w="9525">
                  <a:solidFill>
                    <a:srgbClr val="4A5663"/>
                  </a:solidFill>
                </a:ln>
              </p:spPr>
            </p:sp>
            <p:sp>
              <p:nvSpPr>
                <p:cNvPr id="10" name="Line 10"/>
                <p:cNvSpPr/>
                <p:nvPr/>
              </p:nvSpPr>
              <p:spPr>
                <a:xfrm>
                  <a:off x="1085850" y="3905250"/>
                  <a:ext cx="57150" cy="9525"/>
                </a:xfrm>
                <a:custGeom>
                  <a:avLst/>
                  <a:gdLst/>
                  <a:ahLst/>
                  <a:cxnLst/>
                  <a:rect l="l" t="t" r="r" b="b"/>
                  <a:pathLst>
                    <a:path w="57150" h="9525">
                      <a:moveTo>
                        <a:pt x="0" y="0"/>
                      </a:moveTo>
                      <a:lnTo>
                        <a:pt x="57150" y="0"/>
                      </a:lnTo>
                    </a:path>
                  </a:pathLst>
                </a:custGeom>
                <a:noFill/>
                <a:ln w="9525">
                  <a:solidFill>
                    <a:srgbClr val="4A5663"/>
                  </a:solidFill>
                </a:ln>
              </p:spPr>
            </p:sp>
            <p:sp>
              <p:nvSpPr>
                <p:cNvPr id="11" name="Line 11"/>
                <p:cNvSpPr/>
                <p:nvPr/>
              </p:nvSpPr>
              <p:spPr>
                <a:xfrm>
                  <a:off x="1085850" y="4762500"/>
                  <a:ext cx="57150" cy="9525"/>
                </a:xfrm>
                <a:custGeom>
                  <a:avLst/>
                  <a:gdLst/>
                  <a:ahLst/>
                  <a:cxnLst/>
                  <a:rect l="l" t="t" r="r" b="b"/>
                  <a:pathLst>
                    <a:path w="57150" h="9525">
                      <a:moveTo>
                        <a:pt x="0" y="0"/>
                      </a:moveTo>
                      <a:lnTo>
                        <a:pt x="57150" y="0"/>
                      </a:lnTo>
                    </a:path>
                  </a:pathLst>
                </a:custGeom>
                <a:noFill/>
                <a:ln w="9525">
                  <a:solidFill>
                    <a:srgbClr val="4A5663"/>
                  </a:solidFill>
                </a:ln>
              </p:spPr>
            </p:sp>
          </p:grpSp>
          <p:grpSp>
            <p:nvGrpSpPr>
              <p:cNvPr id="18" name="device-count-ticks"/>
              <p:cNvGrpSpPr/>
              <p:nvPr/>
            </p:nvGrpSpPr>
            <p:grpSpPr>
              <a:xfrm>
                <a:off x="823852" y="2095500"/>
                <a:ext cx="191894" cy="3663696"/>
                <a:chOff x="823852" y="2095500"/>
                <a:chExt cx="191894" cy="3663696"/>
              </a:xfrm>
            </p:grpSpPr>
            <p:sp>
              <p:nvSpPr>
                <p:cNvPr id="13" name="TextBox 13"/>
                <p:cNvSpPr txBox="1"/>
                <p:nvPr/>
              </p:nvSpPr>
              <p:spPr>
                <a:xfrm>
                  <a:off x="685103" y="5524500"/>
                  <a:ext cx="330643"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0</a:t>
                  </a:r>
                </a:p>
              </p:txBody>
            </p:sp>
            <p:sp>
              <p:nvSpPr>
                <p:cNvPr id="14" name="TextBox 14"/>
                <p:cNvSpPr txBox="1"/>
                <p:nvPr/>
              </p:nvSpPr>
              <p:spPr>
                <a:xfrm>
                  <a:off x="595252" y="4667250"/>
                  <a:ext cx="420494"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10</a:t>
                  </a:r>
                </a:p>
              </p:txBody>
            </p:sp>
            <p:sp>
              <p:nvSpPr>
                <p:cNvPr id="15" name="TextBox 15"/>
                <p:cNvSpPr txBox="1"/>
                <p:nvPr/>
              </p:nvSpPr>
              <p:spPr>
                <a:xfrm>
                  <a:off x="595252" y="3810000"/>
                  <a:ext cx="420494"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20</a:t>
                  </a:r>
                </a:p>
              </p:txBody>
            </p:sp>
            <p:sp>
              <p:nvSpPr>
                <p:cNvPr id="16" name="TextBox 16"/>
                <p:cNvSpPr txBox="1"/>
                <p:nvPr/>
              </p:nvSpPr>
              <p:spPr>
                <a:xfrm>
                  <a:off x="595252" y="2952750"/>
                  <a:ext cx="420494"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30</a:t>
                  </a:r>
                </a:p>
              </p:txBody>
            </p:sp>
            <p:sp>
              <p:nvSpPr>
                <p:cNvPr id="17" name="TextBox 17"/>
                <p:cNvSpPr txBox="1"/>
                <p:nvPr/>
              </p:nvSpPr>
              <p:spPr>
                <a:xfrm>
                  <a:off x="595252" y="2095500"/>
                  <a:ext cx="420494"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40</a:t>
                  </a:r>
                </a:p>
              </p:txBody>
            </p:sp>
          </p:grpSp>
          <p:sp>
            <p:nvSpPr>
              <p:cNvPr id="19" name="bar-2024"/>
              <p:cNvSpPr/>
              <p:nvPr/>
            </p:nvSpPr>
            <p:spPr>
              <a:xfrm>
                <a:off x="1543050" y="4033838"/>
                <a:ext cx="1143000" cy="1585912"/>
              </a:xfrm>
              <a:prstGeom prst="rect">
                <a:avLst/>
              </a:prstGeom>
              <a:solidFill>
                <a:srgbClr val="2A8BA6"/>
              </a:solidFill>
              <a:ln>
                <a:noFill/>
              </a:ln>
            </p:spPr>
          </p:sp>
          <p:sp>
            <p:nvSpPr>
              <p:cNvPr id="20" name="bar-2025"/>
              <p:cNvSpPr/>
              <p:nvPr/>
            </p:nvSpPr>
            <p:spPr>
              <a:xfrm>
                <a:off x="3476625" y="3810952"/>
                <a:ext cx="1143000" cy="1808798"/>
              </a:xfrm>
              <a:prstGeom prst="rect">
                <a:avLst/>
              </a:prstGeom>
              <a:solidFill>
                <a:srgbClr val="0E6680"/>
              </a:solidFill>
              <a:ln>
                <a:noFill/>
              </a:ln>
            </p:spPr>
          </p:sp>
          <p:sp>
            <p:nvSpPr>
              <p:cNvPr id="21" name="bar-2030"/>
              <p:cNvSpPr/>
              <p:nvPr/>
            </p:nvSpPr>
            <p:spPr>
              <a:xfrm>
                <a:off x="5410200" y="2276475"/>
                <a:ext cx="1143000" cy="3343275"/>
              </a:xfrm>
              <a:prstGeom prst="rect">
                <a:avLst/>
              </a:prstGeom>
              <a:solidFill>
                <a:srgbClr val="FBF3EC"/>
              </a:solidFill>
              <a:ln w="19050">
                <a:solidFill>
                  <a:srgbClr val="B35A12"/>
                </a:solidFill>
                <a:prstDash val="lgDash"/>
              </a:ln>
            </p:spPr>
          </p:sp>
          <p:grpSp>
            <p:nvGrpSpPr>
              <p:cNvPr id="25" name="device-count-values"/>
              <p:cNvGrpSpPr/>
              <p:nvPr/>
            </p:nvGrpSpPr>
            <p:grpSpPr>
              <a:xfrm>
                <a:off x="1869584" y="1933575"/>
                <a:ext cx="4256036" cy="2104644"/>
                <a:chOff x="1869584" y="1933575"/>
                <a:chExt cx="4256036" cy="2104644"/>
              </a:xfrm>
            </p:grpSpPr>
            <p:sp>
              <p:nvSpPr>
                <p:cNvPr id="22" name="TextBox 22"/>
                <p:cNvSpPr txBox="1"/>
                <p:nvPr/>
              </p:nvSpPr>
              <p:spPr>
                <a:xfrm>
                  <a:off x="1755284" y="3686175"/>
                  <a:ext cx="718532" cy="352044"/>
                </a:xfrm>
                <a:prstGeom prst="rect">
                  <a:avLst/>
                </a:prstGeom>
                <a:noFill/>
                <a:ln>
                  <a:noFill/>
                </a:ln>
              </p:spPr>
              <p:txBody>
                <a:bodyPr wrap="square" lIns="0" tIns="0" rIns="0" bIns="0" anchor="t" anchorCtr="0">
                  <a:spAutoFit/>
                </a:bodyPr>
                <a:lstStyle/>
                <a:p>
                  <a:pPr algn="ctr"/>
                  <a:r>
                    <a:rPr lang="ru" sz="1800" b="1" dirty="0">
                      <a:solidFill>
                        <a:srgbClr val="17212B"/>
                      </a:solidFill>
                      <a:latin typeface="+mn-lt"/>
                      <a:ea typeface="+mn-ea"/>
                      <a:cs typeface="+mn-cs"/>
                    </a:rPr>
                    <a:t>18,5</a:t>
                  </a:r>
                </a:p>
              </p:txBody>
            </p:sp>
            <p:sp>
              <p:nvSpPr>
                <p:cNvPr id="23" name="TextBox 23"/>
                <p:cNvSpPr txBox="1"/>
                <p:nvPr/>
              </p:nvSpPr>
              <p:spPr>
                <a:xfrm>
                  <a:off x="3688859" y="3467100"/>
                  <a:ext cx="718532" cy="352044"/>
                </a:xfrm>
                <a:prstGeom prst="rect">
                  <a:avLst/>
                </a:prstGeom>
                <a:noFill/>
                <a:ln>
                  <a:noFill/>
                </a:ln>
              </p:spPr>
              <p:txBody>
                <a:bodyPr wrap="square" lIns="0" tIns="0" rIns="0" bIns="0" anchor="t" anchorCtr="0">
                  <a:spAutoFit/>
                </a:bodyPr>
                <a:lstStyle/>
                <a:p>
                  <a:pPr algn="ctr"/>
                  <a:r>
                    <a:rPr lang="ru" sz="1800" b="1" dirty="0">
                      <a:solidFill>
                        <a:srgbClr val="0E6680"/>
                      </a:solidFill>
                      <a:latin typeface="+mn-lt"/>
                      <a:ea typeface="+mn-ea"/>
                      <a:cs typeface="+mn-cs"/>
                    </a:rPr>
                    <a:t>21,1</a:t>
                  </a:r>
                </a:p>
              </p:txBody>
            </p:sp>
            <p:sp>
              <p:nvSpPr>
                <p:cNvPr id="24" name="TextBox 24"/>
                <p:cNvSpPr txBox="1"/>
                <p:nvPr/>
              </p:nvSpPr>
              <p:spPr>
                <a:xfrm>
                  <a:off x="5723480" y="1933575"/>
                  <a:ext cx="516440" cy="352044"/>
                </a:xfrm>
                <a:prstGeom prst="rect">
                  <a:avLst/>
                </a:prstGeom>
                <a:noFill/>
                <a:ln>
                  <a:noFill/>
                </a:ln>
              </p:spPr>
              <p:txBody>
                <a:bodyPr wrap="square" lIns="0" tIns="0" rIns="0" bIns="0" anchor="t" anchorCtr="0">
                  <a:spAutoFit/>
                </a:bodyPr>
                <a:lstStyle/>
                <a:p>
                  <a:pPr algn="ctr"/>
                  <a:r>
                    <a:rPr lang="ru" sz="1800" b="1" dirty="0">
                      <a:solidFill>
                        <a:srgbClr val="B35A12"/>
                      </a:solidFill>
                      <a:latin typeface="+mn-lt"/>
                      <a:ea typeface="+mn-ea"/>
                      <a:cs typeface="+mn-cs"/>
                    </a:rPr>
                    <a:t>39</a:t>
                  </a:r>
                </a:p>
              </p:txBody>
            </p:sp>
          </p:grpSp>
          <p:grpSp>
            <p:nvGrpSpPr>
              <p:cNvPr id="29" name="device-count-categories"/>
              <p:cNvGrpSpPr/>
              <p:nvPr/>
            </p:nvGrpSpPr>
            <p:grpSpPr>
              <a:xfrm>
                <a:off x="1882303" y="5715000"/>
                <a:ext cx="4331644" cy="293370"/>
                <a:chOff x="1882303" y="5715000"/>
                <a:chExt cx="4331644" cy="293370"/>
              </a:xfrm>
            </p:grpSpPr>
            <p:sp>
              <p:nvSpPr>
                <p:cNvPr id="26" name="TextBox 26"/>
                <p:cNvSpPr txBox="1"/>
                <p:nvPr/>
              </p:nvSpPr>
              <p:spPr>
                <a:xfrm>
                  <a:off x="1768003" y="5715000"/>
                  <a:ext cx="693094" cy="293370"/>
                </a:xfrm>
                <a:prstGeom prst="rect">
                  <a:avLst/>
                </a:prstGeom>
                <a:noFill/>
                <a:ln>
                  <a:noFill/>
                </a:ln>
              </p:spPr>
              <p:txBody>
                <a:bodyPr wrap="square" lIns="0" tIns="0" rIns="0" bIns="0" anchor="t" anchorCtr="0">
                  <a:spAutoFit/>
                </a:bodyPr>
                <a:lstStyle/>
                <a:p>
                  <a:pPr algn="ctr"/>
                  <a:r>
                    <a:rPr lang="ru" sz="1500" dirty="0">
                      <a:solidFill>
                        <a:srgbClr val="17212B"/>
                      </a:solidFill>
                      <a:latin typeface="+mn-lt"/>
                      <a:ea typeface="+mn-ea"/>
                      <a:cs typeface="+mn-cs"/>
                    </a:rPr>
                    <a:t>2024</a:t>
                  </a:r>
                </a:p>
              </p:txBody>
            </p:sp>
            <p:sp>
              <p:nvSpPr>
                <p:cNvPr id="27" name="TextBox 27"/>
                <p:cNvSpPr txBox="1"/>
                <p:nvPr/>
              </p:nvSpPr>
              <p:spPr>
                <a:xfrm>
                  <a:off x="3701578" y="5715000"/>
                  <a:ext cx="693094" cy="293370"/>
                </a:xfrm>
                <a:prstGeom prst="rect">
                  <a:avLst/>
                </a:prstGeom>
                <a:noFill/>
                <a:ln>
                  <a:noFill/>
                </a:ln>
              </p:spPr>
              <p:txBody>
                <a:bodyPr wrap="square" lIns="0" tIns="0" rIns="0" bIns="0" anchor="t" anchorCtr="0">
                  <a:spAutoFit/>
                </a:bodyPr>
                <a:lstStyle/>
                <a:p>
                  <a:pPr algn="ctr"/>
                  <a:r>
                    <a:rPr lang="ru" sz="1500" dirty="0">
                      <a:solidFill>
                        <a:srgbClr val="17212B"/>
                      </a:solidFill>
                      <a:latin typeface="+mn-lt"/>
                      <a:ea typeface="+mn-ea"/>
                      <a:cs typeface="+mn-cs"/>
                    </a:rPr>
                    <a:t>2025</a:t>
                  </a:r>
                </a:p>
              </p:txBody>
            </p:sp>
            <p:sp>
              <p:nvSpPr>
                <p:cNvPr id="28" name="TextBox 28"/>
                <p:cNvSpPr txBox="1"/>
                <p:nvPr/>
              </p:nvSpPr>
              <p:spPr>
                <a:xfrm>
                  <a:off x="5635153" y="5715000"/>
                  <a:ext cx="693094" cy="293370"/>
                </a:xfrm>
                <a:prstGeom prst="rect">
                  <a:avLst/>
                </a:prstGeom>
                <a:noFill/>
                <a:ln>
                  <a:noFill/>
                </a:ln>
              </p:spPr>
              <p:txBody>
                <a:bodyPr wrap="square" lIns="0" tIns="0" rIns="0" bIns="0" anchor="t" anchorCtr="0">
                  <a:spAutoFit/>
                </a:bodyPr>
                <a:lstStyle/>
                <a:p>
                  <a:pPr algn="ctr"/>
                  <a:r>
                    <a:rPr lang="ru" sz="1500" dirty="0">
                      <a:solidFill>
                        <a:srgbClr val="17212B"/>
                      </a:solidFill>
                      <a:latin typeface="+mn-lt"/>
                      <a:ea typeface="+mn-ea"/>
                      <a:cs typeface="+mn-cs"/>
                    </a:rPr>
                    <a:t>2030</a:t>
                  </a:r>
                </a:p>
              </p:txBody>
            </p:sp>
          </p:grpSp>
          <p:grpSp>
            <p:nvGrpSpPr>
              <p:cNvPr id="32" name="device-count-status"/>
              <p:cNvGrpSpPr/>
              <p:nvPr/>
            </p:nvGrpSpPr>
            <p:grpSpPr>
              <a:xfrm>
                <a:off x="3775481" y="5981700"/>
                <a:ext cx="2523287" cy="234696"/>
                <a:chOff x="3775481" y="5981700"/>
                <a:chExt cx="2523287" cy="234696"/>
              </a:xfrm>
            </p:grpSpPr>
            <p:sp>
              <p:nvSpPr>
                <p:cNvPr id="30" name="TextBox 30"/>
                <p:cNvSpPr txBox="1"/>
                <p:nvPr/>
              </p:nvSpPr>
              <p:spPr>
                <a:xfrm>
                  <a:off x="3661181" y="5981700"/>
                  <a:ext cx="773887"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оценка</a:t>
                  </a:r>
                </a:p>
              </p:txBody>
            </p:sp>
            <p:sp>
              <p:nvSpPr>
                <p:cNvPr id="31" name="TextBox 31"/>
                <p:cNvSpPr txBox="1"/>
                <p:nvPr/>
              </p:nvSpPr>
              <p:spPr>
                <a:xfrm>
                  <a:off x="5550332" y="5981700"/>
                  <a:ext cx="862736" cy="234696"/>
                </a:xfrm>
                <a:prstGeom prst="rect">
                  <a:avLst/>
                </a:prstGeom>
                <a:noFill/>
                <a:ln>
                  <a:noFill/>
                </a:ln>
              </p:spPr>
              <p:txBody>
                <a:bodyPr wrap="square" lIns="0" tIns="0" rIns="0" bIns="0" anchor="t" anchorCtr="0">
                  <a:spAutoFit/>
                </a:bodyPr>
                <a:lstStyle/>
                <a:p>
                  <a:pPr algn="ctr"/>
                  <a:r>
                    <a:rPr lang="ru" sz="1200" dirty="0">
                      <a:solidFill>
                        <a:srgbClr val="B35A12"/>
                      </a:solidFill>
                      <a:latin typeface="+mn-lt"/>
                      <a:ea typeface="+mn-ea"/>
                      <a:cs typeface="+mn-cs"/>
                    </a:rPr>
                    <a:t>прогноз</a:t>
                  </a:r>
                </a:p>
              </p:txBody>
            </p:sp>
          </p:grpSp>
        </p:grpSp>
      </p:grpSp>
      <p:grpSp>
        <p:nvGrpSpPr>
          <p:cNvPr id="47" name="context-panel"/>
          <p:cNvGrpSpPr/>
          <p:nvPr/>
        </p:nvGrpSpPr>
        <p:grpSpPr>
          <a:xfrm>
            <a:off x="7429500" y="1752600"/>
            <a:ext cx="4152900" cy="4343400"/>
            <a:chOff x="7429500" y="1752600"/>
            <a:chExt cx="4152900" cy="4343400"/>
          </a:xfrm>
        </p:grpSpPr>
        <p:sp>
          <p:nvSpPr>
            <p:cNvPr id="35" name="Rectangle 35"/>
            <p:cNvSpPr/>
            <p:nvPr/>
          </p:nvSpPr>
          <p:spPr>
            <a:xfrm>
              <a:off x="7429500" y="1752600"/>
              <a:ext cx="4152900" cy="4343400"/>
            </a:xfrm>
            <a:prstGeom prst="rect">
              <a:avLst/>
            </a:prstGeom>
            <a:solidFill>
              <a:srgbClr val="F3F5F7"/>
            </a:solidFill>
            <a:ln>
              <a:noFill/>
            </a:ln>
          </p:spPr>
        </p:sp>
        <p:grpSp>
          <p:nvGrpSpPr>
            <p:cNvPr id="38" name="panel-definition"/>
            <p:cNvGrpSpPr/>
            <p:nvPr/>
          </p:nvGrpSpPr>
          <p:grpSpPr>
            <a:xfrm>
              <a:off x="7688580" y="1962150"/>
              <a:ext cx="3055849" cy="1347470"/>
              <a:chOff x="7688580" y="1962150"/>
              <a:chExt cx="3055849" cy="1347470"/>
            </a:xfrm>
          </p:grpSpPr>
          <p:sp>
            <p:nvSpPr>
              <p:cNvPr id="36" name="TextBox 36"/>
              <p:cNvSpPr txBox="1"/>
              <p:nvPr/>
            </p:nvSpPr>
            <p:spPr>
              <a:xfrm>
                <a:off x="7690104" y="1962150"/>
                <a:ext cx="1273290" cy="234696"/>
              </a:xfrm>
              <a:prstGeom prst="rect">
                <a:avLst/>
              </a:prstGeom>
              <a:noFill/>
              <a:ln>
                <a:noFill/>
              </a:ln>
            </p:spPr>
            <p:txBody>
              <a:bodyPr wrap="square" lIns="0" tIns="0" rIns="0" bIns="0" anchor="t" anchorCtr="0">
                <a:spAutoFit/>
              </a:bodyPr>
              <a:lstStyle/>
              <a:p>
                <a:pPr algn="l"/>
                <a:r>
                  <a:rPr lang="ru" sz="1200" b="1" dirty="0">
                    <a:solidFill>
                      <a:srgbClr val="0E6680"/>
                    </a:solidFill>
                    <a:latin typeface="+mn-lt"/>
                    <a:ea typeface="+mn-ea"/>
                    <a:cs typeface="+mn-cs"/>
                  </a:rPr>
                  <a:t>Определение</a:t>
                </a:r>
              </a:p>
            </p:txBody>
          </p:sp>
          <p:sp>
            <p:nvSpPr>
              <p:cNvPr id="37" name="TextBox 37"/>
              <p:cNvSpPr txBox="1"/>
              <p:nvPr/>
            </p:nvSpPr>
            <p:spPr>
              <a:xfrm>
                <a:off x="7688580" y="2216150"/>
                <a:ext cx="3728135" cy="1093470"/>
              </a:xfrm>
              <a:prstGeom prst="rect">
                <a:avLst/>
              </a:prstGeom>
              <a:noFill/>
              <a:ln>
                <a:noFill/>
              </a:ln>
            </p:spPr>
            <p:txBody>
              <a:bodyPr wrap="square" lIns="0" tIns="0" rIns="0" bIns="0" anchor="t" anchorCtr="0">
                <a:spAutoFit/>
              </a:bodyPr>
              <a:lstStyle/>
              <a:p>
                <a:pPr algn="l">
                  <a:lnSpc>
                    <a:spcPts val="2100"/>
                  </a:lnSpc>
                </a:pPr>
                <a:r>
                  <a:rPr lang="ru" sz="1500" dirty="0">
                    <a:solidFill>
                      <a:srgbClr val="17212B"/>
                    </a:solidFill>
                    <a:latin typeface="+mn-lt"/>
                    <a:ea typeface="+mn-ea"/>
                    <a:cs typeface="+mn-cs"/>
                  </a:rPr>
                  <a:t>Сеть физических устройств с</a:t>
                </a:r>
                <a:br>
                  <a:rPr lang="ru" sz="1500" dirty="0">
                    <a:solidFill>
                      <a:srgbClr val="17212B"/>
                    </a:solidFill>
                    <a:latin typeface="+mn-lt"/>
                    <a:ea typeface="+mn-ea"/>
                    <a:cs typeface="+mn-cs"/>
                  </a:rPr>
                </a:br>
                <a:r>
                  <a:rPr lang="ru" sz="1500" dirty="0">
                    <a:solidFill>
                      <a:srgbClr val="17212B"/>
                    </a:solidFill>
                    <a:latin typeface="+mn-lt"/>
                    <a:ea typeface="+mn-ea"/>
                    <a:cs typeface="+mn-cs"/>
                  </a:rPr>
                  <a:t>датчиками, которые подключены к</a:t>
                </a:r>
                <a:br>
                  <a:rPr lang="ru" sz="1500" dirty="0">
                    <a:solidFill>
                      <a:srgbClr val="17212B"/>
                    </a:solidFill>
                    <a:latin typeface="+mn-lt"/>
                    <a:ea typeface="+mn-ea"/>
                    <a:cs typeface="+mn-cs"/>
                  </a:rPr>
                </a:br>
                <a:r>
                  <a:rPr lang="ru" sz="1500" dirty="0">
                    <a:solidFill>
                      <a:srgbClr val="17212B"/>
                    </a:solidFill>
                    <a:latin typeface="+mn-lt"/>
                    <a:ea typeface="+mn-ea"/>
                    <a:cs typeface="+mn-cs"/>
                  </a:rPr>
                  <a:t>сети и обмениваются данными без</a:t>
                </a:r>
                <a:br>
                  <a:rPr lang="ru" sz="1500" dirty="0">
                    <a:solidFill>
                      <a:srgbClr val="17212B"/>
                    </a:solidFill>
                    <a:latin typeface="+mn-lt"/>
                    <a:ea typeface="+mn-ea"/>
                    <a:cs typeface="+mn-cs"/>
                  </a:rPr>
                </a:br>
                <a:r>
                  <a:rPr lang="ru" sz="1500" dirty="0">
                    <a:solidFill>
                      <a:srgbClr val="17212B"/>
                    </a:solidFill>
                    <a:latin typeface="+mn-lt"/>
                    <a:ea typeface="+mn-ea"/>
                    <a:cs typeface="+mn-cs"/>
                  </a:rPr>
                  <a:t>постоянного участия человека.</a:t>
                </a:r>
              </a:p>
            </p:txBody>
          </p:sp>
        </p:grpSp>
        <p:grpSp>
          <p:nvGrpSpPr>
            <p:cNvPr id="41" name="panel-term"/>
            <p:cNvGrpSpPr/>
            <p:nvPr/>
          </p:nvGrpSpPr>
          <p:grpSpPr>
            <a:xfrm>
              <a:off x="7688580" y="3524250"/>
              <a:ext cx="2151117" cy="541020"/>
              <a:chOff x="7688580" y="3524250"/>
              <a:chExt cx="2151117" cy="541020"/>
            </a:xfrm>
          </p:grpSpPr>
          <p:sp>
            <p:nvSpPr>
              <p:cNvPr id="39" name="TextBox 39"/>
              <p:cNvSpPr txBox="1"/>
              <p:nvPr/>
            </p:nvSpPr>
            <p:spPr>
              <a:xfrm>
                <a:off x="7690104" y="3524250"/>
                <a:ext cx="1442114" cy="234696"/>
              </a:xfrm>
              <a:prstGeom prst="rect">
                <a:avLst/>
              </a:prstGeom>
              <a:noFill/>
              <a:ln>
                <a:noFill/>
              </a:ln>
            </p:spPr>
            <p:txBody>
              <a:bodyPr wrap="square" lIns="0" tIns="0" rIns="0" bIns="0" anchor="t" anchorCtr="0">
                <a:spAutoFit/>
              </a:bodyPr>
              <a:lstStyle/>
              <a:p>
                <a:pPr algn="l"/>
                <a:r>
                  <a:rPr lang="ru" sz="1200" b="1" dirty="0">
                    <a:solidFill>
                      <a:srgbClr val="0E6680"/>
                    </a:solidFill>
                    <a:latin typeface="+mn-lt"/>
                    <a:ea typeface="+mn-ea"/>
                    <a:cs typeface="+mn-cs"/>
                  </a:rPr>
                  <a:t>Автор термина</a:t>
                </a:r>
              </a:p>
            </p:txBody>
          </p:sp>
          <p:sp>
            <p:nvSpPr>
              <p:cNvPr id="40" name="TextBox 40"/>
              <p:cNvSpPr txBox="1"/>
              <p:nvPr/>
            </p:nvSpPr>
            <p:spPr>
              <a:xfrm>
                <a:off x="7688580" y="3771900"/>
                <a:ext cx="2624362" cy="293370"/>
              </a:xfrm>
              <a:prstGeom prst="rect">
                <a:avLst/>
              </a:prstGeom>
              <a:noFill/>
              <a:ln>
                <a:noFill/>
              </a:ln>
            </p:spPr>
            <p:txBody>
              <a:bodyPr wrap="square" lIns="0" tIns="0" rIns="0" bIns="0" anchor="t" anchorCtr="0">
                <a:spAutoFit/>
              </a:bodyPr>
              <a:lstStyle/>
              <a:p>
                <a:pPr algn="l"/>
                <a:r>
                  <a:rPr lang="ru" sz="1500" dirty="0">
                    <a:solidFill>
                      <a:srgbClr val="17212B"/>
                    </a:solidFill>
                    <a:latin typeface="+mn-lt"/>
                    <a:ea typeface="+mn-ea"/>
                    <a:cs typeface="+mn-cs"/>
                  </a:rPr>
                  <a:t>Кевин Эштон, 1999 год</a:t>
                </a:r>
              </a:p>
            </p:txBody>
          </p:sp>
        </p:grpSp>
        <p:grpSp>
          <p:nvGrpSpPr>
            <p:cNvPr id="45" name="panel-growth"/>
            <p:cNvGrpSpPr/>
            <p:nvPr/>
          </p:nvGrpSpPr>
          <p:grpSpPr>
            <a:xfrm>
              <a:off x="7687056" y="4267200"/>
              <a:ext cx="3397718" cy="883920"/>
              <a:chOff x="7687056" y="4267200"/>
              <a:chExt cx="3397718" cy="883920"/>
            </a:xfrm>
          </p:grpSpPr>
          <p:sp>
            <p:nvSpPr>
              <p:cNvPr id="42" name="TextBox 42"/>
              <p:cNvSpPr txBox="1"/>
              <p:nvPr/>
            </p:nvSpPr>
            <p:spPr>
              <a:xfrm>
                <a:off x="7690104" y="4267200"/>
                <a:ext cx="619239" cy="234696"/>
              </a:xfrm>
              <a:prstGeom prst="rect">
                <a:avLst/>
              </a:prstGeom>
              <a:noFill/>
              <a:ln>
                <a:noFill/>
              </a:ln>
            </p:spPr>
            <p:txBody>
              <a:bodyPr wrap="square" lIns="0" tIns="0" rIns="0" bIns="0" anchor="t" anchorCtr="0">
                <a:spAutoFit/>
              </a:bodyPr>
              <a:lstStyle/>
              <a:p>
                <a:pPr algn="l"/>
                <a:r>
                  <a:rPr lang="ru" sz="1200" b="1" dirty="0">
                    <a:solidFill>
                      <a:srgbClr val="0E6680"/>
                    </a:solidFill>
                    <a:latin typeface="+mn-lt"/>
                    <a:ea typeface="+mn-ea"/>
                    <a:cs typeface="+mn-cs"/>
                  </a:rPr>
                  <a:t>Рост</a:t>
                </a:r>
              </a:p>
            </p:txBody>
          </p:sp>
          <p:sp>
            <p:nvSpPr>
              <p:cNvPr id="43" name="TextBox 43"/>
              <p:cNvSpPr txBox="1"/>
              <p:nvPr/>
            </p:nvSpPr>
            <p:spPr>
              <a:xfrm>
                <a:off x="7687056" y="4514850"/>
                <a:ext cx="2544380"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+14% за 2025 год</a:t>
                </a:r>
              </a:p>
            </p:txBody>
          </p:sp>
          <p:sp>
            <p:nvSpPr>
              <p:cNvPr id="44" name="TextBox 44"/>
              <p:cNvSpPr txBox="1"/>
              <p:nvPr/>
            </p:nvSpPr>
            <p:spPr>
              <a:xfrm>
                <a:off x="7688580" y="4857750"/>
                <a:ext cx="4143356" cy="293370"/>
              </a:xfrm>
              <a:prstGeom prst="rect">
                <a:avLst/>
              </a:prstGeom>
              <a:noFill/>
              <a:ln>
                <a:noFill/>
              </a:ln>
            </p:spPr>
            <p:txBody>
              <a:bodyPr wrap="square" lIns="0" tIns="0" rIns="0" bIns="0" anchor="t" anchorCtr="0">
                <a:spAutoFit/>
              </a:bodyPr>
              <a:lstStyle/>
              <a:p>
                <a:pPr algn="l"/>
                <a:r>
                  <a:rPr lang="ru" sz="1500" dirty="0">
                    <a:solidFill>
                      <a:srgbClr val="17212B"/>
                    </a:solidFill>
                    <a:latin typeface="+mn-lt"/>
                    <a:ea typeface="+mn-ea"/>
                    <a:cs typeface="+mn-cs"/>
                  </a:rPr>
                  <a:t>13,2% в год до 2030 года (прогноз)</a:t>
                </a:r>
              </a:p>
            </p:txBody>
          </p:sp>
        </p:grpSp>
        <p:sp>
          <p:nvSpPr>
            <p:cNvPr id="46" name="TextBox 46"/>
            <p:cNvSpPr txBox="1"/>
            <p:nvPr/>
          </p:nvSpPr>
          <p:spPr>
            <a:xfrm>
              <a:off x="7690104" y="5511800"/>
              <a:ext cx="3530289" cy="444246"/>
            </a:xfrm>
            <a:prstGeom prst="rect">
              <a:avLst/>
            </a:prstGeom>
            <a:noFill/>
            <a:ln>
              <a:noFill/>
            </a:ln>
          </p:spPr>
          <p:txBody>
            <a:bodyPr wrap="square" lIns="0" tIns="0" rIns="0" bIns="0" anchor="t" anchorCtr="0">
              <a:spAutoFit/>
            </a:bodyPr>
            <a:lstStyle/>
            <a:p>
              <a:pPr algn="l">
                <a:lnSpc>
                  <a:spcPts val="1650"/>
                </a:lnSpc>
              </a:pPr>
              <a:r>
                <a:rPr lang="ru" sz="1200" dirty="0">
                  <a:solidFill>
                    <a:srgbClr val="5F6B76"/>
                  </a:solidFill>
                  <a:latin typeface="+mn-lt"/>
                  <a:ea typeface="+mn-ea"/>
                  <a:cs typeface="+mn-cs"/>
                </a:rPr>
                <a:t>Источник: IoT Analytics, State of IoT 2025</a:t>
              </a:r>
              <a:br>
                <a:rPr lang="ru" sz="1200" dirty="0">
                  <a:solidFill>
                    <a:srgbClr val="5F6B76"/>
                  </a:solidFill>
                  <a:latin typeface="+mn-lt"/>
                  <a:ea typeface="+mn-ea"/>
                  <a:cs typeface="+mn-cs"/>
                </a:rPr>
              </a:br>
              <a:r>
                <a:rPr lang="ru" sz="1200" dirty="0">
                  <a:solidFill>
                    <a:srgbClr val="5F6B76"/>
                  </a:solidFill>
                  <a:latin typeface="+mn-lt"/>
                  <a:ea typeface="+mn-ea"/>
                  <a:cs typeface="+mn-cs"/>
                </a:rPr>
                <a:t>(октябрь 2025)</a:t>
              </a:r>
            </a:p>
          </p:txBody>
        </p:sp>
      </p:grpSp>
      <p:grpSp>
        <p:nvGrpSpPr>
          <p:cNvPr id="51" name="footer"/>
          <p:cNvGrpSpPr/>
          <p:nvPr/>
        </p:nvGrpSpPr>
        <p:grpSpPr>
          <a:xfrm>
            <a:off x="603504" y="6400800"/>
            <a:ext cx="10984992" cy="348996"/>
            <a:chOff x="603504" y="6400800"/>
            <a:chExt cx="10984992" cy="348996"/>
          </a:xfrm>
        </p:grpSpPr>
        <p:sp>
          <p:nvSpPr>
            <p:cNvPr id="48" name="Line 48"/>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49" name="TextBox 49"/>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50" name="TextBox 50"/>
            <p:cNvSpPr txBox="1"/>
            <p:nvPr/>
          </p:nvSpPr>
          <p:spPr>
            <a:xfrm>
              <a:off x="10943521" y="6515100"/>
              <a:ext cx="644975"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3 / 12</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10137432" cy="714629"/>
            <a:chOff x="596646" y="381000"/>
            <a:chExt cx="10137432" cy="71462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596900"/>
              <a:ext cx="11404854" cy="498729"/>
            </a:xfrm>
            <a:prstGeom prst="rect">
              <a:avLst/>
            </a:prstGeom>
            <a:noFill/>
            <a:ln>
              <a:noFill/>
            </a:ln>
          </p:spPr>
          <p:txBody>
            <a:bodyPr wrap="square" lIns="0" tIns="0" rIns="0" bIns="0" anchor="t" anchorCtr="0">
              <a:spAutoFit/>
            </a:bodyPr>
            <a:lstStyle/>
            <a:p>
              <a:pPr algn="l"/>
              <a:r>
                <a:rPr lang="ru" sz="2550" b="1" dirty="0">
                  <a:solidFill>
                    <a:srgbClr val="17212B"/>
                  </a:solidFill>
                  <a:latin typeface="+mn-lt"/>
                  <a:ea typeface="+mn-ea"/>
                  <a:cs typeface="+mn-cs"/>
                </a:rPr>
                <a:t>Данные проходят четыре уровня: от датчика до приложения</a:t>
              </a:r>
            </a:p>
          </p:txBody>
        </p:sp>
      </p:grpSp>
      <p:grpSp>
        <p:nvGrpSpPr>
          <p:cNvPr id="14" name="level-strip"/>
          <p:cNvGrpSpPr/>
          <p:nvPr/>
        </p:nvGrpSpPr>
        <p:grpSpPr>
          <a:xfrm>
            <a:off x="609600" y="1866900"/>
            <a:ext cx="10972800" cy="571500"/>
            <a:chOff x="609600" y="1866900"/>
            <a:chExt cx="10972800" cy="571500"/>
          </a:xfrm>
        </p:grpSpPr>
        <p:sp>
          <p:nvSpPr>
            <p:cNvPr id="5" name="Freeform 5"/>
            <p:cNvSpPr/>
            <p:nvPr/>
          </p:nvSpPr>
          <p:spPr>
            <a:xfrm>
              <a:off x="609600" y="1866900"/>
              <a:ext cx="3028950" cy="571500"/>
            </a:xfrm>
            <a:prstGeom prst="homePlate">
              <a:avLst/>
            </a:prstGeom>
            <a:solidFill>
              <a:srgbClr val="0E6680"/>
            </a:solidFill>
            <a:ln>
              <a:noFill/>
            </a:ln>
          </p:spPr>
        </p:sp>
        <p:sp>
          <p:nvSpPr>
            <p:cNvPr id="6" name="Freeform 6"/>
            <p:cNvSpPr/>
            <p:nvPr/>
          </p:nvSpPr>
          <p:spPr>
            <a:xfrm>
              <a:off x="3409950" y="1866900"/>
              <a:ext cx="3028950" cy="571500"/>
            </a:xfrm>
            <a:prstGeom prst="chevron">
              <a:avLst/>
            </a:prstGeom>
            <a:solidFill>
              <a:srgbClr val="0E6680"/>
            </a:solidFill>
            <a:ln>
              <a:noFill/>
            </a:ln>
          </p:spPr>
        </p:sp>
        <p:sp>
          <p:nvSpPr>
            <p:cNvPr id="7" name="Freeform 7"/>
            <p:cNvSpPr/>
            <p:nvPr/>
          </p:nvSpPr>
          <p:spPr>
            <a:xfrm>
              <a:off x="6210300" y="1866900"/>
              <a:ext cx="3028950" cy="571500"/>
            </a:xfrm>
            <a:prstGeom prst="chevron">
              <a:avLst/>
            </a:prstGeom>
            <a:solidFill>
              <a:srgbClr val="0E6680"/>
            </a:solidFill>
            <a:ln>
              <a:noFill/>
            </a:ln>
          </p:spPr>
        </p:sp>
        <p:sp>
          <p:nvSpPr>
            <p:cNvPr id="8" name="Freeform 8"/>
            <p:cNvSpPr/>
            <p:nvPr/>
          </p:nvSpPr>
          <p:spPr>
            <a:xfrm>
              <a:off x="9010650" y="1866900"/>
              <a:ext cx="2571750" cy="571500"/>
            </a:xfrm>
            <a:prstGeom prst="chevron">
              <a:avLst/>
            </a:prstGeom>
            <a:solidFill>
              <a:srgbClr val="0E6680"/>
            </a:solidFill>
            <a:ln>
              <a:noFill/>
            </a:ln>
          </p:spPr>
        </p:sp>
        <p:grpSp>
          <p:nvGrpSpPr>
            <p:cNvPr id="13" name="level-labels"/>
            <p:cNvGrpSpPr/>
            <p:nvPr/>
          </p:nvGrpSpPr>
          <p:grpSpPr>
            <a:xfrm>
              <a:off x="1477243" y="2028825"/>
              <a:ext cx="9323239" cy="293370"/>
              <a:chOff x="1477243" y="2028825"/>
              <a:chExt cx="9323239" cy="293370"/>
            </a:xfrm>
          </p:grpSpPr>
          <p:sp>
            <p:nvSpPr>
              <p:cNvPr id="9" name="TextBox 9"/>
              <p:cNvSpPr txBox="1"/>
              <p:nvPr/>
            </p:nvSpPr>
            <p:spPr>
              <a:xfrm>
                <a:off x="1362943" y="2028825"/>
                <a:ext cx="1236514" cy="293370"/>
              </a:xfrm>
              <a:prstGeom prst="rect">
                <a:avLst/>
              </a:prstGeom>
              <a:noFill/>
              <a:ln>
                <a:noFill/>
              </a:ln>
            </p:spPr>
            <p:txBody>
              <a:bodyPr wrap="square" lIns="0" tIns="0" rIns="0" bIns="0" anchor="t" anchorCtr="0">
                <a:spAutoFit/>
              </a:bodyPr>
              <a:lstStyle/>
              <a:p>
                <a:pPr algn="ctr"/>
                <a:r>
                  <a:rPr lang="ru" sz="1500" b="1" dirty="0">
                    <a:solidFill>
                      <a:srgbClr val="FFFFFF"/>
                    </a:solidFill>
                    <a:latin typeface="+mn-lt"/>
                    <a:ea typeface="+mn-ea"/>
                    <a:cs typeface="+mn-cs"/>
                  </a:rPr>
                  <a:t>Уровень 1</a:t>
                </a:r>
              </a:p>
            </p:txBody>
          </p:sp>
          <p:sp>
            <p:nvSpPr>
              <p:cNvPr id="10" name="TextBox 10"/>
              <p:cNvSpPr txBox="1"/>
              <p:nvPr/>
            </p:nvSpPr>
            <p:spPr>
              <a:xfrm>
                <a:off x="4306168" y="2028825"/>
                <a:ext cx="1236514" cy="293370"/>
              </a:xfrm>
              <a:prstGeom prst="rect">
                <a:avLst/>
              </a:prstGeom>
              <a:noFill/>
              <a:ln>
                <a:noFill/>
              </a:ln>
            </p:spPr>
            <p:txBody>
              <a:bodyPr wrap="square" lIns="0" tIns="0" rIns="0" bIns="0" anchor="t" anchorCtr="0">
                <a:spAutoFit/>
              </a:bodyPr>
              <a:lstStyle/>
              <a:p>
                <a:pPr algn="ctr"/>
                <a:r>
                  <a:rPr lang="ru" sz="1500" b="1" dirty="0">
                    <a:solidFill>
                      <a:srgbClr val="FFFFFF"/>
                    </a:solidFill>
                    <a:latin typeface="+mn-lt"/>
                    <a:ea typeface="+mn-ea"/>
                    <a:cs typeface="+mn-cs"/>
                  </a:rPr>
                  <a:t>Уровень 2</a:t>
                </a:r>
              </a:p>
            </p:txBody>
          </p:sp>
          <p:sp>
            <p:nvSpPr>
              <p:cNvPr id="11" name="TextBox 11"/>
              <p:cNvSpPr txBox="1"/>
              <p:nvPr/>
            </p:nvSpPr>
            <p:spPr>
              <a:xfrm>
                <a:off x="7106518" y="2028825"/>
                <a:ext cx="1236514" cy="293370"/>
              </a:xfrm>
              <a:prstGeom prst="rect">
                <a:avLst/>
              </a:prstGeom>
              <a:noFill/>
              <a:ln>
                <a:noFill/>
              </a:ln>
            </p:spPr>
            <p:txBody>
              <a:bodyPr wrap="square" lIns="0" tIns="0" rIns="0" bIns="0" anchor="t" anchorCtr="0">
                <a:spAutoFit/>
              </a:bodyPr>
              <a:lstStyle/>
              <a:p>
                <a:pPr algn="ctr"/>
                <a:r>
                  <a:rPr lang="ru" sz="1500" b="1" dirty="0">
                    <a:solidFill>
                      <a:srgbClr val="FFFFFF"/>
                    </a:solidFill>
                    <a:latin typeface="+mn-lt"/>
                    <a:ea typeface="+mn-ea"/>
                    <a:cs typeface="+mn-cs"/>
                  </a:rPr>
                  <a:t>Уровень 3</a:t>
                </a:r>
              </a:p>
            </p:txBody>
          </p:sp>
          <p:sp>
            <p:nvSpPr>
              <p:cNvPr id="12" name="TextBox 12"/>
              <p:cNvSpPr txBox="1"/>
              <p:nvPr/>
            </p:nvSpPr>
            <p:spPr>
              <a:xfrm>
                <a:off x="9678268" y="2028825"/>
                <a:ext cx="1236514" cy="293370"/>
              </a:xfrm>
              <a:prstGeom prst="rect">
                <a:avLst/>
              </a:prstGeom>
              <a:noFill/>
              <a:ln>
                <a:noFill/>
              </a:ln>
            </p:spPr>
            <p:txBody>
              <a:bodyPr wrap="square" lIns="0" tIns="0" rIns="0" bIns="0" anchor="t" anchorCtr="0">
                <a:spAutoFit/>
              </a:bodyPr>
              <a:lstStyle/>
              <a:p>
                <a:pPr algn="ctr"/>
                <a:r>
                  <a:rPr lang="ru" sz="1500" b="1" dirty="0">
                    <a:solidFill>
                      <a:srgbClr val="FFFFFF"/>
                    </a:solidFill>
                    <a:latin typeface="+mn-lt"/>
                    <a:ea typeface="+mn-ea"/>
                    <a:cs typeface="+mn-cs"/>
                  </a:rPr>
                  <a:t>Уровень 4</a:t>
                </a:r>
              </a:p>
            </p:txBody>
          </p:sp>
        </p:grpSp>
      </p:grpSp>
      <p:grpSp>
        <p:nvGrpSpPr>
          <p:cNvPr id="20" name="level-devices"/>
          <p:cNvGrpSpPr/>
          <p:nvPr/>
        </p:nvGrpSpPr>
        <p:grpSpPr>
          <a:xfrm>
            <a:off x="600456" y="2729739"/>
            <a:ext cx="2580894" cy="2864357"/>
            <a:chOff x="600456" y="2729739"/>
            <a:chExt cx="2580894" cy="2864357"/>
          </a:xfrm>
        </p:grpSpPr>
        <p:sp>
          <p:nvSpPr>
            <p:cNvPr id="15" name="Freeform 15"/>
            <p:cNvSpPr/>
            <p:nvPr/>
          </p:nvSpPr>
          <p:spPr>
            <a:xfrm>
              <a:off x="641350" y="2729739"/>
              <a:ext cx="333852" cy="334399"/>
            </a:xfrm>
            <a:custGeom>
              <a:avLst/>
              <a:gdLst/>
              <a:ahLst/>
              <a:cxnLst/>
              <a:rect l="l" t="t" r="r" b="b"/>
              <a:pathLst>
                <a:path w="333852" h="334399">
                  <a:moveTo>
                    <a:pt x="238125" y="28384"/>
                  </a:moveTo>
                  <a:cubicBezTo>
                    <a:pt x="304283" y="66582"/>
                    <a:pt x="333852" y="146484"/>
                    <a:pt x="308499" y="218548"/>
                  </a:cubicBezTo>
                  <a:cubicBezTo>
                    <a:pt x="283147" y="290612"/>
                    <a:pt x="210062" y="334399"/>
                    <a:pt x="134561" y="322760"/>
                  </a:cubicBezTo>
                  <a:cubicBezTo>
                    <a:pt x="59059" y="311122"/>
                    <a:pt x="2554" y="247358"/>
                    <a:pt x="79" y="171005"/>
                  </a:cubicBezTo>
                  <a:lnTo>
                    <a:pt x="0" y="165861"/>
                  </a:lnTo>
                  <a:lnTo>
                    <a:pt x="79" y="160718"/>
                  </a:lnTo>
                  <a:cubicBezTo>
                    <a:pt x="1888" y="104949"/>
                    <a:pt x="32843" y="54223"/>
                    <a:pt x="81612" y="27112"/>
                  </a:cubicBezTo>
                  <a:cubicBezTo>
                    <a:pt x="130381" y="0"/>
                    <a:pt x="189803" y="483"/>
                    <a:pt x="238125" y="28384"/>
                  </a:cubicBezTo>
                  <a:close/>
                  <a:moveTo>
                    <a:pt x="233474" y="91138"/>
                  </a:moveTo>
                  <a:cubicBezTo>
                    <a:pt x="227275" y="84940"/>
                    <a:pt x="217226" y="84940"/>
                    <a:pt x="211027" y="91138"/>
                  </a:cubicBezTo>
                  <a:lnTo>
                    <a:pt x="169910" y="132254"/>
                  </a:lnTo>
                  <a:lnTo>
                    <a:pt x="168593" y="133746"/>
                  </a:lnTo>
                  <a:lnTo>
                    <a:pt x="167513" y="135334"/>
                  </a:lnTo>
                  <a:cubicBezTo>
                    <a:pt x="158327" y="132699"/>
                    <a:pt x="148443" y="134341"/>
                    <a:pt x="140601" y="139802"/>
                  </a:cubicBezTo>
                  <a:cubicBezTo>
                    <a:pt x="132760" y="145264"/>
                    <a:pt x="127793" y="153966"/>
                    <a:pt x="127080" y="163496"/>
                  </a:cubicBezTo>
                  <a:lnTo>
                    <a:pt x="127000" y="165861"/>
                  </a:lnTo>
                  <a:lnTo>
                    <a:pt x="127080" y="168243"/>
                  </a:lnTo>
                  <a:cubicBezTo>
                    <a:pt x="127989" y="180326"/>
                    <a:pt x="135698" y="190838"/>
                    <a:pt x="146949" y="195338"/>
                  </a:cubicBezTo>
                  <a:cubicBezTo>
                    <a:pt x="158200" y="199839"/>
                    <a:pt x="171031" y="197542"/>
                    <a:pt x="180023" y="189419"/>
                  </a:cubicBezTo>
                  <a:cubicBezTo>
                    <a:pt x="189015" y="181296"/>
                    <a:pt x="192600" y="168763"/>
                    <a:pt x="189262" y="157114"/>
                  </a:cubicBezTo>
                  <a:cubicBezTo>
                    <a:pt x="190393" y="156446"/>
                    <a:pt x="191433" y="155635"/>
                    <a:pt x="192358" y="154701"/>
                  </a:cubicBezTo>
                  <a:lnTo>
                    <a:pt x="233474" y="113585"/>
                  </a:lnTo>
                  <a:lnTo>
                    <a:pt x="234792" y="112093"/>
                  </a:lnTo>
                  <a:cubicBezTo>
                    <a:pt x="239694" y="105773"/>
                    <a:pt x="239129" y="96793"/>
                    <a:pt x="233474" y="91138"/>
                  </a:cubicBezTo>
                  <a:close/>
                  <a:moveTo>
                    <a:pt x="158750" y="70611"/>
                  </a:moveTo>
                  <a:cubicBezTo>
                    <a:pt x="133488" y="70611"/>
                    <a:pt x="109261" y="80646"/>
                    <a:pt x="91398" y="98509"/>
                  </a:cubicBezTo>
                  <a:cubicBezTo>
                    <a:pt x="73535" y="116372"/>
                    <a:pt x="63500" y="140599"/>
                    <a:pt x="63500" y="165861"/>
                  </a:cubicBezTo>
                  <a:cubicBezTo>
                    <a:pt x="63500" y="174629"/>
                    <a:pt x="70608" y="181736"/>
                    <a:pt x="79375" y="181736"/>
                  </a:cubicBezTo>
                  <a:cubicBezTo>
                    <a:pt x="88143" y="181736"/>
                    <a:pt x="95250" y="174629"/>
                    <a:pt x="95250" y="165861"/>
                  </a:cubicBezTo>
                  <a:cubicBezTo>
                    <a:pt x="95250" y="130791"/>
                    <a:pt x="123680" y="102361"/>
                    <a:pt x="158750" y="102361"/>
                  </a:cubicBezTo>
                  <a:cubicBezTo>
                    <a:pt x="167518" y="102361"/>
                    <a:pt x="174625" y="95254"/>
                    <a:pt x="174625" y="86486"/>
                  </a:cubicBezTo>
                  <a:cubicBezTo>
                    <a:pt x="174625" y="77719"/>
                    <a:pt x="167518" y="70611"/>
                    <a:pt x="158750" y="70611"/>
                  </a:cubicBezTo>
                  <a:close/>
                </a:path>
              </a:pathLst>
            </a:custGeom>
            <a:solidFill>
              <a:srgbClr val="0E6680"/>
            </a:solidFill>
            <a:ln>
              <a:noFill/>
            </a:ln>
          </p:spPr>
        </p:sp>
        <p:sp>
          <p:nvSpPr>
            <p:cNvPr id="16" name="TextBox 16"/>
            <p:cNvSpPr txBox="1"/>
            <p:nvPr/>
          </p:nvSpPr>
          <p:spPr>
            <a:xfrm>
              <a:off x="600456" y="3270250"/>
              <a:ext cx="1632912" cy="637794"/>
            </a:xfrm>
            <a:prstGeom prst="rect">
              <a:avLst/>
            </a:prstGeom>
            <a:noFill/>
            <a:ln>
              <a:noFill/>
            </a:ln>
          </p:spPr>
          <p:txBody>
            <a:bodyPr wrap="square" lIns="0" tIns="0" rIns="0" bIns="0" anchor="t" anchorCtr="0">
              <a:spAutoFit/>
            </a:bodyPr>
            <a:lstStyle/>
            <a:p>
              <a:pPr algn="l">
                <a:lnSpc>
                  <a:spcPts val="2250"/>
                </a:lnSpc>
              </a:pPr>
              <a:r>
                <a:rPr lang="ru" sz="1800" b="1" dirty="0">
                  <a:solidFill>
                    <a:srgbClr val="17212B"/>
                  </a:solidFill>
                  <a:latin typeface="+mn-lt"/>
                  <a:ea typeface="+mn-ea"/>
                  <a:cs typeface="+mn-cs"/>
                </a:rPr>
                <a:t>Устройства</a:t>
              </a:r>
              <a:br>
                <a:rPr lang="ru" sz="1800" b="1" dirty="0">
                  <a:solidFill>
                    <a:srgbClr val="17212B"/>
                  </a:solidFill>
                  <a:latin typeface="+mn-lt"/>
                  <a:ea typeface="+mn-ea"/>
                  <a:cs typeface="+mn-cs"/>
                </a:rPr>
              </a:br>
              <a:r>
                <a:rPr lang="ru" sz="1800" b="1" dirty="0">
                  <a:solidFill>
                    <a:srgbClr val="17212B"/>
                  </a:solidFill>
                  <a:latin typeface="+mn-lt"/>
                  <a:ea typeface="+mn-ea"/>
                  <a:cs typeface="+mn-cs"/>
                </a:rPr>
                <a:t>и датчики</a:t>
              </a:r>
            </a:p>
          </p:txBody>
        </p:sp>
        <p:sp>
          <p:nvSpPr>
            <p:cNvPr id="17" name="TextBox 17"/>
            <p:cNvSpPr txBox="1"/>
            <p:nvPr/>
          </p:nvSpPr>
          <p:spPr>
            <a:xfrm>
              <a:off x="601980" y="4006850"/>
              <a:ext cx="2576404" cy="826770"/>
            </a:xfrm>
            <a:prstGeom prst="rect">
              <a:avLst/>
            </a:prstGeom>
            <a:noFill/>
            <a:ln>
              <a:noFill/>
            </a:ln>
          </p:spPr>
          <p:txBody>
            <a:bodyPr wrap="square" lIns="0" tIns="0" rIns="0" bIns="0" anchor="t" anchorCtr="0">
              <a:spAutoFit/>
            </a:bodyPr>
            <a:lstStyle/>
            <a:p>
              <a:pPr algn="l">
                <a:lnSpc>
                  <a:spcPts val="2100"/>
                </a:lnSpc>
              </a:pPr>
              <a:r>
                <a:rPr lang="ru" sz="1500" dirty="0">
                  <a:solidFill>
                    <a:srgbClr val="4A5663"/>
                  </a:solidFill>
                  <a:latin typeface="+mn-lt"/>
                  <a:ea typeface="+mn-ea"/>
                  <a:cs typeface="+mn-cs"/>
                </a:rPr>
                <a:t>Измеряют температуру,</a:t>
              </a:r>
              <a:br>
                <a:rPr lang="ru" sz="1500" dirty="0">
                  <a:solidFill>
                    <a:srgbClr val="4A5663"/>
                  </a:solidFill>
                  <a:latin typeface="+mn-lt"/>
                  <a:ea typeface="+mn-ea"/>
                  <a:cs typeface="+mn-cs"/>
                </a:rPr>
              </a:br>
              <a:r>
                <a:rPr lang="ru" sz="1500" dirty="0">
                  <a:solidFill>
                    <a:srgbClr val="4A5663"/>
                  </a:solidFill>
                  <a:latin typeface="+mn-lt"/>
                  <a:ea typeface="+mn-ea"/>
                  <a:cs typeface="+mn-cs"/>
                </a:rPr>
                <a:t>давление, вибрацию,</a:t>
              </a:r>
              <a:br>
                <a:rPr lang="ru" sz="1500" dirty="0">
                  <a:solidFill>
                    <a:srgbClr val="4A5663"/>
                  </a:solidFill>
                  <a:latin typeface="+mn-lt"/>
                  <a:ea typeface="+mn-ea"/>
                  <a:cs typeface="+mn-cs"/>
                </a:rPr>
              </a:br>
              <a:r>
                <a:rPr lang="ru" sz="1500" dirty="0">
                  <a:solidFill>
                    <a:srgbClr val="4A5663"/>
                  </a:solidFill>
                  <a:latin typeface="+mn-lt"/>
                  <a:ea typeface="+mn-ea"/>
                  <a:cs typeface="+mn-cs"/>
                </a:rPr>
                <a:t>координаты</a:t>
              </a:r>
            </a:p>
          </p:txBody>
        </p:sp>
        <p:sp>
          <p:nvSpPr>
            <p:cNvPr id="18" name="Line 18"/>
            <p:cNvSpPr/>
            <p:nvPr/>
          </p:nvSpPr>
          <p:spPr>
            <a:xfrm>
              <a:off x="609600" y="5048250"/>
              <a:ext cx="2571750" cy="9525"/>
            </a:xfrm>
            <a:custGeom>
              <a:avLst/>
              <a:gdLst/>
              <a:ahLst/>
              <a:cxnLst/>
              <a:rect l="l" t="t" r="r" b="b"/>
              <a:pathLst>
                <a:path w="2571750" h="9525">
                  <a:moveTo>
                    <a:pt x="0" y="0"/>
                  </a:moveTo>
                  <a:lnTo>
                    <a:pt x="2571750" y="0"/>
                  </a:lnTo>
                </a:path>
              </a:pathLst>
            </a:custGeom>
            <a:noFill/>
            <a:ln w="9525">
              <a:solidFill>
                <a:srgbClr val="D3DBE1"/>
              </a:solidFill>
            </a:ln>
          </p:spPr>
        </p:sp>
        <p:sp>
          <p:nvSpPr>
            <p:cNvPr id="19" name="TextBox 19"/>
            <p:cNvSpPr txBox="1"/>
            <p:nvPr/>
          </p:nvSpPr>
          <p:spPr>
            <a:xfrm>
              <a:off x="603504" y="5149850"/>
              <a:ext cx="2163383" cy="444246"/>
            </a:xfrm>
            <a:prstGeom prst="rect">
              <a:avLst/>
            </a:prstGeom>
            <a:noFill/>
            <a:ln>
              <a:noFill/>
            </a:ln>
          </p:spPr>
          <p:txBody>
            <a:bodyPr wrap="square" lIns="0" tIns="0" rIns="0" bIns="0" anchor="t" anchorCtr="0">
              <a:spAutoFit/>
            </a:bodyPr>
            <a:lstStyle/>
            <a:p>
              <a:pPr algn="l">
                <a:lnSpc>
                  <a:spcPts val="1650"/>
                </a:lnSpc>
              </a:pPr>
              <a:r>
                <a:rPr lang="ru" sz="1200" dirty="0">
                  <a:solidFill>
                    <a:srgbClr val="4A5663"/>
                  </a:solidFill>
                  <a:latin typeface="+mn-lt"/>
                  <a:ea typeface="+mn-ea"/>
                  <a:cs typeface="+mn-cs"/>
                </a:rPr>
                <a:t>счётчики, промышленные</a:t>
              </a:r>
              <a:br>
                <a:rPr lang="ru" sz="1200" dirty="0">
                  <a:solidFill>
                    <a:srgbClr val="4A5663"/>
                  </a:solidFill>
                  <a:latin typeface="+mn-lt"/>
                  <a:ea typeface="+mn-ea"/>
                  <a:cs typeface="+mn-cs"/>
                </a:rPr>
              </a:br>
              <a:r>
                <a:rPr lang="ru" sz="1200" dirty="0">
                  <a:solidFill>
                    <a:srgbClr val="4A5663"/>
                  </a:solidFill>
                  <a:latin typeface="+mn-lt"/>
                  <a:ea typeface="+mn-ea"/>
                  <a:cs typeface="+mn-cs"/>
                </a:rPr>
                <a:t>датчики, трекеры</a:t>
              </a:r>
            </a:p>
          </p:txBody>
        </p:sp>
      </p:grpSp>
      <p:grpSp>
        <p:nvGrpSpPr>
          <p:cNvPr id="26" name="level-gateways"/>
          <p:cNvGrpSpPr/>
          <p:nvPr/>
        </p:nvGrpSpPr>
        <p:grpSpPr>
          <a:xfrm>
            <a:off x="3400806" y="2752725"/>
            <a:ext cx="2580894" cy="2841371"/>
            <a:chOff x="3400806" y="2752725"/>
            <a:chExt cx="2580894" cy="2841371"/>
          </a:xfrm>
        </p:grpSpPr>
        <p:sp>
          <p:nvSpPr>
            <p:cNvPr id="21" name="Freeform 21"/>
            <p:cNvSpPr/>
            <p:nvPr/>
          </p:nvSpPr>
          <p:spPr>
            <a:xfrm>
              <a:off x="3457575" y="2752725"/>
              <a:ext cx="285756" cy="302429"/>
            </a:xfrm>
            <a:custGeom>
              <a:avLst/>
              <a:gdLst/>
              <a:ahLst/>
              <a:cxnLst/>
              <a:rect l="l" t="t" r="r" b="b"/>
              <a:pathLst>
                <a:path w="285756" h="302429">
                  <a:moveTo>
                    <a:pt x="269876" y="0"/>
                  </a:moveTo>
                  <a:lnTo>
                    <a:pt x="15875" y="0"/>
                  </a:lnTo>
                  <a:cubicBezTo>
                    <a:pt x="7107" y="0"/>
                    <a:pt x="0" y="7107"/>
                    <a:pt x="0" y="15875"/>
                  </a:cubicBezTo>
                  <a:lnTo>
                    <a:pt x="0" y="51229"/>
                  </a:lnTo>
                  <a:lnTo>
                    <a:pt x="127" y="54769"/>
                  </a:lnTo>
                  <a:cubicBezTo>
                    <a:pt x="918" y="65369"/>
                    <a:pt x="5232" y="75400"/>
                    <a:pt x="12383" y="83265"/>
                  </a:cubicBezTo>
                  <a:lnTo>
                    <a:pt x="79375" y="156941"/>
                  </a:lnTo>
                  <a:lnTo>
                    <a:pt x="79375" y="285751"/>
                  </a:lnTo>
                  <a:cubicBezTo>
                    <a:pt x="79374" y="290853"/>
                    <a:pt x="81826" y="295646"/>
                    <a:pt x="85965" y="298631"/>
                  </a:cubicBezTo>
                  <a:cubicBezTo>
                    <a:pt x="90104" y="301615"/>
                    <a:pt x="95425" y="302429"/>
                    <a:pt x="100267" y="300816"/>
                  </a:cubicBezTo>
                  <a:lnTo>
                    <a:pt x="195517" y="269066"/>
                  </a:lnTo>
                  <a:lnTo>
                    <a:pt x="197231" y="268383"/>
                  </a:lnTo>
                  <a:cubicBezTo>
                    <a:pt x="202813" y="265770"/>
                    <a:pt x="206377" y="260163"/>
                    <a:pt x="206375" y="254001"/>
                  </a:cubicBezTo>
                  <a:lnTo>
                    <a:pt x="206375" y="149448"/>
                  </a:lnTo>
                  <a:lnTo>
                    <a:pt x="271796" y="84042"/>
                  </a:lnTo>
                  <a:cubicBezTo>
                    <a:pt x="280736" y="75105"/>
                    <a:pt x="285756" y="62981"/>
                    <a:pt x="285751" y="50340"/>
                  </a:cubicBezTo>
                  <a:lnTo>
                    <a:pt x="285751" y="15875"/>
                  </a:lnTo>
                  <a:cubicBezTo>
                    <a:pt x="285751" y="7107"/>
                    <a:pt x="278643" y="0"/>
                    <a:pt x="269876" y="0"/>
                  </a:cubicBezTo>
                  <a:close/>
                </a:path>
              </a:pathLst>
            </a:custGeom>
            <a:solidFill>
              <a:srgbClr val="0E6680"/>
            </a:solidFill>
            <a:ln>
              <a:noFill/>
            </a:ln>
          </p:spPr>
        </p:sp>
        <p:sp>
          <p:nvSpPr>
            <p:cNvPr id="22" name="TextBox 22"/>
            <p:cNvSpPr txBox="1"/>
            <p:nvPr/>
          </p:nvSpPr>
          <p:spPr>
            <a:xfrm>
              <a:off x="3400806" y="3270250"/>
              <a:ext cx="2593166" cy="637794"/>
            </a:xfrm>
            <a:prstGeom prst="rect">
              <a:avLst/>
            </a:prstGeom>
            <a:noFill/>
            <a:ln>
              <a:noFill/>
            </a:ln>
          </p:spPr>
          <p:txBody>
            <a:bodyPr wrap="square" lIns="0" tIns="0" rIns="0" bIns="0" anchor="t" anchorCtr="0">
              <a:spAutoFit/>
            </a:bodyPr>
            <a:lstStyle/>
            <a:p>
              <a:pPr algn="l">
                <a:lnSpc>
                  <a:spcPts val="2250"/>
                </a:lnSpc>
              </a:pPr>
              <a:r>
                <a:rPr lang="ru" sz="1800" b="1" dirty="0">
                  <a:solidFill>
                    <a:srgbClr val="17212B"/>
                  </a:solidFill>
                  <a:latin typeface="+mn-lt"/>
                  <a:ea typeface="+mn-ea"/>
                  <a:cs typeface="+mn-cs"/>
                </a:rPr>
                <a:t>Шлюзы и граничные</a:t>
              </a:r>
              <a:br>
                <a:rPr lang="ru" sz="1800" b="1" dirty="0">
                  <a:solidFill>
                    <a:srgbClr val="17212B"/>
                  </a:solidFill>
                  <a:latin typeface="+mn-lt"/>
                  <a:ea typeface="+mn-ea"/>
                  <a:cs typeface="+mn-cs"/>
                </a:rPr>
              </a:br>
              <a:r>
                <a:rPr lang="ru" sz="1800" b="1" dirty="0">
                  <a:solidFill>
                    <a:srgbClr val="17212B"/>
                  </a:solidFill>
                  <a:latin typeface="+mn-lt"/>
                  <a:ea typeface="+mn-ea"/>
                  <a:cs typeface="+mn-cs"/>
                </a:rPr>
                <a:t>вычисления</a:t>
              </a:r>
            </a:p>
          </p:txBody>
        </p:sp>
        <p:sp>
          <p:nvSpPr>
            <p:cNvPr id="23" name="TextBox 23"/>
            <p:cNvSpPr txBox="1"/>
            <p:nvPr/>
          </p:nvSpPr>
          <p:spPr>
            <a:xfrm>
              <a:off x="3402330" y="4006850"/>
              <a:ext cx="2768793" cy="826770"/>
            </a:xfrm>
            <a:prstGeom prst="rect">
              <a:avLst/>
            </a:prstGeom>
            <a:noFill/>
            <a:ln>
              <a:noFill/>
            </a:ln>
          </p:spPr>
          <p:txBody>
            <a:bodyPr wrap="square" lIns="0" tIns="0" rIns="0" bIns="0" anchor="t" anchorCtr="0">
              <a:spAutoFit/>
            </a:bodyPr>
            <a:lstStyle/>
            <a:p>
              <a:pPr algn="l">
                <a:lnSpc>
                  <a:spcPts val="2100"/>
                </a:lnSpc>
              </a:pPr>
              <a:r>
                <a:rPr lang="ru" sz="1500" dirty="0">
                  <a:solidFill>
                    <a:srgbClr val="4A5663"/>
                  </a:solidFill>
                  <a:latin typeface="+mn-lt"/>
                  <a:ea typeface="+mn-ea"/>
                  <a:cs typeface="+mn-cs"/>
                </a:rPr>
                <a:t>Собирают данные рядом</a:t>
              </a:r>
              <a:br>
                <a:rPr lang="ru" sz="1500" dirty="0">
                  <a:solidFill>
                    <a:srgbClr val="4A5663"/>
                  </a:solidFill>
                  <a:latin typeface="+mn-lt"/>
                  <a:ea typeface="+mn-ea"/>
                  <a:cs typeface="+mn-cs"/>
                </a:rPr>
              </a:br>
              <a:r>
                <a:rPr lang="ru" sz="1500" dirty="0">
                  <a:solidFill>
                    <a:srgbClr val="4A5663"/>
                  </a:solidFill>
                  <a:latin typeface="+mn-lt"/>
                  <a:ea typeface="+mn-ea"/>
                  <a:cs typeface="+mn-cs"/>
                </a:rPr>
                <a:t>с источником, фильтруют</a:t>
              </a:r>
              <a:br>
                <a:rPr lang="ru" sz="1500" dirty="0">
                  <a:solidFill>
                    <a:srgbClr val="4A5663"/>
                  </a:solidFill>
                  <a:latin typeface="+mn-lt"/>
                  <a:ea typeface="+mn-ea"/>
                  <a:cs typeface="+mn-cs"/>
                </a:rPr>
              </a:br>
              <a:r>
                <a:rPr lang="ru" sz="1500" dirty="0">
                  <a:solidFill>
                    <a:srgbClr val="4A5663"/>
                  </a:solidFill>
                  <a:latin typeface="+mn-lt"/>
                  <a:ea typeface="+mn-ea"/>
                  <a:cs typeface="+mn-cs"/>
                </a:rPr>
                <a:t>и передают дальше</a:t>
              </a:r>
            </a:p>
          </p:txBody>
        </p:sp>
        <p:sp>
          <p:nvSpPr>
            <p:cNvPr id="24" name="Line 24"/>
            <p:cNvSpPr/>
            <p:nvPr/>
          </p:nvSpPr>
          <p:spPr>
            <a:xfrm>
              <a:off x="3409950" y="5048250"/>
              <a:ext cx="2571750" cy="9525"/>
            </a:xfrm>
            <a:custGeom>
              <a:avLst/>
              <a:gdLst/>
              <a:ahLst/>
              <a:cxnLst/>
              <a:rect l="l" t="t" r="r" b="b"/>
              <a:pathLst>
                <a:path w="2571750" h="9525">
                  <a:moveTo>
                    <a:pt x="0" y="0"/>
                  </a:moveTo>
                  <a:lnTo>
                    <a:pt x="2571750" y="0"/>
                  </a:lnTo>
                </a:path>
              </a:pathLst>
            </a:custGeom>
            <a:noFill/>
            <a:ln w="9525">
              <a:solidFill>
                <a:srgbClr val="D3DBE1"/>
              </a:solidFill>
            </a:ln>
          </p:spPr>
        </p:sp>
        <p:sp>
          <p:nvSpPr>
            <p:cNvPr id="25" name="TextBox 25"/>
            <p:cNvSpPr txBox="1"/>
            <p:nvPr/>
          </p:nvSpPr>
          <p:spPr>
            <a:xfrm>
              <a:off x="3403854" y="5149850"/>
              <a:ext cx="1856602" cy="444246"/>
            </a:xfrm>
            <a:prstGeom prst="rect">
              <a:avLst/>
            </a:prstGeom>
            <a:noFill/>
            <a:ln>
              <a:noFill/>
            </a:ln>
          </p:spPr>
          <p:txBody>
            <a:bodyPr wrap="square" lIns="0" tIns="0" rIns="0" bIns="0" anchor="t" anchorCtr="0">
              <a:spAutoFit/>
            </a:bodyPr>
            <a:lstStyle/>
            <a:p>
              <a:pPr algn="l">
                <a:lnSpc>
                  <a:spcPts val="1650"/>
                </a:lnSpc>
              </a:pPr>
              <a:r>
                <a:rPr lang="ru" sz="1200" dirty="0">
                  <a:solidFill>
                    <a:srgbClr val="4A5663"/>
                  </a:solidFill>
                  <a:latin typeface="+mn-lt"/>
                  <a:ea typeface="+mn-ea"/>
                  <a:cs typeface="+mn-cs"/>
                </a:rPr>
                <a:t>промышленные шлюзы,</a:t>
              </a:r>
              <a:br>
                <a:rPr lang="ru" sz="1200" dirty="0">
                  <a:solidFill>
                    <a:srgbClr val="4A5663"/>
                  </a:solidFill>
                  <a:latin typeface="+mn-lt"/>
                  <a:ea typeface="+mn-ea"/>
                  <a:cs typeface="+mn-cs"/>
                </a:rPr>
              </a:br>
              <a:r>
                <a:rPr lang="ru" sz="1200" dirty="0">
                  <a:solidFill>
                    <a:srgbClr val="4A5663"/>
                  </a:solidFill>
                  <a:latin typeface="+mn-lt"/>
                  <a:ea typeface="+mn-ea"/>
                  <a:cs typeface="+mn-cs"/>
                </a:rPr>
                <a:t>локальные серверы</a:t>
              </a:r>
            </a:p>
          </p:txBody>
        </p:sp>
      </p:grpSp>
      <p:grpSp>
        <p:nvGrpSpPr>
          <p:cNvPr id="35" name="level-network"/>
          <p:cNvGrpSpPr/>
          <p:nvPr/>
        </p:nvGrpSpPr>
        <p:grpSpPr>
          <a:xfrm>
            <a:off x="6201156" y="2726000"/>
            <a:ext cx="2580894" cy="2868096"/>
            <a:chOff x="6201156" y="2726000"/>
            <a:chExt cx="2580894" cy="2868096"/>
          </a:xfrm>
        </p:grpSpPr>
        <p:grpSp>
          <p:nvGrpSpPr>
            <p:cNvPr id="30" name="Group 30"/>
            <p:cNvGrpSpPr/>
            <p:nvPr/>
          </p:nvGrpSpPr>
          <p:grpSpPr>
            <a:xfrm>
              <a:off x="6226583" y="2726000"/>
              <a:ext cx="348418" cy="329670"/>
              <a:chOff x="6226583" y="2726000"/>
              <a:chExt cx="348418" cy="329670"/>
            </a:xfrm>
          </p:grpSpPr>
          <p:sp>
            <p:nvSpPr>
              <p:cNvPr id="27" name="Freeform 27"/>
              <p:cNvSpPr/>
              <p:nvPr/>
            </p:nvSpPr>
            <p:spPr>
              <a:xfrm>
                <a:off x="6336778" y="2863845"/>
                <a:ext cx="128505" cy="191825"/>
              </a:xfrm>
              <a:custGeom>
                <a:avLst/>
                <a:gdLst/>
                <a:ahLst/>
                <a:cxnLst/>
                <a:rect l="l" t="t" r="r" b="b"/>
                <a:pathLst>
                  <a:path w="128505" h="191825">
                    <a:moveTo>
                      <a:pt x="64022" y="5"/>
                    </a:moveTo>
                    <a:cubicBezTo>
                      <a:pt x="76520" y="1"/>
                      <a:pt x="87858" y="7330"/>
                      <a:pt x="92986" y="18727"/>
                    </a:cubicBezTo>
                    <a:cubicBezTo>
                      <a:pt x="98115" y="30125"/>
                      <a:pt x="96079" y="43471"/>
                      <a:pt x="87787" y="52821"/>
                    </a:cubicBezTo>
                    <a:lnTo>
                      <a:pt x="126712" y="169614"/>
                    </a:lnTo>
                    <a:cubicBezTo>
                      <a:pt x="128505" y="174996"/>
                      <a:pt x="127289" y="180926"/>
                      <a:pt x="123524" y="185169"/>
                    </a:cubicBezTo>
                    <a:cubicBezTo>
                      <a:pt x="119759" y="189413"/>
                      <a:pt x="114016" y="191325"/>
                      <a:pt x="108459" y="190186"/>
                    </a:cubicBezTo>
                    <a:cubicBezTo>
                      <a:pt x="102901" y="189047"/>
                      <a:pt x="98374" y="185029"/>
                      <a:pt x="96582" y="179647"/>
                    </a:cubicBezTo>
                    <a:lnTo>
                      <a:pt x="89597" y="158756"/>
                    </a:lnTo>
                    <a:lnTo>
                      <a:pt x="38416" y="158756"/>
                    </a:lnTo>
                    <a:lnTo>
                      <a:pt x="31462" y="179663"/>
                    </a:lnTo>
                    <a:cubicBezTo>
                      <a:pt x="28917" y="187301"/>
                      <a:pt x="21057" y="191825"/>
                      <a:pt x="13174" y="190188"/>
                    </a:cubicBezTo>
                    <a:lnTo>
                      <a:pt x="11380" y="189712"/>
                    </a:lnTo>
                    <a:cubicBezTo>
                      <a:pt x="7384" y="188382"/>
                      <a:pt x="4080" y="185519"/>
                      <a:pt x="2195" y="181753"/>
                    </a:cubicBezTo>
                    <a:cubicBezTo>
                      <a:pt x="311" y="177986"/>
                      <a:pt x="0" y="173626"/>
                      <a:pt x="1331" y="169630"/>
                    </a:cubicBezTo>
                    <a:lnTo>
                      <a:pt x="40257" y="52837"/>
                    </a:lnTo>
                    <a:cubicBezTo>
                      <a:pt x="35106" y="47023"/>
                      <a:pt x="32265" y="39523"/>
                      <a:pt x="32272" y="31755"/>
                    </a:cubicBezTo>
                    <a:lnTo>
                      <a:pt x="32351" y="29374"/>
                    </a:lnTo>
                    <a:cubicBezTo>
                      <a:pt x="33597" y="12806"/>
                      <a:pt x="47407" y="0"/>
                      <a:pt x="64022" y="5"/>
                    </a:cubicBezTo>
                  </a:path>
                </a:pathLst>
              </a:custGeom>
              <a:solidFill>
                <a:srgbClr val="0E6680"/>
              </a:solidFill>
              <a:ln>
                <a:noFill/>
              </a:ln>
            </p:spPr>
          </p:sp>
          <p:sp>
            <p:nvSpPr>
              <p:cNvPr id="28" name="Freeform 28"/>
              <p:cNvSpPr/>
              <p:nvPr/>
            </p:nvSpPr>
            <p:spPr>
              <a:xfrm>
                <a:off x="6226583" y="2726000"/>
                <a:ext cx="348418" cy="242699"/>
              </a:xfrm>
              <a:custGeom>
                <a:avLst/>
                <a:gdLst/>
                <a:ahLst/>
                <a:cxnLst/>
                <a:rect l="l" t="t" r="r" b="b"/>
                <a:pathLst>
                  <a:path w="348418" h="242699">
                    <a:moveTo>
                      <a:pt x="270944" y="43838"/>
                    </a:moveTo>
                    <a:cubicBezTo>
                      <a:pt x="327983" y="87672"/>
                      <a:pt x="348418" y="164382"/>
                      <a:pt x="320744" y="230782"/>
                    </a:cubicBezTo>
                    <a:cubicBezTo>
                      <a:pt x="317369" y="238875"/>
                      <a:pt x="308072" y="242699"/>
                      <a:pt x="299980" y="239323"/>
                    </a:cubicBezTo>
                    <a:cubicBezTo>
                      <a:pt x="291887" y="235948"/>
                      <a:pt x="288063" y="226651"/>
                      <a:pt x="291439" y="218559"/>
                    </a:cubicBezTo>
                    <a:cubicBezTo>
                      <a:pt x="313575" y="165438"/>
                      <a:pt x="297225" y="104072"/>
                      <a:pt x="251594" y="69007"/>
                    </a:cubicBezTo>
                    <a:cubicBezTo>
                      <a:pt x="205963" y="33941"/>
                      <a:pt x="142456" y="33941"/>
                      <a:pt x="96825" y="69007"/>
                    </a:cubicBezTo>
                    <a:cubicBezTo>
                      <a:pt x="51194" y="104072"/>
                      <a:pt x="34845" y="165438"/>
                      <a:pt x="56981" y="218559"/>
                    </a:cubicBezTo>
                    <a:cubicBezTo>
                      <a:pt x="60356" y="226651"/>
                      <a:pt x="56532" y="235948"/>
                      <a:pt x="48440" y="239323"/>
                    </a:cubicBezTo>
                    <a:cubicBezTo>
                      <a:pt x="40347" y="242699"/>
                      <a:pt x="31051" y="238875"/>
                      <a:pt x="27675" y="230782"/>
                    </a:cubicBezTo>
                    <a:cubicBezTo>
                      <a:pt x="0" y="164381"/>
                      <a:pt x="20435" y="87668"/>
                      <a:pt x="77476" y="43834"/>
                    </a:cubicBezTo>
                    <a:cubicBezTo>
                      <a:pt x="134517" y="0"/>
                      <a:pt x="213905" y="2"/>
                      <a:pt x="270944" y="43838"/>
                    </a:cubicBezTo>
                  </a:path>
                </a:pathLst>
              </a:custGeom>
              <a:solidFill>
                <a:srgbClr val="0E6680"/>
              </a:solidFill>
              <a:ln>
                <a:noFill/>
              </a:ln>
            </p:spPr>
          </p:sp>
          <p:sp>
            <p:nvSpPr>
              <p:cNvPr id="29" name="Freeform 29"/>
              <p:cNvSpPr/>
              <p:nvPr/>
            </p:nvSpPr>
            <p:spPr>
              <a:xfrm>
                <a:off x="6296295" y="2793784"/>
                <a:ext cx="209046" cy="150388"/>
              </a:xfrm>
              <a:custGeom>
                <a:avLst/>
                <a:gdLst/>
                <a:ahLst/>
                <a:cxnLst/>
                <a:rect l="l" t="t" r="r" b="b"/>
                <a:pathLst>
                  <a:path w="209046" h="150388">
                    <a:moveTo>
                      <a:pt x="162561" y="26299"/>
                    </a:moveTo>
                    <a:cubicBezTo>
                      <a:pt x="196786" y="52601"/>
                      <a:pt x="209046" y="98630"/>
                      <a:pt x="192438" y="138472"/>
                    </a:cubicBezTo>
                    <a:cubicBezTo>
                      <a:pt x="189062" y="146564"/>
                      <a:pt x="179766" y="150388"/>
                      <a:pt x="171673" y="147013"/>
                    </a:cubicBezTo>
                    <a:cubicBezTo>
                      <a:pt x="163581" y="143637"/>
                      <a:pt x="159757" y="134341"/>
                      <a:pt x="163132" y="126248"/>
                    </a:cubicBezTo>
                    <a:cubicBezTo>
                      <a:pt x="174206" y="99687"/>
                      <a:pt x="166033" y="69000"/>
                      <a:pt x="143217" y="51465"/>
                    </a:cubicBezTo>
                    <a:cubicBezTo>
                      <a:pt x="120400" y="33929"/>
                      <a:pt x="88643" y="33929"/>
                      <a:pt x="65827" y="51465"/>
                    </a:cubicBezTo>
                    <a:cubicBezTo>
                      <a:pt x="43010" y="69000"/>
                      <a:pt x="34838" y="99687"/>
                      <a:pt x="45911" y="126248"/>
                    </a:cubicBezTo>
                    <a:cubicBezTo>
                      <a:pt x="49287" y="134341"/>
                      <a:pt x="45463" y="143637"/>
                      <a:pt x="37370" y="147013"/>
                    </a:cubicBezTo>
                    <a:cubicBezTo>
                      <a:pt x="29278" y="150388"/>
                      <a:pt x="19981" y="146564"/>
                      <a:pt x="16606" y="138472"/>
                    </a:cubicBezTo>
                    <a:cubicBezTo>
                      <a:pt x="0" y="98632"/>
                      <a:pt x="12259" y="52605"/>
                      <a:pt x="46482" y="26304"/>
                    </a:cubicBezTo>
                    <a:cubicBezTo>
                      <a:pt x="80705" y="2"/>
                      <a:pt x="128336" y="0"/>
                      <a:pt x="162561" y="26299"/>
                    </a:cubicBezTo>
                  </a:path>
                </a:pathLst>
              </a:custGeom>
              <a:solidFill>
                <a:srgbClr val="0E6680"/>
              </a:solidFill>
              <a:ln>
                <a:noFill/>
              </a:ln>
            </p:spPr>
          </p:sp>
        </p:grpSp>
        <p:sp>
          <p:nvSpPr>
            <p:cNvPr id="31" name="TextBox 31"/>
            <p:cNvSpPr txBox="1"/>
            <p:nvPr/>
          </p:nvSpPr>
          <p:spPr>
            <a:xfrm>
              <a:off x="6201156" y="3270250"/>
              <a:ext cx="1948925" cy="637794"/>
            </a:xfrm>
            <a:prstGeom prst="rect">
              <a:avLst/>
            </a:prstGeom>
            <a:noFill/>
            <a:ln>
              <a:noFill/>
            </a:ln>
          </p:spPr>
          <p:txBody>
            <a:bodyPr wrap="square" lIns="0" tIns="0" rIns="0" bIns="0" anchor="t" anchorCtr="0">
              <a:spAutoFit/>
            </a:bodyPr>
            <a:lstStyle/>
            <a:p>
              <a:pPr algn="l">
                <a:lnSpc>
                  <a:spcPts val="2250"/>
                </a:lnSpc>
              </a:pPr>
              <a:r>
                <a:rPr lang="ru" sz="1800" b="1" dirty="0">
                  <a:solidFill>
                    <a:srgbClr val="17212B"/>
                  </a:solidFill>
                  <a:latin typeface="+mn-lt"/>
                  <a:ea typeface="+mn-ea"/>
                  <a:cs typeface="+mn-cs"/>
                </a:rPr>
                <a:t>Сеть и брокер</a:t>
              </a:r>
              <a:br>
                <a:rPr lang="ru" sz="1800" b="1" dirty="0">
                  <a:solidFill>
                    <a:srgbClr val="17212B"/>
                  </a:solidFill>
                  <a:latin typeface="+mn-lt"/>
                  <a:ea typeface="+mn-ea"/>
                  <a:cs typeface="+mn-cs"/>
                </a:rPr>
              </a:br>
              <a:r>
                <a:rPr lang="ru" sz="1800" b="1" dirty="0">
                  <a:solidFill>
                    <a:srgbClr val="17212B"/>
                  </a:solidFill>
                  <a:latin typeface="+mn-lt"/>
                  <a:ea typeface="+mn-ea"/>
                  <a:cs typeface="+mn-cs"/>
                </a:rPr>
                <a:t>сообщений</a:t>
              </a:r>
            </a:p>
          </p:txBody>
        </p:sp>
        <p:sp>
          <p:nvSpPr>
            <p:cNvPr id="32" name="TextBox 32"/>
            <p:cNvSpPr txBox="1"/>
            <p:nvPr/>
          </p:nvSpPr>
          <p:spPr>
            <a:xfrm>
              <a:off x="6202680" y="4006850"/>
              <a:ext cx="2833357" cy="826770"/>
            </a:xfrm>
            <a:prstGeom prst="rect">
              <a:avLst/>
            </a:prstGeom>
            <a:noFill/>
            <a:ln>
              <a:noFill/>
            </a:ln>
          </p:spPr>
          <p:txBody>
            <a:bodyPr wrap="square" lIns="0" tIns="0" rIns="0" bIns="0" anchor="t" anchorCtr="0">
              <a:spAutoFit/>
            </a:bodyPr>
            <a:lstStyle/>
            <a:p>
              <a:pPr algn="l">
                <a:lnSpc>
                  <a:spcPts val="2100"/>
                </a:lnSpc>
              </a:pPr>
              <a:r>
                <a:rPr lang="ru" sz="1500" dirty="0">
                  <a:solidFill>
                    <a:srgbClr val="4A5663"/>
                  </a:solidFill>
                  <a:latin typeface="+mn-lt"/>
                  <a:ea typeface="+mn-ea"/>
                  <a:cs typeface="+mn-cs"/>
                </a:rPr>
                <a:t>Доставляют сообщения</a:t>
              </a:r>
              <a:br>
                <a:rPr lang="ru" sz="1500" dirty="0">
                  <a:solidFill>
                    <a:srgbClr val="4A5663"/>
                  </a:solidFill>
                  <a:latin typeface="+mn-lt"/>
                  <a:ea typeface="+mn-ea"/>
                  <a:cs typeface="+mn-cs"/>
                </a:rPr>
              </a:br>
              <a:r>
                <a:rPr lang="ru" sz="1500" dirty="0">
                  <a:solidFill>
                    <a:srgbClr val="4A5663"/>
                  </a:solidFill>
                  <a:latin typeface="+mn-lt"/>
                  <a:ea typeface="+mn-ea"/>
                  <a:cs typeface="+mn-cs"/>
                </a:rPr>
                <a:t>от устройств к системам,</a:t>
              </a:r>
              <a:br>
                <a:rPr lang="ru" sz="1500" dirty="0">
                  <a:solidFill>
                    <a:srgbClr val="4A5663"/>
                  </a:solidFill>
                  <a:latin typeface="+mn-lt"/>
                  <a:ea typeface="+mn-ea"/>
                  <a:cs typeface="+mn-cs"/>
                </a:rPr>
              </a:br>
              <a:r>
                <a:rPr lang="ru" sz="1500" dirty="0">
                  <a:solidFill>
                    <a:srgbClr val="4A5663"/>
                  </a:solidFill>
                  <a:latin typeface="+mn-lt"/>
                  <a:ea typeface="+mn-ea"/>
                  <a:cs typeface="+mn-cs"/>
                </a:rPr>
                <a:t>подписанным на них</a:t>
              </a:r>
            </a:p>
          </p:txBody>
        </p:sp>
        <p:sp>
          <p:nvSpPr>
            <p:cNvPr id="33" name="Line 33"/>
            <p:cNvSpPr/>
            <p:nvPr/>
          </p:nvSpPr>
          <p:spPr>
            <a:xfrm>
              <a:off x="6210300" y="5048250"/>
              <a:ext cx="2571750" cy="9525"/>
            </a:xfrm>
            <a:custGeom>
              <a:avLst/>
              <a:gdLst/>
              <a:ahLst/>
              <a:cxnLst/>
              <a:rect l="l" t="t" r="r" b="b"/>
              <a:pathLst>
                <a:path w="2571750" h="9525">
                  <a:moveTo>
                    <a:pt x="0" y="0"/>
                  </a:moveTo>
                  <a:lnTo>
                    <a:pt x="2571750" y="0"/>
                  </a:lnTo>
                </a:path>
              </a:pathLst>
            </a:custGeom>
            <a:noFill/>
            <a:ln w="9525">
              <a:solidFill>
                <a:srgbClr val="D3DBE1"/>
              </a:solidFill>
            </a:ln>
          </p:spPr>
        </p:sp>
        <p:sp>
          <p:nvSpPr>
            <p:cNvPr id="34" name="TextBox 34"/>
            <p:cNvSpPr txBox="1"/>
            <p:nvPr/>
          </p:nvSpPr>
          <p:spPr>
            <a:xfrm>
              <a:off x="6204204" y="5149850"/>
              <a:ext cx="2164016" cy="444246"/>
            </a:xfrm>
            <a:prstGeom prst="rect">
              <a:avLst/>
            </a:prstGeom>
            <a:noFill/>
            <a:ln>
              <a:noFill/>
            </a:ln>
          </p:spPr>
          <p:txBody>
            <a:bodyPr wrap="square" lIns="0" tIns="0" rIns="0" bIns="0" anchor="t" anchorCtr="0">
              <a:spAutoFit/>
            </a:bodyPr>
            <a:lstStyle/>
            <a:p>
              <a:pPr algn="l">
                <a:lnSpc>
                  <a:spcPts val="1650"/>
                </a:lnSpc>
              </a:pPr>
              <a:r>
                <a:rPr lang="en-US" sz="1200" dirty="0">
                  <a:solidFill>
                    <a:srgbClr val="4A5663"/>
                  </a:solidFill>
                  <a:latin typeface="+mn-lt"/>
                  <a:ea typeface="+mn-ea"/>
                  <a:cs typeface="+mn-cs"/>
                </a:rPr>
                <a:t>MQTT 5.0 (OASIS, 2019),</a:t>
              </a:r>
              <a:br>
                <a:rPr lang="en-US" sz="1200" dirty="0">
                  <a:solidFill>
                    <a:srgbClr val="4A5663"/>
                  </a:solidFill>
                  <a:latin typeface="+mn-lt"/>
                  <a:ea typeface="+mn-ea"/>
                  <a:cs typeface="+mn-cs"/>
                </a:rPr>
              </a:br>
              <a:r>
                <a:rPr lang="en-US" sz="1200" dirty="0">
                  <a:solidFill>
                    <a:srgbClr val="4A5663"/>
                  </a:solidFill>
                  <a:latin typeface="+mn-lt"/>
                  <a:ea typeface="+mn-ea"/>
                  <a:cs typeface="+mn-cs"/>
                </a:rPr>
                <a:t>Wi-Fi, 5G, LoRaWAN</a:t>
              </a:r>
            </a:p>
          </p:txBody>
        </p:sp>
      </p:grpSp>
      <p:grpSp>
        <p:nvGrpSpPr>
          <p:cNvPr id="41" name="level-platform"/>
          <p:cNvGrpSpPr/>
          <p:nvPr/>
        </p:nvGrpSpPr>
        <p:grpSpPr>
          <a:xfrm>
            <a:off x="9001506" y="2752725"/>
            <a:ext cx="2580894" cy="2841371"/>
            <a:chOff x="9001506" y="2752725"/>
            <a:chExt cx="2580894" cy="2841371"/>
          </a:xfrm>
        </p:grpSpPr>
        <p:sp>
          <p:nvSpPr>
            <p:cNvPr id="36" name="Freeform 36"/>
            <p:cNvSpPr/>
            <p:nvPr/>
          </p:nvSpPr>
          <p:spPr>
            <a:xfrm>
              <a:off x="9058275" y="2752725"/>
              <a:ext cx="285751" cy="285751"/>
            </a:xfrm>
            <a:custGeom>
              <a:avLst/>
              <a:gdLst/>
              <a:ahLst/>
              <a:cxnLst/>
              <a:rect l="l" t="t" r="r" b="b"/>
              <a:pathLst>
                <a:path w="285751" h="285751">
                  <a:moveTo>
                    <a:pt x="95250" y="0"/>
                  </a:moveTo>
                  <a:cubicBezTo>
                    <a:pt x="112785" y="0"/>
                    <a:pt x="127000" y="14215"/>
                    <a:pt x="127000" y="31750"/>
                  </a:cubicBezTo>
                  <a:lnTo>
                    <a:pt x="127000" y="127000"/>
                  </a:lnTo>
                  <a:cubicBezTo>
                    <a:pt x="127000" y="144535"/>
                    <a:pt x="112785" y="158750"/>
                    <a:pt x="95250" y="158750"/>
                  </a:cubicBezTo>
                  <a:lnTo>
                    <a:pt x="31750" y="158750"/>
                  </a:lnTo>
                  <a:cubicBezTo>
                    <a:pt x="14215" y="158750"/>
                    <a:pt x="0" y="144535"/>
                    <a:pt x="0" y="127000"/>
                  </a:cubicBezTo>
                  <a:lnTo>
                    <a:pt x="0" y="31750"/>
                  </a:lnTo>
                  <a:cubicBezTo>
                    <a:pt x="0" y="14215"/>
                    <a:pt x="14215" y="0"/>
                    <a:pt x="31750" y="0"/>
                  </a:cubicBezTo>
                  <a:close/>
                  <a:moveTo>
                    <a:pt x="95250" y="190500"/>
                  </a:moveTo>
                  <a:cubicBezTo>
                    <a:pt x="112785" y="190500"/>
                    <a:pt x="127000" y="204715"/>
                    <a:pt x="127000" y="222250"/>
                  </a:cubicBezTo>
                  <a:lnTo>
                    <a:pt x="127000" y="254001"/>
                  </a:lnTo>
                  <a:cubicBezTo>
                    <a:pt x="127000" y="271536"/>
                    <a:pt x="112785" y="285751"/>
                    <a:pt x="95250" y="285751"/>
                  </a:cubicBezTo>
                  <a:lnTo>
                    <a:pt x="31750" y="285751"/>
                  </a:lnTo>
                  <a:cubicBezTo>
                    <a:pt x="14215" y="285751"/>
                    <a:pt x="0" y="271536"/>
                    <a:pt x="0" y="254001"/>
                  </a:cubicBezTo>
                  <a:lnTo>
                    <a:pt x="0" y="222250"/>
                  </a:lnTo>
                  <a:cubicBezTo>
                    <a:pt x="0" y="204715"/>
                    <a:pt x="14215" y="190500"/>
                    <a:pt x="31750" y="190500"/>
                  </a:cubicBezTo>
                  <a:close/>
                  <a:moveTo>
                    <a:pt x="254001" y="127000"/>
                  </a:moveTo>
                  <a:cubicBezTo>
                    <a:pt x="271536" y="127000"/>
                    <a:pt x="285751" y="141215"/>
                    <a:pt x="285751" y="158750"/>
                  </a:cubicBezTo>
                  <a:lnTo>
                    <a:pt x="285751" y="254001"/>
                  </a:lnTo>
                  <a:cubicBezTo>
                    <a:pt x="285751" y="271536"/>
                    <a:pt x="271536" y="285751"/>
                    <a:pt x="254001" y="285751"/>
                  </a:cubicBezTo>
                  <a:lnTo>
                    <a:pt x="190500" y="285751"/>
                  </a:lnTo>
                  <a:cubicBezTo>
                    <a:pt x="172965" y="285751"/>
                    <a:pt x="158750" y="271536"/>
                    <a:pt x="158750" y="254001"/>
                  </a:cubicBezTo>
                  <a:lnTo>
                    <a:pt x="158750" y="158750"/>
                  </a:lnTo>
                  <a:cubicBezTo>
                    <a:pt x="158750" y="141215"/>
                    <a:pt x="172965" y="127000"/>
                    <a:pt x="190500" y="127000"/>
                  </a:cubicBezTo>
                  <a:close/>
                  <a:moveTo>
                    <a:pt x="254001" y="0"/>
                  </a:moveTo>
                  <a:cubicBezTo>
                    <a:pt x="271536" y="0"/>
                    <a:pt x="285751" y="14215"/>
                    <a:pt x="285751" y="31750"/>
                  </a:cubicBezTo>
                  <a:lnTo>
                    <a:pt x="285751" y="63500"/>
                  </a:lnTo>
                  <a:cubicBezTo>
                    <a:pt x="285751" y="81035"/>
                    <a:pt x="271536" y="95250"/>
                    <a:pt x="254001" y="95250"/>
                  </a:cubicBezTo>
                  <a:lnTo>
                    <a:pt x="190500" y="95250"/>
                  </a:lnTo>
                  <a:cubicBezTo>
                    <a:pt x="172965" y="95250"/>
                    <a:pt x="158750" y="81035"/>
                    <a:pt x="158750" y="63500"/>
                  </a:cubicBezTo>
                  <a:lnTo>
                    <a:pt x="158750" y="31750"/>
                  </a:lnTo>
                  <a:cubicBezTo>
                    <a:pt x="158750" y="14215"/>
                    <a:pt x="172965" y="0"/>
                    <a:pt x="190500" y="0"/>
                  </a:cubicBezTo>
                  <a:close/>
                </a:path>
              </a:pathLst>
            </a:custGeom>
            <a:solidFill>
              <a:srgbClr val="0E6680"/>
            </a:solidFill>
            <a:ln>
              <a:noFill/>
            </a:ln>
          </p:spPr>
        </p:sp>
        <p:sp>
          <p:nvSpPr>
            <p:cNvPr id="37" name="TextBox 37"/>
            <p:cNvSpPr txBox="1"/>
            <p:nvPr/>
          </p:nvSpPr>
          <p:spPr>
            <a:xfrm>
              <a:off x="9001506" y="3270250"/>
              <a:ext cx="2676749" cy="637794"/>
            </a:xfrm>
            <a:prstGeom prst="rect">
              <a:avLst/>
            </a:prstGeom>
            <a:noFill/>
            <a:ln>
              <a:noFill/>
            </a:ln>
          </p:spPr>
          <p:txBody>
            <a:bodyPr wrap="square" lIns="0" tIns="0" rIns="0" bIns="0" anchor="t" anchorCtr="0">
              <a:spAutoFit/>
            </a:bodyPr>
            <a:lstStyle/>
            <a:p>
              <a:pPr algn="l">
                <a:lnSpc>
                  <a:spcPts val="2250"/>
                </a:lnSpc>
              </a:pPr>
              <a:r>
                <a:rPr lang="ru" sz="1800" b="1" dirty="0">
                  <a:solidFill>
                    <a:srgbClr val="17212B"/>
                  </a:solidFill>
                  <a:latin typeface="+mn-lt"/>
                  <a:ea typeface="+mn-ea"/>
                  <a:cs typeface="+mn-cs"/>
                </a:rPr>
                <a:t>Платформа анализа</a:t>
              </a:r>
              <a:br>
                <a:rPr lang="ru" sz="1800" b="1" dirty="0">
                  <a:solidFill>
                    <a:srgbClr val="17212B"/>
                  </a:solidFill>
                  <a:latin typeface="+mn-lt"/>
                  <a:ea typeface="+mn-ea"/>
                  <a:cs typeface="+mn-cs"/>
                </a:rPr>
              </a:br>
              <a:r>
                <a:rPr lang="ru" sz="1800" b="1" dirty="0">
                  <a:solidFill>
                    <a:srgbClr val="17212B"/>
                  </a:solidFill>
                  <a:latin typeface="+mn-lt"/>
                  <a:ea typeface="+mn-ea"/>
                  <a:cs typeface="+mn-cs"/>
                </a:rPr>
                <a:t>и приложения</a:t>
              </a:r>
            </a:p>
          </p:txBody>
        </p:sp>
        <p:sp>
          <p:nvSpPr>
            <p:cNvPr id="38" name="TextBox 38"/>
            <p:cNvSpPr txBox="1"/>
            <p:nvPr/>
          </p:nvSpPr>
          <p:spPr>
            <a:xfrm>
              <a:off x="9003030" y="4006850"/>
              <a:ext cx="2705531" cy="826770"/>
            </a:xfrm>
            <a:prstGeom prst="rect">
              <a:avLst/>
            </a:prstGeom>
            <a:noFill/>
            <a:ln>
              <a:noFill/>
            </a:ln>
          </p:spPr>
          <p:txBody>
            <a:bodyPr wrap="square" lIns="0" tIns="0" rIns="0" bIns="0" anchor="t" anchorCtr="0">
              <a:spAutoFit/>
            </a:bodyPr>
            <a:lstStyle/>
            <a:p>
              <a:pPr algn="l">
                <a:lnSpc>
                  <a:spcPts val="2100"/>
                </a:lnSpc>
              </a:pPr>
              <a:r>
                <a:rPr lang="ru" sz="1500" dirty="0">
                  <a:solidFill>
                    <a:srgbClr val="4A5663"/>
                  </a:solidFill>
                  <a:latin typeface="+mn-lt"/>
                  <a:ea typeface="+mn-ea"/>
                  <a:cs typeface="+mn-cs"/>
                </a:rPr>
                <a:t>Обрабатывают и хранят</a:t>
              </a:r>
              <a:br>
                <a:rPr lang="ru" sz="1500" dirty="0">
                  <a:solidFill>
                    <a:srgbClr val="4A5663"/>
                  </a:solidFill>
                  <a:latin typeface="+mn-lt"/>
                  <a:ea typeface="+mn-ea"/>
                  <a:cs typeface="+mn-cs"/>
                </a:rPr>
              </a:br>
              <a:r>
                <a:rPr lang="ru" sz="1500" dirty="0">
                  <a:solidFill>
                    <a:srgbClr val="4A5663"/>
                  </a:solidFill>
                  <a:latin typeface="+mn-lt"/>
                  <a:ea typeface="+mn-ea"/>
                  <a:cs typeface="+mn-cs"/>
                </a:rPr>
                <a:t>данные, готовят отчёты,</a:t>
              </a:r>
              <a:br>
                <a:rPr lang="ru" sz="1500" dirty="0">
                  <a:solidFill>
                    <a:srgbClr val="4A5663"/>
                  </a:solidFill>
                  <a:latin typeface="+mn-lt"/>
                  <a:ea typeface="+mn-ea"/>
                  <a:cs typeface="+mn-cs"/>
                </a:rPr>
              </a:br>
              <a:r>
                <a:rPr lang="ru" sz="1500" dirty="0">
                  <a:solidFill>
                    <a:srgbClr val="4A5663"/>
                  </a:solidFill>
                  <a:latin typeface="+mn-lt"/>
                  <a:ea typeface="+mn-ea"/>
                  <a:cs typeface="+mn-cs"/>
                </a:rPr>
                <a:t>оповещения и команды</a:t>
              </a:r>
            </a:p>
          </p:txBody>
        </p:sp>
        <p:sp>
          <p:nvSpPr>
            <p:cNvPr id="39" name="Line 39"/>
            <p:cNvSpPr/>
            <p:nvPr/>
          </p:nvSpPr>
          <p:spPr>
            <a:xfrm>
              <a:off x="9010650" y="5048250"/>
              <a:ext cx="2571750" cy="9525"/>
            </a:xfrm>
            <a:custGeom>
              <a:avLst/>
              <a:gdLst/>
              <a:ahLst/>
              <a:cxnLst/>
              <a:rect l="l" t="t" r="r" b="b"/>
              <a:pathLst>
                <a:path w="2571750" h="9525">
                  <a:moveTo>
                    <a:pt x="0" y="0"/>
                  </a:moveTo>
                  <a:lnTo>
                    <a:pt x="2571750" y="0"/>
                  </a:lnTo>
                </a:path>
              </a:pathLst>
            </a:custGeom>
            <a:noFill/>
            <a:ln w="9525">
              <a:solidFill>
                <a:srgbClr val="D3DBE1"/>
              </a:solidFill>
            </a:ln>
          </p:spPr>
        </p:sp>
        <p:sp>
          <p:nvSpPr>
            <p:cNvPr id="40" name="TextBox 40"/>
            <p:cNvSpPr txBox="1"/>
            <p:nvPr/>
          </p:nvSpPr>
          <p:spPr>
            <a:xfrm>
              <a:off x="9004554" y="5149850"/>
              <a:ext cx="1958862" cy="444246"/>
            </a:xfrm>
            <a:prstGeom prst="rect">
              <a:avLst/>
            </a:prstGeom>
            <a:noFill/>
            <a:ln>
              <a:noFill/>
            </a:ln>
          </p:spPr>
          <p:txBody>
            <a:bodyPr wrap="square" lIns="0" tIns="0" rIns="0" bIns="0" anchor="t" anchorCtr="0">
              <a:spAutoFit/>
            </a:bodyPr>
            <a:lstStyle/>
            <a:p>
              <a:pPr algn="l">
                <a:lnSpc>
                  <a:spcPts val="1650"/>
                </a:lnSpc>
              </a:pPr>
              <a:r>
                <a:rPr lang="ru" sz="1200" dirty="0">
                  <a:solidFill>
                    <a:srgbClr val="4A5663"/>
                  </a:solidFill>
                  <a:latin typeface="+mn-lt"/>
                  <a:ea typeface="+mn-ea"/>
                  <a:cs typeface="+mn-cs"/>
                </a:rPr>
                <a:t>потоковая обработка,</a:t>
              </a:r>
              <a:br>
                <a:rPr lang="ru" sz="1200" dirty="0">
                  <a:solidFill>
                    <a:srgbClr val="4A5663"/>
                  </a:solidFill>
                  <a:latin typeface="+mn-lt"/>
                  <a:ea typeface="+mn-ea"/>
                  <a:cs typeface="+mn-cs"/>
                </a:rPr>
              </a:br>
              <a:r>
                <a:rPr lang="ru" sz="1200" dirty="0">
                  <a:solidFill>
                    <a:srgbClr val="4A5663"/>
                  </a:solidFill>
                  <a:latin typeface="+mn-lt"/>
                  <a:ea typeface="+mn-ea"/>
                  <a:cs typeface="+mn-cs"/>
                </a:rPr>
                <a:t>хранилища, панели</a:t>
              </a:r>
            </a:p>
          </p:txBody>
        </p:sp>
      </p:grpSp>
      <p:grpSp>
        <p:nvGrpSpPr>
          <p:cNvPr id="44" name="return-path"/>
          <p:cNvGrpSpPr/>
          <p:nvPr/>
        </p:nvGrpSpPr>
        <p:grpSpPr>
          <a:xfrm>
            <a:off x="685800" y="5791200"/>
            <a:ext cx="10839450" cy="323851"/>
            <a:chOff x="685800" y="5791200"/>
            <a:chExt cx="10839450" cy="323851"/>
          </a:xfrm>
        </p:grpSpPr>
        <p:sp>
          <p:nvSpPr>
            <p:cNvPr id="42" name="TextBox 42"/>
            <p:cNvSpPr txBox="1"/>
            <p:nvPr/>
          </p:nvSpPr>
          <p:spPr>
            <a:xfrm>
              <a:off x="2939574" y="5791200"/>
              <a:ext cx="6312853"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Обратный путь: управляющие команды от приложений к устройствам</a:t>
              </a:r>
            </a:p>
          </p:txBody>
        </p:sp>
        <p:sp>
          <p:nvSpPr>
            <p:cNvPr id="43" name="Line 43"/>
            <p:cNvSpPr/>
            <p:nvPr/>
          </p:nvSpPr>
          <p:spPr>
            <a:xfrm flipH="1">
              <a:off x="685800" y="6115050"/>
              <a:ext cx="10839450" cy="1"/>
            </a:xfrm>
            <a:prstGeom prst="line">
              <a:avLst/>
            </a:prstGeom>
            <a:noFill/>
            <a:ln w="19050">
              <a:solidFill>
                <a:srgbClr val="5F6B76"/>
              </a:solidFill>
              <a:prstDash val="lgDash"/>
              <a:tailEnd type="triangle" w="lg" len="lg"/>
            </a:ln>
          </p:spPr>
        </p:sp>
      </p:grpSp>
      <p:grpSp>
        <p:nvGrpSpPr>
          <p:cNvPr id="48" name="footer"/>
          <p:cNvGrpSpPr/>
          <p:nvPr/>
        </p:nvGrpSpPr>
        <p:grpSpPr>
          <a:xfrm>
            <a:off x="603504" y="6400800"/>
            <a:ext cx="10984992" cy="348996"/>
            <a:chOff x="603504" y="6400800"/>
            <a:chExt cx="10984992" cy="348996"/>
          </a:xfrm>
        </p:grpSpPr>
        <p:sp>
          <p:nvSpPr>
            <p:cNvPr id="45" name="Line 45"/>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46" name="TextBox 46"/>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47" name="TextBox 47"/>
            <p:cNvSpPr txBox="1"/>
            <p:nvPr/>
          </p:nvSpPr>
          <p:spPr>
            <a:xfrm>
              <a:off x="10943521" y="6515100"/>
              <a:ext cx="644975"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4 / 12</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7679682" cy="1127379"/>
            <a:chOff x="596646" y="381000"/>
            <a:chExt cx="7679682" cy="112737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609600"/>
              <a:ext cx="9369212" cy="898779"/>
            </a:xfrm>
            <a:prstGeom prst="rect">
              <a:avLst/>
            </a:prstGeom>
            <a:noFill/>
            <a:ln>
              <a:noFill/>
            </a:ln>
          </p:spPr>
          <p:txBody>
            <a:bodyPr wrap="square" lIns="0" tIns="0" rIns="0" bIns="0" anchor="t" anchorCtr="0">
              <a:spAutoFit/>
            </a:bodyPr>
            <a:lstStyle/>
            <a:p>
              <a:pPr algn="l">
                <a:lnSpc>
                  <a:spcPts val="3150"/>
                </a:lnSpc>
              </a:pPr>
              <a:r>
                <a:rPr lang="ru" sz="2550" b="1" dirty="0">
                  <a:solidFill>
                    <a:srgbClr val="17212B"/>
                  </a:solidFill>
                  <a:latin typeface="+mn-lt"/>
                  <a:ea typeface="+mn-ea"/>
                  <a:cs typeface="+mn-cs"/>
                </a:rPr>
                <a:t>Данные устройств образуют непрерывный поток</a:t>
              </a:r>
              <a:br>
                <a:rPr lang="ru" sz="2550" b="1" dirty="0">
                  <a:solidFill>
                    <a:srgbClr val="17212B"/>
                  </a:solidFill>
                  <a:latin typeface="+mn-lt"/>
                  <a:ea typeface="+mn-ea"/>
                  <a:cs typeface="+mn-cs"/>
                </a:rPr>
              </a:br>
              <a:r>
                <a:rPr lang="ru" sz="2550" b="1" dirty="0">
                  <a:solidFill>
                    <a:srgbClr val="17212B"/>
                  </a:solidFill>
                  <a:latin typeface="+mn-lt"/>
                  <a:ea typeface="+mn-ea"/>
                  <a:cs typeface="+mn-cs"/>
                </a:rPr>
                <a:t>без заранее известного конца</a:t>
              </a:r>
            </a:p>
          </p:txBody>
        </p:sp>
      </p:grpSp>
      <p:grpSp>
        <p:nvGrpSpPr>
          <p:cNvPr id="81" name="event-lanes"/>
          <p:cNvGrpSpPr/>
          <p:nvPr/>
        </p:nvGrpSpPr>
        <p:grpSpPr>
          <a:xfrm>
            <a:off x="603504" y="1714500"/>
            <a:ext cx="10889742" cy="2292096"/>
            <a:chOff x="603504" y="1714500"/>
            <a:chExt cx="10889742" cy="2292096"/>
          </a:xfrm>
        </p:grpSpPr>
        <p:sp>
          <p:nvSpPr>
            <p:cNvPr id="5" name="TextBox 5"/>
            <p:cNvSpPr txBox="1"/>
            <p:nvPr/>
          </p:nvSpPr>
          <p:spPr>
            <a:xfrm>
              <a:off x="8604222" y="1714500"/>
              <a:ext cx="2889024"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нет заранее известного конца</a:t>
              </a:r>
            </a:p>
          </p:txBody>
        </p:sp>
        <p:grpSp>
          <p:nvGrpSpPr>
            <p:cNvPr id="9" name="lane-labels"/>
            <p:cNvGrpSpPr/>
            <p:nvPr/>
          </p:nvGrpSpPr>
          <p:grpSpPr>
            <a:xfrm>
              <a:off x="603504" y="2019300"/>
              <a:ext cx="713221" cy="1720596"/>
              <a:chOff x="603504" y="2019300"/>
              <a:chExt cx="713221" cy="1720596"/>
            </a:xfrm>
          </p:grpSpPr>
          <p:sp>
            <p:nvSpPr>
              <p:cNvPr id="6" name="TextBox 6"/>
              <p:cNvSpPr txBox="1"/>
              <p:nvPr/>
            </p:nvSpPr>
            <p:spPr>
              <a:xfrm>
                <a:off x="603504" y="2019300"/>
                <a:ext cx="941821" cy="234696"/>
              </a:xfrm>
              <a:prstGeom prst="rect">
                <a:avLst/>
              </a:prstGeom>
              <a:noFill/>
              <a:ln>
                <a:noFill/>
              </a:ln>
            </p:spPr>
            <p:txBody>
              <a:bodyPr wrap="square" lIns="0" tIns="0" rIns="0" bIns="0" anchor="t" anchorCtr="0">
                <a:spAutoFit/>
              </a:bodyPr>
              <a:lstStyle/>
              <a:p>
                <a:pPr algn="l"/>
                <a:r>
                  <a:rPr lang="ru" sz="1200" b="1" dirty="0">
                    <a:solidFill>
                      <a:srgbClr val="4A5663"/>
                    </a:solidFill>
                    <a:latin typeface="+mn-lt"/>
                    <a:ea typeface="+mn-ea"/>
                    <a:cs typeface="+mn-cs"/>
                  </a:rPr>
                  <a:t>Датчик 1</a:t>
                </a:r>
              </a:p>
            </p:txBody>
          </p:sp>
          <p:sp>
            <p:nvSpPr>
              <p:cNvPr id="7" name="TextBox 7"/>
              <p:cNvSpPr txBox="1"/>
              <p:nvPr/>
            </p:nvSpPr>
            <p:spPr>
              <a:xfrm>
                <a:off x="603504" y="2762250"/>
                <a:ext cx="941821" cy="234696"/>
              </a:xfrm>
              <a:prstGeom prst="rect">
                <a:avLst/>
              </a:prstGeom>
              <a:noFill/>
              <a:ln>
                <a:noFill/>
              </a:ln>
            </p:spPr>
            <p:txBody>
              <a:bodyPr wrap="square" lIns="0" tIns="0" rIns="0" bIns="0" anchor="t" anchorCtr="0">
                <a:spAutoFit/>
              </a:bodyPr>
              <a:lstStyle/>
              <a:p>
                <a:pPr algn="l"/>
                <a:r>
                  <a:rPr lang="ru" sz="1200" b="1" dirty="0">
                    <a:solidFill>
                      <a:srgbClr val="4A5663"/>
                    </a:solidFill>
                    <a:latin typeface="+mn-lt"/>
                    <a:ea typeface="+mn-ea"/>
                    <a:cs typeface="+mn-cs"/>
                  </a:rPr>
                  <a:t>Датчик 2</a:t>
                </a:r>
              </a:p>
            </p:txBody>
          </p:sp>
          <p:sp>
            <p:nvSpPr>
              <p:cNvPr id="8" name="TextBox 8"/>
              <p:cNvSpPr txBox="1"/>
              <p:nvPr/>
            </p:nvSpPr>
            <p:spPr>
              <a:xfrm>
                <a:off x="603504" y="3505200"/>
                <a:ext cx="941821" cy="234696"/>
              </a:xfrm>
              <a:prstGeom prst="rect">
                <a:avLst/>
              </a:prstGeom>
              <a:noFill/>
              <a:ln>
                <a:noFill/>
              </a:ln>
            </p:spPr>
            <p:txBody>
              <a:bodyPr wrap="square" lIns="0" tIns="0" rIns="0" bIns="0" anchor="t" anchorCtr="0">
                <a:spAutoFit/>
              </a:bodyPr>
              <a:lstStyle/>
              <a:p>
                <a:pPr algn="l"/>
                <a:r>
                  <a:rPr lang="ru" sz="1200" b="1" dirty="0">
                    <a:solidFill>
                      <a:srgbClr val="4A5663"/>
                    </a:solidFill>
                    <a:latin typeface="+mn-lt"/>
                    <a:ea typeface="+mn-ea"/>
                    <a:cs typeface="+mn-cs"/>
                  </a:rPr>
                  <a:t>Датчик 3</a:t>
                </a:r>
              </a:p>
            </p:txBody>
          </p:sp>
        </p:grpSp>
        <p:grpSp>
          <p:nvGrpSpPr>
            <p:cNvPr id="14" name="lane-lines"/>
            <p:cNvGrpSpPr/>
            <p:nvPr/>
          </p:nvGrpSpPr>
          <p:grpSpPr>
            <a:xfrm>
              <a:off x="1714500" y="2114550"/>
              <a:ext cx="9772650" cy="1485901"/>
              <a:chOff x="1714500" y="2114550"/>
              <a:chExt cx="9772650" cy="1485901"/>
            </a:xfrm>
          </p:grpSpPr>
          <p:sp>
            <p:nvSpPr>
              <p:cNvPr id="10" name="Line 10"/>
              <p:cNvSpPr/>
              <p:nvPr/>
            </p:nvSpPr>
            <p:spPr>
              <a:xfrm>
                <a:off x="1714500" y="2114550"/>
                <a:ext cx="9772650" cy="1"/>
              </a:xfrm>
              <a:prstGeom prst="line">
                <a:avLst/>
              </a:prstGeom>
              <a:noFill/>
              <a:ln w="19050">
                <a:solidFill>
                  <a:srgbClr val="4A5663"/>
                </a:solidFill>
                <a:tailEnd type="triangle" w="lg" len="lg"/>
              </a:ln>
            </p:spPr>
          </p:sp>
          <p:sp>
            <p:nvSpPr>
              <p:cNvPr id="11" name="Line 11"/>
              <p:cNvSpPr/>
              <p:nvPr/>
            </p:nvSpPr>
            <p:spPr>
              <a:xfrm>
                <a:off x="1714500" y="2857500"/>
                <a:ext cx="2781300" cy="9525"/>
              </a:xfrm>
              <a:custGeom>
                <a:avLst/>
                <a:gdLst/>
                <a:ahLst/>
                <a:cxnLst/>
                <a:rect l="l" t="t" r="r" b="b"/>
                <a:pathLst>
                  <a:path w="2781300" h="9525">
                    <a:moveTo>
                      <a:pt x="0" y="0"/>
                    </a:moveTo>
                    <a:lnTo>
                      <a:pt x="2781300" y="0"/>
                    </a:lnTo>
                  </a:path>
                </a:pathLst>
              </a:custGeom>
              <a:noFill/>
              <a:ln w="19050">
                <a:solidFill>
                  <a:srgbClr val="4A5663"/>
                </a:solidFill>
              </a:ln>
            </p:spPr>
          </p:sp>
          <p:sp>
            <p:nvSpPr>
              <p:cNvPr id="12" name="Line 12"/>
              <p:cNvSpPr/>
              <p:nvPr/>
            </p:nvSpPr>
            <p:spPr>
              <a:xfrm>
                <a:off x="7391400" y="2857500"/>
                <a:ext cx="4095750" cy="1"/>
              </a:xfrm>
              <a:prstGeom prst="line">
                <a:avLst/>
              </a:prstGeom>
              <a:noFill/>
              <a:ln w="19050">
                <a:solidFill>
                  <a:srgbClr val="4A5663"/>
                </a:solidFill>
                <a:tailEnd type="triangle" w="lg" len="lg"/>
              </a:ln>
            </p:spPr>
          </p:sp>
          <p:sp>
            <p:nvSpPr>
              <p:cNvPr id="13" name="Line 13"/>
              <p:cNvSpPr/>
              <p:nvPr/>
            </p:nvSpPr>
            <p:spPr>
              <a:xfrm>
                <a:off x="1714500" y="3600450"/>
                <a:ext cx="9772650" cy="1"/>
              </a:xfrm>
              <a:prstGeom prst="line">
                <a:avLst/>
              </a:prstGeom>
              <a:noFill/>
              <a:ln w="19050">
                <a:solidFill>
                  <a:srgbClr val="4A5663"/>
                </a:solidFill>
                <a:tailEnd type="triangle" w="lg" len="lg"/>
              </a:ln>
            </p:spPr>
          </p:sp>
        </p:grpSp>
        <p:sp>
          <p:nvSpPr>
            <p:cNvPr id="15" name="Line 15"/>
            <p:cNvSpPr/>
            <p:nvPr/>
          </p:nvSpPr>
          <p:spPr>
            <a:xfrm>
              <a:off x="4572000" y="2857500"/>
              <a:ext cx="2743200" cy="9525"/>
            </a:xfrm>
            <a:custGeom>
              <a:avLst/>
              <a:gdLst/>
              <a:ahLst/>
              <a:cxnLst/>
              <a:rect l="l" t="t" r="r" b="b"/>
              <a:pathLst>
                <a:path w="2743200" h="9525">
                  <a:moveTo>
                    <a:pt x="0" y="0"/>
                  </a:moveTo>
                  <a:lnTo>
                    <a:pt x="2743200" y="0"/>
                  </a:lnTo>
                </a:path>
              </a:pathLst>
            </a:custGeom>
            <a:noFill/>
            <a:ln w="19050">
              <a:solidFill>
                <a:srgbClr val="B35A12"/>
              </a:solidFill>
              <a:custDash>
                <a:ds d="300000" sp="300000"/>
              </a:custDash>
            </a:ln>
          </p:spPr>
        </p:sp>
        <p:sp>
          <p:nvSpPr>
            <p:cNvPr id="16" name="TextBox 16"/>
            <p:cNvSpPr txBox="1"/>
            <p:nvPr/>
          </p:nvSpPr>
          <p:spPr>
            <a:xfrm>
              <a:off x="5445369" y="2571750"/>
              <a:ext cx="996463" cy="234696"/>
            </a:xfrm>
            <a:prstGeom prst="rect">
              <a:avLst/>
            </a:prstGeom>
            <a:noFill/>
            <a:ln>
              <a:noFill/>
            </a:ln>
          </p:spPr>
          <p:txBody>
            <a:bodyPr wrap="square" lIns="0" tIns="0" rIns="0" bIns="0" anchor="t" anchorCtr="0">
              <a:spAutoFit/>
            </a:bodyPr>
            <a:lstStyle/>
            <a:p>
              <a:pPr algn="ctr"/>
              <a:r>
                <a:rPr lang="ru" sz="1200" dirty="0">
                  <a:solidFill>
                    <a:srgbClr val="B35A12"/>
                  </a:solidFill>
                  <a:latin typeface="+mn-lt"/>
                  <a:ea typeface="+mn-ea"/>
                  <a:cs typeface="+mn-cs"/>
                </a:rPr>
                <a:t>нет связи</a:t>
              </a:r>
            </a:p>
          </p:txBody>
        </p:sp>
        <p:grpSp>
          <p:nvGrpSpPr>
            <p:cNvPr id="34" name="lane-1-events"/>
            <p:cNvGrpSpPr/>
            <p:nvPr/>
          </p:nvGrpSpPr>
          <p:grpSpPr>
            <a:xfrm>
              <a:off x="1933575" y="2047875"/>
              <a:ext cx="9277350" cy="133350"/>
              <a:chOff x="1933575" y="2047875"/>
              <a:chExt cx="9277350" cy="133350"/>
            </a:xfrm>
          </p:grpSpPr>
          <p:sp>
            <p:nvSpPr>
              <p:cNvPr id="17" name="Ellipse 17"/>
              <p:cNvSpPr/>
              <p:nvPr/>
            </p:nvSpPr>
            <p:spPr>
              <a:xfrm>
                <a:off x="1933575" y="2047875"/>
                <a:ext cx="133350" cy="133350"/>
              </a:xfrm>
              <a:prstGeom prst="ellipse">
                <a:avLst/>
              </a:prstGeom>
              <a:solidFill>
                <a:srgbClr val="0E6680"/>
              </a:solidFill>
              <a:ln>
                <a:noFill/>
              </a:ln>
            </p:spPr>
          </p:sp>
          <p:sp>
            <p:nvSpPr>
              <p:cNvPr id="18" name="Ellipse 18"/>
              <p:cNvSpPr/>
              <p:nvPr/>
            </p:nvSpPr>
            <p:spPr>
              <a:xfrm>
                <a:off x="2505075" y="2047875"/>
                <a:ext cx="133350" cy="133350"/>
              </a:xfrm>
              <a:prstGeom prst="ellipse">
                <a:avLst/>
              </a:prstGeom>
              <a:solidFill>
                <a:srgbClr val="0E6680"/>
              </a:solidFill>
              <a:ln>
                <a:noFill/>
              </a:ln>
            </p:spPr>
          </p:sp>
          <p:sp>
            <p:nvSpPr>
              <p:cNvPr id="19" name="Ellipse 19"/>
              <p:cNvSpPr/>
              <p:nvPr/>
            </p:nvSpPr>
            <p:spPr>
              <a:xfrm>
                <a:off x="3076575" y="2047875"/>
                <a:ext cx="133350" cy="133350"/>
              </a:xfrm>
              <a:prstGeom prst="ellipse">
                <a:avLst/>
              </a:prstGeom>
              <a:solidFill>
                <a:srgbClr val="0E6680"/>
              </a:solidFill>
              <a:ln>
                <a:noFill/>
              </a:ln>
            </p:spPr>
          </p:sp>
          <p:sp>
            <p:nvSpPr>
              <p:cNvPr id="20" name="Ellipse 20"/>
              <p:cNvSpPr/>
              <p:nvPr/>
            </p:nvSpPr>
            <p:spPr>
              <a:xfrm>
                <a:off x="3648075" y="2047875"/>
                <a:ext cx="133350" cy="133350"/>
              </a:xfrm>
              <a:prstGeom prst="ellipse">
                <a:avLst/>
              </a:prstGeom>
              <a:solidFill>
                <a:srgbClr val="0E6680"/>
              </a:solidFill>
              <a:ln>
                <a:noFill/>
              </a:ln>
            </p:spPr>
          </p:sp>
          <p:sp>
            <p:nvSpPr>
              <p:cNvPr id="21" name="Ellipse 21"/>
              <p:cNvSpPr/>
              <p:nvPr/>
            </p:nvSpPr>
            <p:spPr>
              <a:xfrm>
                <a:off x="4219575" y="2047875"/>
                <a:ext cx="133350" cy="133350"/>
              </a:xfrm>
              <a:prstGeom prst="ellipse">
                <a:avLst/>
              </a:prstGeom>
              <a:solidFill>
                <a:srgbClr val="0E6680"/>
              </a:solidFill>
              <a:ln>
                <a:noFill/>
              </a:ln>
            </p:spPr>
          </p:sp>
          <p:sp>
            <p:nvSpPr>
              <p:cNvPr id="22" name="Ellipse 22"/>
              <p:cNvSpPr/>
              <p:nvPr/>
            </p:nvSpPr>
            <p:spPr>
              <a:xfrm>
                <a:off x="4791075" y="2047875"/>
                <a:ext cx="133350" cy="133350"/>
              </a:xfrm>
              <a:prstGeom prst="ellipse">
                <a:avLst/>
              </a:prstGeom>
              <a:solidFill>
                <a:srgbClr val="0E6680"/>
              </a:solidFill>
              <a:ln>
                <a:noFill/>
              </a:ln>
            </p:spPr>
          </p:sp>
          <p:sp>
            <p:nvSpPr>
              <p:cNvPr id="23" name="Ellipse 23"/>
              <p:cNvSpPr/>
              <p:nvPr/>
            </p:nvSpPr>
            <p:spPr>
              <a:xfrm>
                <a:off x="5362575" y="2047875"/>
                <a:ext cx="133350" cy="133350"/>
              </a:xfrm>
              <a:prstGeom prst="ellipse">
                <a:avLst/>
              </a:prstGeom>
              <a:solidFill>
                <a:srgbClr val="0E6680"/>
              </a:solidFill>
              <a:ln>
                <a:noFill/>
              </a:ln>
            </p:spPr>
          </p:sp>
          <p:sp>
            <p:nvSpPr>
              <p:cNvPr id="24" name="Ellipse 24"/>
              <p:cNvSpPr/>
              <p:nvPr/>
            </p:nvSpPr>
            <p:spPr>
              <a:xfrm>
                <a:off x="5934075" y="2047875"/>
                <a:ext cx="133350" cy="133350"/>
              </a:xfrm>
              <a:prstGeom prst="ellipse">
                <a:avLst/>
              </a:prstGeom>
              <a:solidFill>
                <a:srgbClr val="0E6680"/>
              </a:solidFill>
              <a:ln>
                <a:noFill/>
              </a:ln>
            </p:spPr>
          </p:sp>
          <p:sp>
            <p:nvSpPr>
              <p:cNvPr id="25" name="Ellipse 25"/>
              <p:cNvSpPr/>
              <p:nvPr/>
            </p:nvSpPr>
            <p:spPr>
              <a:xfrm>
                <a:off x="6505575" y="2047875"/>
                <a:ext cx="133350" cy="133350"/>
              </a:xfrm>
              <a:prstGeom prst="ellipse">
                <a:avLst/>
              </a:prstGeom>
              <a:solidFill>
                <a:srgbClr val="0E6680"/>
              </a:solidFill>
              <a:ln>
                <a:noFill/>
              </a:ln>
            </p:spPr>
          </p:sp>
          <p:sp>
            <p:nvSpPr>
              <p:cNvPr id="26" name="Ellipse 26"/>
              <p:cNvSpPr/>
              <p:nvPr/>
            </p:nvSpPr>
            <p:spPr>
              <a:xfrm>
                <a:off x="7077075" y="2047875"/>
                <a:ext cx="133350" cy="133350"/>
              </a:xfrm>
              <a:prstGeom prst="ellipse">
                <a:avLst/>
              </a:prstGeom>
              <a:solidFill>
                <a:srgbClr val="0E6680"/>
              </a:solidFill>
              <a:ln>
                <a:noFill/>
              </a:ln>
            </p:spPr>
          </p:sp>
          <p:sp>
            <p:nvSpPr>
              <p:cNvPr id="27" name="Ellipse 27"/>
              <p:cNvSpPr/>
              <p:nvPr/>
            </p:nvSpPr>
            <p:spPr>
              <a:xfrm>
                <a:off x="7648575" y="2047875"/>
                <a:ext cx="133350" cy="133350"/>
              </a:xfrm>
              <a:prstGeom prst="ellipse">
                <a:avLst/>
              </a:prstGeom>
              <a:solidFill>
                <a:srgbClr val="0E6680"/>
              </a:solidFill>
              <a:ln>
                <a:noFill/>
              </a:ln>
            </p:spPr>
          </p:sp>
          <p:sp>
            <p:nvSpPr>
              <p:cNvPr id="28" name="Ellipse 28"/>
              <p:cNvSpPr/>
              <p:nvPr/>
            </p:nvSpPr>
            <p:spPr>
              <a:xfrm>
                <a:off x="8220075" y="2047875"/>
                <a:ext cx="133350" cy="133350"/>
              </a:xfrm>
              <a:prstGeom prst="ellipse">
                <a:avLst/>
              </a:prstGeom>
              <a:solidFill>
                <a:srgbClr val="0E6680"/>
              </a:solidFill>
              <a:ln>
                <a:noFill/>
              </a:ln>
            </p:spPr>
          </p:sp>
          <p:sp>
            <p:nvSpPr>
              <p:cNvPr id="29" name="Ellipse 29"/>
              <p:cNvSpPr/>
              <p:nvPr/>
            </p:nvSpPr>
            <p:spPr>
              <a:xfrm>
                <a:off x="8791575" y="2047875"/>
                <a:ext cx="133350" cy="133350"/>
              </a:xfrm>
              <a:prstGeom prst="ellipse">
                <a:avLst/>
              </a:prstGeom>
              <a:solidFill>
                <a:srgbClr val="0E6680"/>
              </a:solidFill>
              <a:ln>
                <a:noFill/>
              </a:ln>
            </p:spPr>
          </p:sp>
          <p:sp>
            <p:nvSpPr>
              <p:cNvPr id="30" name="Ellipse 30"/>
              <p:cNvSpPr/>
              <p:nvPr/>
            </p:nvSpPr>
            <p:spPr>
              <a:xfrm>
                <a:off x="9363075" y="2047875"/>
                <a:ext cx="133350" cy="133350"/>
              </a:xfrm>
              <a:prstGeom prst="ellipse">
                <a:avLst/>
              </a:prstGeom>
              <a:solidFill>
                <a:srgbClr val="0E6680"/>
              </a:solidFill>
              <a:ln>
                <a:noFill/>
              </a:ln>
            </p:spPr>
          </p:sp>
          <p:sp>
            <p:nvSpPr>
              <p:cNvPr id="31" name="Ellipse 31"/>
              <p:cNvSpPr/>
              <p:nvPr/>
            </p:nvSpPr>
            <p:spPr>
              <a:xfrm>
                <a:off x="9934575" y="2047875"/>
                <a:ext cx="133350" cy="133350"/>
              </a:xfrm>
              <a:prstGeom prst="ellipse">
                <a:avLst/>
              </a:prstGeom>
              <a:solidFill>
                <a:srgbClr val="0E6680"/>
              </a:solidFill>
              <a:ln>
                <a:noFill/>
              </a:ln>
            </p:spPr>
          </p:sp>
          <p:sp>
            <p:nvSpPr>
              <p:cNvPr id="32" name="Ellipse 32"/>
              <p:cNvSpPr/>
              <p:nvPr/>
            </p:nvSpPr>
            <p:spPr>
              <a:xfrm>
                <a:off x="10506075" y="2047875"/>
                <a:ext cx="133350" cy="133350"/>
              </a:xfrm>
              <a:prstGeom prst="ellipse">
                <a:avLst/>
              </a:prstGeom>
              <a:solidFill>
                <a:srgbClr val="0E6680"/>
              </a:solidFill>
              <a:ln>
                <a:noFill/>
              </a:ln>
            </p:spPr>
          </p:sp>
          <p:sp>
            <p:nvSpPr>
              <p:cNvPr id="33" name="Ellipse 33"/>
              <p:cNvSpPr/>
              <p:nvPr/>
            </p:nvSpPr>
            <p:spPr>
              <a:xfrm>
                <a:off x="11077575" y="2047875"/>
                <a:ext cx="133350" cy="133350"/>
              </a:xfrm>
              <a:prstGeom prst="ellipse">
                <a:avLst/>
              </a:prstGeom>
              <a:solidFill>
                <a:srgbClr val="0E6680"/>
              </a:solidFill>
              <a:ln>
                <a:noFill/>
              </a:ln>
            </p:spPr>
          </p:sp>
        </p:grpSp>
        <p:grpSp>
          <p:nvGrpSpPr>
            <p:cNvPr id="44" name="lane-2-events"/>
            <p:cNvGrpSpPr/>
            <p:nvPr/>
          </p:nvGrpSpPr>
          <p:grpSpPr>
            <a:xfrm>
              <a:off x="2028825" y="2790825"/>
              <a:ext cx="9182100" cy="133350"/>
              <a:chOff x="2028825" y="2790825"/>
              <a:chExt cx="9182100" cy="133350"/>
            </a:xfrm>
          </p:grpSpPr>
          <p:sp>
            <p:nvSpPr>
              <p:cNvPr id="35" name="Ellipse 35"/>
              <p:cNvSpPr/>
              <p:nvPr/>
            </p:nvSpPr>
            <p:spPr>
              <a:xfrm>
                <a:off x="2028825" y="2790825"/>
                <a:ext cx="133350" cy="133350"/>
              </a:xfrm>
              <a:prstGeom prst="ellipse">
                <a:avLst/>
              </a:prstGeom>
              <a:solidFill>
                <a:srgbClr val="0E6680"/>
              </a:solidFill>
              <a:ln>
                <a:noFill/>
              </a:ln>
            </p:spPr>
          </p:sp>
          <p:sp>
            <p:nvSpPr>
              <p:cNvPr id="36" name="Ellipse 36"/>
              <p:cNvSpPr/>
              <p:nvPr/>
            </p:nvSpPr>
            <p:spPr>
              <a:xfrm>
                <a:off x="2695575" y="2790825"/>
                <a:ext cx="133350" cy="133350"/>
              </a:xfrm>
              <a:prstGeom prst="ellipse">
                <a:avLst/>
              </a:prstGeom>
              <a:solidFill>
                <a:srgbClr val="0E6680"/>
              </a:solidFill>
              <a:ln>
                <a:noFill/>
              </a:ln>
            </p:spPr>
          </p:sp>
          <p:sp>
            <p:nvSpPr>
              <p:cNvPr id="37" name="Ellipse 37"/>
              <p:cNvSpPr/>
              <p:nvPr/>
            </p:nvSpPr>
            <p:spPr>
              <a:xfrm>
                <a:off x="3362325" y="2790825"/>
                <a:ext cx="133350" cy="133350"/>
              </a:xfrm>
              <a:prstGeom prst="ellipse">
                <a:avLst/>
              </a:prstGeom>
              <a:solidFill>
                <a:srgbClr val="0E6680"/>
              </a:solidFill>
              <a:ln>
                <a:noFill/>
              </a:ln>
            </p:spPr>
          </p:sp>
          <p:sp>
            <p:nvSpPr>
              <p:cNvPr id="38" name="Ellipse 38"/>
              <p:cNvSpPr/>
              <p:nvPr/>
            </p:nvSpPr>
            <p:spPr>
              <a:xfrm>
                <a:off x="4029075" y="2790825"/>
                <a:ext cx="133350" cy="133350"/>
              </a:xfrm>
              <a:prstGeom prst="ellipse">
                <a:avLst/>
              </a:prstGeom>
              <a:solidFill>
                <a:srgbClr val="0E6680"/>
              </a:solidFill>
              <a:ln>
                <a:noFill/>
              </a:ln>
            </p:spPr>
          </p:sp>
          <p:sp>
            <p:nvSpPr>
              <p:cNvPr id="39" name="Ellipse 39"/>
              <p:cNvSpPr/>
              <p:nvPr/>
            </p:nvSpPr>
            <p:spPr>
              <a:xfrm>
                <a:off x="8505825" y="2790825"/>
                <a:ext cx="133350" cy="133350"/>
              </a:xfrm>
              <a:prstGeom prst="ellipse">
                <a:avLst/>
              </a:prstGeom>
              <a:solidFill>
                <a:srgbClr val="0E6680"/>
              </a:solidFill>
              <a:ln>
                <a:noFill/>
              </a:ln>
            </p:spPr>
          </p:sp>
          <p:sp>
            <p:nvSpPr>
              <p:cNvPr id="40" name="Ellipse 40"/>
              <p:cNvSpPr/>
              <p:nvPr/>
            </p:nvSpPr>
            <p:spPr>
              <a:xfrm>
                <a:off x="9172575" y="2790825"/>
                <a:ext cx="133350" cy="133350"/>
              </a:xfrm>
              <a:prstGeom prst="ellipse">
                <a:avLst/>
              </a:prstGeom>
              <a:solidFill>
                <a:srgbClr val="0E6680"/>
              </a:solidFill>
              <a:ln>
                <a:noFill/>
              </a:ln>
            </p:spPr>
          </p:sp>
          <p:sp>
            <p:nvSpPr>
              <p:cNvPr id="41" name="Ellipse 41"/>
              <p:cNvSpPr/>
              <p:nvPr/>
            </p:nvSpPr>
            <p:spPr>
              <a:xfrm>
                <a:off x="9839325" y="2790825"/>
                <a:ext cx="133350" cy="133350"/>
              </a:xfrm>
              <a:prstGeom prst="ellipse">
                <a:avLst/>
              </a:prstGeom>
              <a:solidFill>
                <a:srgbClr val="0E6680"/>
              </a:solidFill>
              <a:ln>
                <a:noFill/>
              </a:ln>
            </p:spPr>
          </p:sp>
          <p:sp>
            <p:nvSpPr>
              <p:cNvPr id="42" name="Ellipse 42"/>
              <p:cNvSpPr/>
              <p:nvPr/>
            </p:nvSpPr>
            <p:spPr>
              <a:xfrm>
                <a:off x="10506075" y="2790825"/>
                <a:ext cx="133350" cy="133350"/>
              </a:xfrm>
              <a:prstGeom prst="ellipse">
                <a:avLst/>
              </a:prstGeom>
              <a:solidFill>
                <a:srgbClr val="0E6680"/>
              </a:solidFill>
              <a:ln>
                <a:noFill/>
              </a:ln>
            </p:spPr>
          </p:sp>
          <p:sp>
            <p:nvSpPr>
              <p:cNvPr id="43" name="Ellipse 43"/>
              <p:cNvSpPr/>
              <p:nvPr/>
            </p:nvSpPr>
            <p:spPr>
              <a:xfrm>
                <a:off x="11077575" y="2790825"/>
                <a:ext cx="133350" cy="133350"/>
              </a:xfrm>
              <a:prstGeom prst="ellipse">
                <a:avLst/>
              </a:prstGeom>
              <a:solidFill>
                <a:srgbClr val="0E6680"/>
              </a:solidFill>
              <a:ln>
                <a:noFill/>
              </a:ln>
            </p:spPr>
          </p:sp>
        </p:grpSp>
        <p:grpSp>
          <p:nvGrpSpPr>
            <p:cNvPr id="49" name="lane-2-late"/>
            <p:cNvGrpSpPr/>
            <p:nvPr/>
          </p:nvGrpSpPr>
          <p:grpSpPr>
            <a:xfrm>
              <a:off x="7419975" y="2790825"/>
              <a:ext cx="647700" cy="133350"/>
              <a:chOff x="7419975" y="2790825"/>
              <a:chExt cx="647700" cy="133350"/>
            </a:xfrm>
          </p:grpSpPr>
          <p:sp>
            <p:nvSpPr>
              <p:cNvPr id="45" name="Ellipse 45"/>
              <p:cNvSpPr/>
              <p:nvPr/>
            </p:nvSpPr>
            <p:spPr>
              <a:xfrm>
                <a:off x="7419975" y="2790825"/>
                <a:ext cx="133350" cy="133350"/>
              </a:xfrm>
              <a:prstGeom prst="ellipse">
                <a:avLst/>
              </a:prstGeom>
              <a:solidFill>
                <a:srgbClr val="B35A12"/>
              </a:solidFill>
              <a:ln>
                <a:noFill/>
              </a:ln>
            </p:spPr>
          </p:sp>
          <p:sp>
            <p:nvSpPr>
              <p:cNvPr id="46" name="Ellipse 46"/>
              <p:cNvSpPr/>
              <p:nvPr/>
            </p:nvSpPr>
            <p:spPr>
              <a:xfrm>
                <a:off x="7591425" y="2790825"/>
                <a:ext cx="133350" cy="133350"/>
              </a:xfrm>
              <a:prstGeom prst="ellipse">
                <a:avLst/>
              </a:prstGeom>
              <a:solidFill>
                <a:srgbClr val="B35A12"/>
              </a:solidFill>
              <a:ln>
                <a:noFill/>
              </a:ln>
            </p:spPr>
          </p:sp>
          <p:sp>
            <p:nvSpPr>
              <p:cNvPr id="47" name="Ellipse 47"/>
              <p:cNvSpPr/>
              <p:nvPr/>
            </p:nvSpPr>
            <p:spPr>
              <a:xfrm>
                <a:off x="7762875" y="2790825"/>
                <a:ext cx="133350" cy="133350"/>
              </a:xfrm>
              <a:prstGeom prst="ellipse">
                <a:avLst/>
              </a:prstGeom>
              <a:solidFill>
                <a:srgbClr val="B35A12"/>
              </a:solidFill>
              <a:ln>
                <a:noFill/>
              </a:ln>
            </p:spPr>
          </p:sp>
          <p:sp>
            <p:nvSpPr>
              <p:cNvPr id="48" name="Ellipse 48"/>
              <p:cNvSpPr/>
              <p:nvPr/>
            </p:nvSpPr>
            <p:spPr>
              <a:xfrm>
                <a:off x="7934325" y="2790825"/>
                <a:ext cx="133350" cy="133350"/>
              </a:xfrm>
              <a:prstGeom prst="ellipse">
                <a:avLst/>
              </a:prstGeom>
              <a:solidFill>
                <a:srgbClr val="B35A12"/>
              </a:solidFill>
              <a:ln>
                <a:noFill/>
              </a:ln>
            </p:spPr>
          </p:sp>
        </p:grpSp>
        <p:sp>
          <p:nvSpPr>
            <p:cNvPr id="50" name="TextBox 50"/>
            <p:cNvSpPr txBox="1"/>
            <p:nvPr/>
          </p:nvSpPr>
          <p:spPr>
            <a:xfrm>
              <a:off x="7385304" y="3009900"/>
              <a:ext cx="3214212" cy="234696"/>
            </a:xfrm>
            <a:prstGeom prst="rect">
              <a:avLst/>
            </a:prstGeom>
            <a:noFill/>
            <a:ln>
              <a:noFill/>
            </a:ln>
          </p:spPr>
          <p:txBody>
            <a:bodyPr wrap="square" lIns="0" tIns="0" rIns="0" bIns="0" anchor="t" anchorCtr="0">
              <a:spAutoFit/>
            </a:bodyPr>
            <a:lstStyle/>
            <a:p>
              <a:pPr algn="l"/>
              <a:r>
                <a:rPr lang="ru" sz="1200" dirty="0">
                  <a:solidFill>
                    <a:srgbClr val="B35A12"/>
                  </a:solidFill>
                  <a:latin typeface="+mn-lt"/>
                  <a:ea typeface="+mn-ea"/>
                  <a:cs typeface="+mn-cs"/>
                </a:rPr>
                <a:t>накопленные записи пришли позже</a:t>
              </a:r>
            </a:p>
          </p:txBody>
        </p:sp>
        <p:grpSp>
          <p:nvGrpSpPr>
            <p:cNvPr id="79" name="lane-3-events"/>
            <p:cNvGrpSpPr/>
            <p:nvPr/>
          </p:nvGrpSpPr>
          <p:grpSpPr>
            <a:xfrm>
              <a:off x="1809750" y="3543300"/>
              <a:ext cx="9296400" cy="114300"/>
              <a:chOff x="1809750" y="3543300"/>
              <a:chExt cx="9296400" cy="114300"/>
            </a:xfrm>
          </p:grpSpPr>
          <p:sp>
            <p:nvSpPr>
              <p:cNvPr id="51" name="Ellipse 51"/>
              <p:cNvSpPr/>
              <p:nvPr/>
            </p:nvSpPr>
            <p:spPr>
              <a:xfrm>
                <a:off x="1809750" y="3543300"/>
                <a:ext cx="114300" cy="114300"/>
              </a:xfrm>
              <a:prstGeom prst="ellipse">
                <a:avLst/>
              </a:prstGeom>
              <a:solidFill>
                <a:srgbClr val="0E6680"/>
              </a:solidFill>
              <a:ln>
                <a:noFill/>
              </a:ln>
            </p:spPr>
          </p:sp>
          <p:sp>
            <p:nvSpPr>
              <p:cNvPr id="52" name="Ellipse 52"/>
              <p:cNvSpPr/>
              <p:nvPr/>
            </p:nvSpPr>
            <p:spPr>
              <a:xfrm>
                <a:off x="2057400" y="3543300"/>
                <a:ext cx="114300" cy="114300"/>
              </a:xfrm>
              <a:prstGeom prst="ellipse">
                <a:avLst/>
              </a:prstGeom>
              <a:solidFill>
                <a:srgbClr val="0E6680"/>
              </a:solidFill>
              <a:ln>
                <a:noFill/>
              </a:ln>
            </p:spPr>
          </p:sp>
          <p:sp>
            <p:nvSpPr>
              <p:cNvPr id="53" name="Ellipse 53"/>
              <p:cNvSpPr/>
              <p:nvPr/>
            </p:nvSpPr>
            <p:spPr>
              <a:xfrm>
                <a:off x="2419350" y="3543300"/>
                <a:ext cx="114300" cy="114300"/>
              </a:xfrm>
              <a:prstGeom prst="ellipse">
                <a:avLst/>
              </a:prstGeom>
              <a:solidFill>
                <a:srgbClr val="0E6680"/>
              </a:solidFill>
              <a:ln>
                <a:noFill/>
              </a:ln>
            </p:spPr>
          </p:sp>
          <p:sp>
            <p:nvSpPr>
              <p:cNvPr id="54" name="Ellipse 54"/>
              <p:cNvSpPr/>
              <p:nvPr/>
            </p:nvSpPr>
            <p:spPr>
              <a:xfrm>
                <a:off x="2647950" y="3543300"/>
                <a:ext cx="114300" cy="114300"/>
              </a:xfrm>
              <a:prstGeom prst="ellipse">
                <a:avLst/>
              </a:prstGeom>
              <a:solidFill>
                <a:srgbClr val="0E6680"/>
              </a:solidFill>
              <a:ln>
                <a:noFill/>
              </a:ln>
            </p:spPr>
          </p:sp>
          <p:sp>
            <p:nvSpPr>
              <p:cNvPr id="55" name="Ellipse 55"/>
              <p:cNvSpPr/>
              <p:nvPr/>
            </p:nvSpPr>
            <p:spPr>
              <a:xfrm>
                <a:off x="3086100" y="3543300"/>
                <a:ext cx="114300" cy="114300"/>
              </a:xfrm>
              <a:prstGeom prst="ellipse">
                <a:avLst/>
              </a:prstGeom>
              <a:solidFill>
                <a:srgbClr val="0E6680"/>
              </a:solidFill>
              <a:ln>
                <a:noFill/>
              </a:ln>
            </p:spPr>
          </p:sp>
          <p:sp>
            <p:nvSpPr>
              <p:cNvPr id="56" name="Ellipse 56"/>
              <p:cNvSpPr/>
              <p:nvPr/>
            </p:nvSpPr>
            <p:spPr>
              <a:xfrm>
                <a:off x="3295650" y="3543300"/>
                <a:ext cx="114300" cy="114300"/>
              </a:xfrm>
              <a:prstGeom prst="ellipse">
                <a:avLst/>
              </a:prstGeom>
              <a:solidFill>
                <a:srgbClr val="0E6680"/>
              </a:solidFill>
              <a:ln>
                <a:noFill/>
              </a:ln>
            </p:spPr>
          </p:sp>
          <p:sp>
            <p:nvSpPr>
              <p:cNvPr id="57" name="Ellipse 57"/>
              <p:cNvSpPr/>
              <p:nvPr/>
            </p:nvSpPr>
            <p:spPr>
              <a:xfrm>
                <a:off x="3733800" y="3543300"/>
                <a:ext cx="114300" cy="114300"/>
              </a:xfrm>
              <a:prstGeom prst="ellipse">
                <a:avLst/>
              </a:prstGeom>
              <a:solidFill>
                <a:srgbClr val="0E6680"/>
              </a:solidFill>
              <a:ln>
                <a:noFill/>
              </a:ln>
            </p:spPr>
          </p:sp>
          <p:sp>
            <p:nvSpPr>
              <p:cNvPr id="58" name="Ellipse 58"/>
              <p:cNvSpPr/>
              <p:nvPr/>
            </p:nvSpPr>
            <p:spPr>
              <a:xfrm>
                <a:off x="4133850" y="3543300"/>
                <a:ext cx="114300" cy="114300"/>
              </a:xfrm>
              <a:prstGeom prst="ellipse">
                <a:avLst/>
              </a:prstGeom>
              <a:solidFill>
                <a:srgbClr val="0E6680"/>
              </a:solidFill>
              <a:ln>
                <a:noFill/>
              </a:ln>
            </p:spPr>
          </p:sp>
          <p:sp>
            <p:nvSpPr>
              <p:cNvPr id="59" name="Ellipse 59"/>
              <p:cNvSpPr/>
              <p:nvPr/>
            </p:nvSpPr>
            <p:spPr>
              <a:xfrm>
                <a:off x="4343400" y="3543300"/>
                <a:ext cx="114300" cy="114300"/>
              </a:xfrm>
              <a:prstGeom prst="ellipse">
                <a:avLst/>
              </a:prstGeom>
              <a:solidFill>
                <a:srgbClr val="0E6680"/>
              </a:solidFill>
              <a:ln>
                <a:noFill/>
              </a:ln>
            </p:spPr>
          </p:sp>
          <p:sp>
            <p:nvSpPr>
              <p:cNvPr id="60" name="Ellipse 60"/>
              <p:cNvSpPr/>
              <p:nvPr/>
            </p:nvSpPr>
            <p:spPr>
              <a:xfrm>
                <a:off x="4705350" y="3543300"/>
                <a:ext cx="114300" cy="114300"/>
              </a:xfrm>
              <a:prstGeom prst="ellipse">
                <a:avLst/>
              </a:prstGeom>
              <a:solidFill>
                <a:srgbClr val="0E6680"/>
              </a:solidFill>
              <a:ln>
                <a:noFill/>
              </a:ln>
            </p:spPr>
          </p:sp>
          <p:sp>
            <p:nvSpPr>
              <p:cNvPr id="61" name="Ellipse 61"/>
              <p:cNvSpPr/>
              <p:nvPr/>
            </p:nvSpPr>
            <p:spPr>
              <a:xfrm>
                <a:off x="5133975" y="3543300"/>
                <a:ext cx="114300" cy="114300"/>
              </a:xfrm>
              <a:prstGeom prst="ellipse">
                <a:avLst/>
              </a:prstGeom>
              <a:solidFill>
                <a:srgbClr val="0E6680"/>
              </a:solidFill>
              <a:ln>
                <a:noFill/>
              </a:ln>
            </p:spPr>
          </p:sp>
          <p:sp>
            <p:nvSpPr>
              <p:cNvPr id="62" name="Ellipse 62"/>
              <p:cNvSpPr/>
              <p:nvPr/>
            </p:nvSpPr>
            <p:spPr>
              <a:xfrm>
                <a:off x="5372100" y="3543300"/>
                <a:ext cx="114300" cy="114300"/>
              </a:xfrm>
              <a:prstGeom prst="ellipse">
                <a:avLst/>
              </a:prstGeom>
              <a:solidFill>
                <a:srgbClr val="0E6680"/>
              </a:solidFill>
              <a:ln>
                <a:noFill/>
              </a:ln>
            </p:spPr>
          </p:sp>
          <p:sp>
            <p:nvSpPr>
              <p:cNvPr id="63" name="Ellipse 63"/>
              <p:cNvSpPr/>
              <p:nvPr/>
            </p:nvSpPr>
            <p:spPr>
              <a:xfrm>
                <a:off x="5810250" y="3543300"/>
                <a:ext cx="114300" cy="114300"/>
              </a:xfrm>
              <a:prstGeom prst="ellipse">
                <a:avLst/>
              </a:prstGeom>
              <a:solidFill>
                <a:srgbClr val="0E6680"/>
              </a:solidFill>
              <a:ln>
                <a:noFill/>
              </a:ln>
            </p:spPr>
          </p:sp>
          <p:sp>
            <p:nvSpPr>
              <p:cNvPr id="64" name="Ellipse 64"/>
              <p:cNvSpPr/>
              <p:nvPr/>
            </p:nvSpPr>
            <p:spPr>
              <a:xfrm>
                <a:off x="6134100" y="3543300"/>
                <a:ext cx="114300" cy="114300"/>
              </a:xfrm>
              <a:prstGeom prst="ellipse">
                <a:avLst/>
              </a:prstGeom>
              <a:solidFill>
                <a:srgbClr val="0E6680"/>
              </a:solidFill>
              <a:ln>
                <a:noFill/>
              </a:ln>
            </p:spPr>
          </p:sp>
          <p:sp>
            <p:nvSpPr>
              <p:cNvPr id="65" name="Ellipse 65"/>
              <p:cNvSpPr/>
              <p:nvPr/>
            </p:nvSpPr>
            <p:spPr>
              <a:xfrm>
                <a:off x="6515100" y="3543300"/>
                <a:ext cx="114300" cy="114300"/>
              </a:xfrm>
              <a:prstGeom prst="ellipse">
                <a:avLst/>
              </a:prstGeom>
              <a:solidFill>
                <a:srgbClr val="0E6680"/>
              </a:solidFill>
              <a:ln>
                <a:noFill/>
              </a:ln>
            </p:spPr>
          </p:sp>
          <p:sp>
            <p:nvSpPr>
              <p:cNvPr id="66" name="Ellipse 66"/>
              <p:cNvSpPr/>
              <p:nvPr/>
            </p:nvSpPr>
            <p:spPr>
              <a:xfrm>
                <a:off x="6724650" y="3543300"/>
                <a:ext cx="114300" cy="114300"/>
              </a:xfrm>
              <a:prstGeom prst="ellipse">
                <a:avLst/>
              </a:prstGeom>
              <a:solidFill>
                <a:srgbClr val="0E6680"/>
              </a:solidFill>
              <a:ln>
                <a:noFill/>
              </a:ln>
            </p:spPr>
          </p:sp>
          <p:sp>
            <p:nvSpPr>
              <p:cNvPr id="67" name="Ellipse 67"/>
              <p:cNvSpPr/>
              <p:nvPr/>
            </p:nvSpPr>
            <p:spPr>
              <a:xfrm>
                <a:off x="7181850" y="3543300"/>
                <a:ext cx="114300" cy="114300"/>
              </a:xfrm>
              <a:prstGeom prst="ellipse">
                <a:avLst/>
              </a:prstGeom>
              <a:solidFill>
                <a:srgbClr val="0E6680"/>
              </a:solidFill>
              <a:ln>
                <a:noFill/>
              </a:ln>
            </p:spPr>
          </p:sp>
          <p:sp>
            <p:nvSpPr>
              <p:cNvPr id="68" name="Ellipse 68"/>
              <p:cNvSpPr/>
              <p:nvPr/>
            </p:nvSpPr>
            <p:spPr>
              <a:xfrm>
                <a:off x="7562850" y="3543300"/>
                <a:ext cx="114300" cy="114300"/>
              </a:xfrm>
              <a:prstGeom prst="ellipse">
                <a:avLst/>
              </a:prstGeom>
              <a:solidFill>
                <a:srgbClr val="0E6680"/>
              </a:solidFill>
              <a:ln>
                <a:noFill/>
              </a:ln>
            </p:spPr>
          </p:sp>
          <p:sp>
            <p:nvSpPr>
              <p:cNvPr id="69" name="Ellipse 69"/>
              <p:cNvSpPr/>
              <p:nvPr/>
            </p:nvSpPr>
            <p:spPr>
              <a:xfrm>
                <a:off x="7810500" y="3543300"/>
                <a:ext cx="114300" cy="114300"/>
              </a:xfrm>
              <a:prstGeom prst="ellipse">
                <a:avLst/>
              </a:prstGeom>
              <a:solidFill>
                <a:srgbClr val="0E6680"/>
              </a:solidFill>
              <a:ln>
                <a:noFill/>
              </a:ln>
            </p:spPr>
          </p:sp>
          <p:sp>
            <p:nvSpPr>
              <p:cNvPr id="70" name="Ellipse 70"/>
              <p:cNvSpPr/>
              <p:nvPr/>
            </p:nvSpPr>
            <p:spPr>
              <a:xfrm>
                <a:off x="8229600" y="3543300"/>
                <a:ext cx="114300" cy="114300"/>
              </a:xfrm>
              <a:prstGeom prst="ellipse">
                <a:avLst/>
              </a:prstGeom>
              <a:solidFill>
                <a:srgbClr val="0E6680"/>
              </a:solidFill>
              <a:ln>
                <a:noFill/>
              </a:ln>
            </p:spPr>
          </p:sp>
          <p:sp>
            <p:nvSpPr>
              <p:cNvPr id="71" name="Ellipse 71"/>
              <p:cNvSpPr/>
              <p:nvPr/>
            </p:nvSpPr>
            <p:spPr>
              <a:xfrm>
                <a:off x="8562975" y="3543300"/>
                <a:ext cx="114300" cy="114300"/>
              </a:xfrm>
              <a:prstGeom prst="ellipse">
                <a:avLst/>
              </a:prstGeom>
              <a:solidFill>
                <a:srgbClr val="0E6680"/>
              </a:solidFill>
              <a:ln>
                <a:noFill/>
              </a:ln>
            </p:spPr>
          </p:sp>
          <p:sp>
            <p:nvSpPr>
              <p:cNvPr id="72" name="Ellipse 72"/>
              <p:cNvSpPr/>
              <p:nvPr/>
            </p:nvSpPr>
            <p:spPr>
              <a:xfrm>
                <a:off x="8991600" y="3543300"/>
                <a:ext cx="114300" cy="114300"/>
              </a:xfrm>
              <a:prstGeom prst="ellipse">
                <a:avLst/>
              </a:prstGeom>
              <a:solidFill>
                <a:srgbClr val="0E6680"/>
              </a:solidFill>
              <a:ln>
                <a:noFill/>
              </a:ln>
            </p:spPr>
          </p:sp>
          <p:sp>
            <p:nvSpPr>
              <p:cNvPr id="73" name="Ellipse 73"/>
              <p:cNvSpPr/>
              <p:nvPr/>
            </p:nvSpPr>
            <p:spPr>
              <a:xfrm>
                <a:off x="9239250" y="3543300"/>
                <a:ext cx="114300" cy="114300"/>
              </a:xfrm>
              <a:prstGeom prst="ellipse">
                <a:avLst/>
              </a:prstGeom>
              <a:solidFill>
                <a:srgbClr val="0E6680"/>
              </a:solidFill>
              <a:ln>
                <a:noFill/>
              </a:ln>
            </p:spPr>
          </p:sp>
          <p:sp>
            <p:nvSpPr>
              <p:cNvPr id="74" name="Ellipse 74"/>
              <p:cNvSpPr/>
              <p:nvPr/>
            </p:nvSpPr>
            <p:spPr>
              <a:xfrm>
                <a:off x="9658350" y="3543300"/>
                <a:ext cx="114300" cy="114300"/>
              </a:xfrm>
              <a:prstGeom prst="ellipse">
                <a:avLst/>
              </a:prstGeom>
              <a:solidFill>
                <a:srgbClr val="0E6680"/>
              </a:solidFill>
              <a:ln>
                <a:noFill/>
              </a:ln>
            </p:spPr>
          </p:sp>
          <p:sp>
            <p:nvSpPr>
              <p:cNvPr id="75" name="Ellipse 75"/>
              <p:cNvSpPr/>
              <p:nvPr/>
            </p:nvSpPr>
            <p:spPr>
              <a:xfrm>
                <a:off x="10058400" y="3543300"/>
                <a:ext cx="114300" cy="114300"/>
              </a:xfrm>
              <a:prstGeom prst="ellipse">
                <a:avLst/>
              </a:prstGeom>
              <a:solidFill>
                <a:srgbClr val="0E6680"/>
              </a:solidFill>
              <a:ln>
                <a:noFill/>
              </a:ln>
            </p:spPr>
          </p:sp>
          <p:sp>
            <p:nvSpPr>
              <p:cNvPr id="76" name="Ellipse 76"/>
              <p:cNvSpPr/>
              <p:nvPr/>
            </p:nvSpPr>
            <p:spPr>
              <a:xfrm>
                <a:off x="10325100" y="3543300"/>
                <a:ext cx="114300" cy="114300"/>
              </a:xfrm>
              <a:prstGeom prst="ellipse">
                <a:avLst/>
              </a:prstGeom>
              <a:solidFill>
                <a:srgbClr val="0E6680"/>
              </a:solidFill>
              <a:ln>
                <a:noFill/>
              </a:ln>
            </p:spPr>
          </p:sp>
          <p:sp>
            <p:nvSpPr>
              <p:cNvPr id="77" name="Ellipse 77"/>
              <p:cNvSpPr/>
              <p:nvPr/>
            </p:nvSpPr>
            <p:spPr>
              <a:xfrm>
                <a:off x="10706100" y="3543300"/>
                <a:ext cx="114300" cy="114300"/>
              </a:xfrm>
              <a:prstGeom prst="ellipse">
                <a:avLst/>
              </a:prstGeom>
              <a:solidFill>
                <a:srgbClr val="0E6680"/>
              </a:solidFill>
              <a:ln>
                <a:noFill/>
              </a:ln>
            </p:spPr>
          </p:sp>
          <p:sp>
            <p:nvSpPr>
              <p:cNvPr id="78" name="Ellipse 78"/>
              <p:cNvSpPr/>
              <p:nvPr/>
            </p:nvSpPr>
            <p:spPr>
              <a:xfrm>
                <a:off x="10991850" y="3543300"/>
                <a:ext cx="114300" cy="114300"/>
              </a:xfrm>
              <a:prstGeom prst="ellipse">
                <a:avLst/>
              </a:prstGeom>
              <a:solidFill>
                <a:srgbClr val="0E6680"/>
              </a:solidFill>
              <a:ln>
                <a:noFill/>
              </a:ln>
            </p:spPr>
          </p:sp>
        </p:grpSp>
        <p:sp>
          <p:nvSpPr>
            <p:cNvPr id="80" name="TextBox 80"/>
            <p:cNvSpPr txBox="1"/>
            <p:nvPr/>
          </p:nvSpPr>
          <p:spPr>
            <a:xfrm>
              <a:off x="10808208" y="3771900"/>
              <a:ext cx="685038"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время</a:t>
              </a:r>
            </a:p>
          </p:txBody>
        </p:sp>
      </p:grpSp>
      <p:grpSp>
        <p:nvGrpSpPr>
          <p:cNvPr id="85" name="property-continuous"/>
          <p:cNvGrpSpPr/>
          <p:nvPr/>
        </p:nvGrpSpPr>
        <p:grpSpPr>
          <a:xfrm>
            <a:off x="609600" y="4267200"/>
            <a:ext cx="4868280" cy="636270"/>
            <a:chOff x="609600" y="4267200"/>
            <a:chExt cx="4868280" cy="636270"/>
          </a:xfrm>
        </p:grpSpPr>
        <p:sp>
          <p:nvSpPr>
            <p:cNvPr id="82" name="Rectangle 82"/>
            <p:cNvSpPr/>
            <p:nvPr/>
          </p:nvSpPr>
          <p:spPr>
            <a:xfrm>
              <a:off x="609600" y="4362450"/>
              <a:ext cx="133350" cy="133350"/>
            </a:xfrm>
            <a:prstGeom prst="rect">
              <a:avLst/>
            </a:prstGeom>
            <a:solidFill>
              <a:srgbClr val="0E6680"/>
            </a:solidFill>
            <a:ln>
              <a:noFill/>
            </a:ln>
          </p:spPr>
        </p:sp>
        <p:sp>
          <p:nvSpPr>
            <p:cNvPr id="83" name="TextBox 83"/>
            <p:cNvSpPr txBox="1"/>
            <p:nvPr/>
          </p:nvSpPr>
          <p:spPr>
            <a:xfrm>
              <a:off x="848106" y="4267200"/>
              <a:ext cx="2251383"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Непрерывность</a:t>
              </a:r>
            </a:p>
          </p:txBody>
        </p:sp>
        <p:sp>
          <p:nvSpPr>
            <p:cNvPr id="84" name="TextBox 84"/>
            <p:cNvSpPr txBox="1"/>
            <p:nvPr/>
          </p:nvSpPr>
          <p:spPr>
            <a:xfrm>
              <a:off x="849630" y="4610100"/>
              <a:ext cx="5646465" cy="293370"/>
            </a:xfrm>
            <a:prstGeom prst="rect">
              <a:avLst/>
            </a:prstGeom>
            <a:noFill/>
            <a:ln>
              <a:noFill/>
            </a:ln>
          </p:spPr>
          <p:txBody>
            <a:bodyPr wrap="square" lIns="0" tIns="0" rIns="0" bIns="0" anchor="t" anchorCtr="0">
              <a:spAutoFit/>
            </a:bodyPr>
            <a:lstStyle/>
            <a:p>
              <a:pPr algn="l"/>
              <a:r>
                <a:rPr lang="ru" sz="1500" dirty="0">
                  <a:solidFill>
                    <a:srgbClr val="4A5663"/>
                  </a:solidFill>
                  <a:latin typeface="+mn-lt"/>
                  <a:ea typeface="+mn-ea"/>
                  <a:cs typeface="+mn-cs"/>
                </a:rPr>
                <a:t>датчик работает постоянно, у набора нет конца</a:t>
              </a:r>
            </a:p>
          </p:txBody>
        </p:sp>
      </p:grpSp>
      <p:grpSp>
        <p:nvGrpSpPr>
          <p:cNvPr id="89" name="property-timestamp"/>
          <p:cNvGrpSpPr/>
          <p:nvPr/>
        </p:nvGrpSpPr>
        <p:grpSpPr>
          <a:xfrm>
            <a:off x="6210300" y="4267200"/>
            <a:ext cx="4702253" cy="636270"/>
            <a:chOff x="6210300" y="4267200"/>
            <a:chExt cx="4702253" cy="636270"/>
          </a:xfrm>
        </p:grpSpPr>
        <p:sp>
          <p:nvSpPr>
            <p:cNvPr id="86" name="Rectangle 86"/>
            <p:cNvSpPr/>
            <p:nvPr/>
          </p:nvSpPr>
          <p:spPr>
            <a:xfrm>
              <a:off x="6210300" y="4362450"/>
              <a:ext cx="133350" cy="133350"/>
            </a:xfrm>
            <a:prstGeom prst="rect">
              <a:avLst/>
            </a:prstGeom>
            <a:solidFill>
              <a:srgbClr val="0E6680"/>
            </a:solidFill>
            <a:ln>
              <a:noFill/>
            </a:ln>
          </p:spPr>
        </p:sp>
        <p:sp>
          <p:nvSpPr>
            <p:cNvPr id="87" name="TextBox 87"/>
            <p:cNvSpPr txBox="1"/>
            <p:nvPr/>
          </p:nvSpPr>
          <p:spPr>
            <a:xfrm>
              <a:off x="6448806" y="4267200"/>
              <a:ext cx="2163172"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Метка времени</a:t>
              </a:r>
            </a:p>
          </p:txBody>
        </p:sp>
        <p:sp>
          <p:nvSpPr>
            <p:cNvPr id="88" name="TextBox 88"/>
            <p:cNvSpPr txBox="1"/>
            <p:nvPr/>
          </p:nvSpPr>
          <p:spPr>
            <a:xfrm>
              <a:off x="6450330" y="4610100"/>
              <a:ext cx="5443912" cy="293370"/>
            </a:xfrm>
            <a:prstGeom prst="rect">
              <a:avLst/>
            </a:prstGeom>
            <a:noFill/>
            <a:ln>
              <a:noFill/>
            </a:ln>
          </p:spPr>
          <p:txBody>
            <a:bodyPr wrap="square" lIns="0" tIns="0" rIns="0" bIns="0" anchor="t" anchorCtr="0">
              <a:spAutoFit/>
            </a:bodyPr>
            <a:lstStyle/>
            <a:p>
              <a:pPr algn="l"/>
              <a:r>
                <a:rPr lang="ru" sz="1500" dirty="0">
                  <a:solidFill>
                    <a:srgbClr val="4A5663"/>
                  </a:solidFill>
                  <a:latin typeface="+mn-lt"/>
                  <a:ea typeface="+mn-ea"/>
                  <a:cs typeface="+mn-cs"/>
                </a:rPr>
                <a:t>важно не только значение, но и момент замера</a:t>
              </a:r>
            </a:p>
          </p:txBody>
        </p:sp>
      </p:grpSp>
      <p:grpSp>
        <p:nvGrpSpPr>
          <p:cNvPr id="93" name="property-disorder"/>
          <p:cNvGrpSpPr/>
          <p:nvPr/>
        </p:nvGrpSpPr>
        <p:grpSpPr>
          <a:xfrm>
            <a:off x="609600" y="5200650"/>
            <a:ext cx="4533965" cy="636270"/>
            <a:chOff x="609600" y="5200650"/>
            <a:chExt cx="4533965" cy="636270"/>
          </a:xfrm>
        </p:grpSpPr>
        <p:sp>
          <p:nvSpPr>
            <p:cNvPr id="90" name="Rectangle 90"/>
            <p:cNvSpPr/>
            <p:nvPr/>
          </p:nvSpPr>
          <p:spPr>
            <a:xfrm>
              <a:off x="609600" y="5295900"/>
              <a:ext cx="133350" cy="133350"/>
            </a:xfrm>
            <a:prstGeom prst="rect">
              <a:avLst/>
            </a:prstGeom>
            <a:solidFill>
              <a:srgbClr val="B35A12"/>
            </a:solidFill>
            <a:ln>
              <a:noFill/>
            </a:ln>
          </p:spPr>
        </p:sp>
        <p:sp>
          <p:nvSpPr>
            <p:cNvPr id="91" name="TextBox 91"/>
            <p:cNvSpPr txBox="1"/>
            <p:nvPr/>
          </p:nvSpPr>
          <p:spPr>
            <a:xfrm>
              <a:off x="848106" y="5200650"/>
              <a:ext cx="3440464"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Задержки и беспорядок</a:t>
              </a:r>
            </a:p>
          </p:txBody>
        </p:sp>
        <p:sp>
          <p:nvSpPr>
            <p:cNvPr id="92" name="TextBox 92"/>
            <p:cNvSpPr txBox="1"/>
            <p:nvPr/>
          </p:nvSpPr>
          <p:spPr>
            <a:xfrm>
              <a:off x="849630" y="5543550"/>
              <a:ext cx="5238600" cy="293370"/>
            </a:xfrm>
            <a:prstGeom prst="rect">
              <a:avLst/>
            </a:prstGeom>
            <a:noFill/>
            <a:ln>
              <a:noFill/>
            </a:ln>
          </p:spPr>
          <p:txBody>
            <a:bodyPr wrap="square" lIns="0" tIns="0" rIns="0" bIns="0" anchor="t" anchorCtr="0">
              <a:spAutoFit/>
            </a:bodyPr>
            <a:lstStyle/>
            <a:p>
              <a:pPr algn="l"/>
              <a:r>
                <a:rPr lang="ru" sz="1500" dirty="0">
                  <a:solidFill>
                    <a:srgbClr val="4A5663"/>
                  </a:solidFill>
                  <a:latin typeface="+mn-lt"/>
                  <a:ea typeface="+mn-ea"/>
                  <a:cs typeface="+mn-cs"/>
                </a:rPr>
                <a:t>после потери связи записи приходят пачкой</a:t>
              </a:r>
            </a:p>
          </p:txBody>
        </p:sp>
      </p:grpSp>
      <p:grpSp>
        <p:nvGrpSpPr>
          <p:cNvPr id="97" name="property-volume"/>
          <p:cNvGrpSpPr/>
          <p:nvPr/>
        </p:nvGrpSpPr>
        <p:grpSpPr>
          <a:xfrm>
            <a:off x="6210300" y="5200650"/>
            <a:ext cx="4923245" cy="636270"/>
            <a:chOff x="6210300" y="5200650"/>
            <a:chExt cx="4923245" cy="636270"/>
          </a:xfrm>
        </p:grpSpPr>
        <p:sp>
          <p:nvSpPr>
            <p:cNvPr id="94" name="Rectangle 94"/>
            <p:cNvSpPr/>
            <p:nvPr/>
          </p:nvSpPr>
          <p:spPr>
            <a:xfrm>
              <a:off x="6210300" y="5295900"/>
              <a:ext cx="133350" cy="133350"/>
            </a:xfrm>
            <a:prstGeom prst="rect">
              <a:avLst/>
            </a:prstGeom>
            <a:solidFill>
              <a:srgbClr val="0E6680"/>
            </a:solidFill>
            <a:ln>
              <a:noFill/>
            </a:ln>
          </p:spPr>
        </p:sp>
        <p:sp>
          <p:nvSpPr>
            <p:cNvPr id="95" name="TextBox 95"/>
            <p:cNvSpPr txBox="1"/>
            <p:nvPr/>
          </p:nvSpPr>
          <p:spPr>
            <a:xfrm>
              <a:off x="6448806" y="5200650"/>
              <a:ext cx="2163172"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Большой объём</a:t>
              </a:r>
            </a:p>
          </p:txBody>
        </p:sp>
        <p:sp>
          <p:nvSpPr>
            <p:cNvPr id="96" name="TextBox 96"/>
            <p:cNvSpPr txBox="1"/>
            <p:nvPr/>
          </p:nvSpPr>
          <p:spPr>
            <a:xfrm>
              <a:off x="6450330" y="5543550"/>
              <a:ext cx="5551170" cy="293370"/>
            </a:xfrm>
            <a:prstGeom prst="rect">
              <a:avLst/>
            </a:prstGeom>
            <a:noFill/>
            <a:ln>
              <a:noFill/>
            </a:ln>
          </p:spPr>
          <p:txBody>
            <a:bodyPr wrap="square" lIns="0" tIns="0" rIns="0" bIns="0" anchor="t" anchorCtr="0">
              <a:spAutoFit/>
            </a:bodyPr>
            <a:lstStyle/>
            <a:p>
              <a:pPr algn="l"/>
              <a:r>
                <a:rPr lang="ru" sz="1500" dirty="0">
                  <a:solidFill>
                    <a:srgbClr val="4A5663"/>
                  </a:solidFill>
                  <a:latin typeface="+mn-lt"/>
                  <a:ea typeface="+mn-ea"/>
                  <a:cs typeface="+mn-cs"/>
                </a:rPr>
                <a:t>тысячи датчиков дают тысячи событий в секунду</a:t>
              </a:r>
            </a:p>
          </p:txBody>
        </p:sp>
      </p:grpSp>
      <p:grpSp>
        <p:nvGrpSpPr>
          <p:cNvPr id="101" name="footer"/>
          <p:cNvGrpSpPr/>
          <p:nvPr/>
        </p:nvGrpSpPr>
        <p:grpSpPr>
          <a:xfrm>
            <a:off x="603504" y="6400800"/>
            <a:ext cx="10984992" cy="348996"/>
            <a:chOff x="603504" y="6400800"/>
            <a:chExt cx="10984992" cy="348996"/>
          </a:xfrm>
        </p:grpSpPr>
        <p:sp>
          <p:nvSpPr>
            <p:cNvPr id="98" name="Line 98"/>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99" name="TextBox 99"/>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100" name="TextBox 100"/>
            <p:cNvSpPr txBox="1"/>
            <p:nvPr/>
          </p:nvSpPr>
          <p:spPr>
            <a:xfrm>
              <a:off x="10943521" y="6515100"/>
              <a:ext cx="644975"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5 / 12</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7395601" cy="1127379"/>
            <a:chOff x="596646" y="381000"/>
            <a:chExt cx="7395601" cy="112737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609600"/>
              <a:ext cx="9022633" cy="898779"/>
            </a:xfrm>
            <a:prstGeom prst="rect">
              <a:avLst/>
            </a:prstGeom>
            <a:noFill/>
            <a:ln>
              <a:noFill/>
            </a:ln>
          </p:spPr>
          <p:txBody>
            <a:bodyPr wrap="square" lIns="0" tIns="0" rIns="0" bIns="0" anchor="t" anchorCtr="0">
              <a:spAutoFit/>
            </a:bodyPr>
            <a:lstStyle/>
            <a:p>
              <a:pPr algn="l">
                <a:lnSpc>
                  <a:spcPts val="3150"/>
                </a:lnSpc>
              </a:pPr>
              <a:r>
                <a:rPr lang="ru" sz="2550" b="1" dirty="0">
                  <a:solidFill>
                    <a:srgbClr val="17212B"/>
                  </a:solidFill>
                  <a:latin typeface="+mn-lt"/>
                  <a:ea typeface="+mn-ea"/>
                  <a:cs typeface="+mn-cs"/>
                </a:rPr>
                <a:t>Пакетная обработка отвечает по расписанию,</a:t>
              </a:r>
              <a:br>
                <a:rPr lang="ru" sz="2550" b="1" dirty="0">
                  <a:solidFill>
                    <a:srgbClr val="17212B"/>
                  </a:solidFill>
                  <a:latin typeface="+mn-lt"/>
                  <a:ea typeface="+mn-ea"/>
                  <a:cs typeface="+mn-cs"/>
                </a:rPr>
              </a:br>
              <a:r>
                <a:rPr lang="ru" sz="2550" b="1" dirty="0">
                  <a:solidFill>
                    <a:srgbClr val="17212B"/>
                  </a:solidFill>
                  <a:latin typeface="+mn-lt"/>
                  <a:ea typeface="+mn-ea"/>
                  <a:cs typeface="+mn-cs"/>
                </a:rPr>
                <a:t>потоковая сразу после события</a:t>
              </a:r>
            </a:p>
          </p:txBody>
        </p:sp>
      </p:grpSp>
      <p:grpSp>
        <p:nvGrpSpPr>
          <p:cNvPr id="33" name="comparison-table"/>
          <p:cNvGrpSpPr/>
          <p:nvPr/>
        </p:nvGrpSpPr>
        <p:grpSpPr>
          <a:xfrm>
            <a:off x="609600" y="1752600"/>
            <a:ext cx="10972800" cy="3743325"/>
            <a:chOff x="609600" y="1752600"/>
            <a:chExt cx="10972800" cy="3743325"/>
          </a:xfrm>
        </p:grpSpPr>
        <p:grpSp>
          <p:nvGrpSpPr>
            <p:cNvPr id="8" name="comparison-table-fills"/>
            <p:cNvGrpSpPr/>
            <p:nvPr/>
          </p:nvGrpSpPr>
          <p:grpSpPr>
            <a:xfrm>
              <a:off x="609600" y="1752600"/>
              <a:ext cx="10972800" cy="3733800"/>
              <a:chOff x="609600" y="1752600"/>
              <a:chExt cx="10972800" cy="3733800"/>
            </a:xfrm>
          </p:grpSpPr>
          <p:sp>
            <p:nvSpPr>
              <p:cNvPr id="5" name="Rectangle 5"/>
              <p:cNvSpPr/>
              <p:nvPr/>
            </p:nvSpPr>
            <p:spPr>
              <a:xfrm>
                <a:off x="609600" y="1752600"/>
                <a:ext cx="6819900" cy="533400"/>
              </a:xfrm>
              <a:prstGeom prst="rect">
                <a:avLst/>
              </a:prstGeom>
              <a:solidFill>
                <a:srgbClr val="F3F5F7"/>
              </a:solidFill>
              <a:ln>
                <a:noFill/>
              </a:ln>
            </p:spPr>
          </p:sp>
          <p:sp>
            <p:nvSpPr>
              <p:cNvPr id="6" name="Rectangle 6"/>
              <p:cNvSpPr/>
              <p:nvPr/>
            </p:nvSpPr>
            <p:spPr>
              <a:xfrm>
                <a:off x="7429500" y="1752600"/>
                <a:ext cx="4152900" cy="533400"/>
              </a:xfrm>
              <a:prstGeom prst="rect">
                <a:avLst/>
              </a:prstGeom>
              <a:solidFill>
                <a:srgbClr val="0E6680"/>
              </a:solidFill>
              <a:ln>
                <a:noFill/>
              </a:ln>
            </p:spPr>
          </p:sp>
          <p:sp>
            <p:nvSpPr>
              <p:cNvPr id="7" name="Rectangle 7"/>
              <p:cNvSpPr/>
              <p:nvPr/>
            </p:nvSpPr>
            <p:spPr>
              <a:xfrm>
                <a:off x="7429500" y="2286000"/>
                <a:ext cx="4152900" cy="3200400"/>
              </a:xfrm>
              <a:prstGeom prst="rect">
                <a:avLst/>
              </a:prstGeom>
              <a:solidFill>
                <a:srgbClr val="EAF3F6"/>
              </a:solidFill>
              <a:ln>
                <a:noFill/>
              </a:ln>
            </p:spPr>
          </p:sp>
        </p:grpSp>
        <p:grpSp>
          <p:nvGrpSpPr>
            <p:cNvPr id="14" name="comparison-table-rules"/>
            <p:cNvGrpSpPr/>
            <p:nvPr/>
          </p:nvGrpSpPr>
          <p:grpSpPr>
            <a:xfrm>
              <a:off x="609600" y="2286000"/>
              <a:ext cx="10972800" cy="3209925"/>
              <a:chOff x="609600" y="2286000"/>
              <a:chExt cx="10972800" cy="3209925"/>
            </a:xfrm>
          </p:grpSpPr>
          <p:sp>
            <p:nvSpPr>
              <p:cNvPr id="9" name="Line 9"/>
              <p:cNvSpPr/>
              <p:nvPr/>
            </p:nvSpPr>
            <p:spPr>
              <a:xfrm>
                <a:off x="609600" y="22860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10" name="Line 10"/>
              <p:cNvSpPr/>
              <p:nvPr/>
            </p:nvSpPr>
            <p:spPr>
              <a:xfrm>
                <a:off x="609600" y="30861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11" name="Line 11"/>
              <p:cNvSpPr/>
              <p:nvPr/>
            </p:nvSpPr>
            <p:spPr>
              <a:xfrm>
                <a:off x="609600" y="38862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12" name="Line 12"/>
              <p:cNvSpPr/>
              <p:nvPr/>
            </p:nvSpPr>
            <p:spPr>
              <a:xfrm>
                <a:off x="609600" y="46863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13" name="Line 13"/>
              <p:cNvSpPr/>
              <p:nvPr/>
            </p:nvSpPr>
            <p:spPr>
              <a:xfrm>
                <a:off x="609600" y="5486400"/>
                <a:ext cx="10972800" cy="9525"/>
              </a:xfrm>
              <a:custGeom>
                <a:avLst/>
                <a:gdLst/>
                <a:ahLst/>
                <a:cxnLst/>
                <a:rect l="l" t="t" r="r" b="b"/>
                <a:pathLst>
                  <a:path w="10972800" h="9525">
                    <a:moveTo>
                      <a:pt x="0" y="0"/>
                    </a:moveTo>
                    <a:lnTo>
                      <a:pt x="10972800" y="0"/>
                    </a:lnTo>
                  </a:path>
                </a:pathLst>
              </a:custGeom>
              <a:noFill/>
              <a:ln w="9525">
                <a:solidFill>
                  <a:srgbClr val="D3DBE1"/>
                </a:solidFill>
              </a:ln>
            </p:spPr>
          </p:sp>
        </p:grpSp>
        <p:grpSp>
          <p:nvGrpSpPr>
            <p:cNvPr id="17" name="comparison-table-header"/>
            <p:cNvGrpSpPr/>
            <p:nvPr/>
          </p:nvGrpSpPr>
          <p:grpSpPr>
            <a:xfrm>
              <a:off x="3459480" y="1895475"/>
              <a:ext cx="6330076" cy="293370"/>
              <a:chOff x="3459480" y="1895475"/>
              <a:chExt cx="6330076" cy="293370"/>
            </a:xfrm>
          </p:grpSpPr>
          <p:sp>
            <p:nvSpPr>
              <p:cNvPr id="15" name="TextBox 15"/>
              <p:cNvSpPr txBox="1"/>
              <p:nvPr/>
            </p:nvSpPr>
            <p:spPr>
              <a:xfrm>
                <a:off x="3459480" y="1895475"/>
                <a:ext cx="2513897" cy="293370"/>
              </a:xfrm>
              <a:prstGeom prst="rect">
                <a:avLst/>
              </a:prstGeom>
              <a:noFill/>
              <a:ln>
                <a:noFill/>
              </a:ln>
            </p:spPr>
            <p:txBody>
              <a:bodyPr wrap="square" lIns="0" tIns="0" rIns="0" bIns="0" anchor="t" anchorCtr="0">
                <a:spAutoFit/>
              </a:bodyPr>
              <a:lstStyle/>
              <a:p>
                <a:pPr algn="l"/>
                <a:r>
                  <a:rPr lang="ru" sz="1500" b="1" dirty="0">
                    <a:solidFill>
                      <a:srgbClr val="17212B"/>
                    </a:solidFill>
                    <a:latin typeface="+mn-lt"/>
                    <a:ea typeface="+mn-ea"/>
                    <a:cs typeface="+mn-cs"/>
                  </a:rPr>
                  <a:t>Пакетная обработка</a:t>
                </a:r>
              </a:p>
            </p:txBody>
          </p:sp>
          <p:sp>
            <p:nvSpPr>
              <p:cNvPr id="16" name="TextBox 16"/>
              <p:cNvSpPr txBox="1"/>
              <p:nvPr/>
            </p:nvSpPr>
            <p:spPr>
              <a:xfrm>
                <a:off x="7612380" y="1895475"/>
                <a:ext cx="2656154" cy="293370"/>
              </a:xfrm>
              <a:prstGeom prst="rect">
                <a:avLst/>
              </a:prstGeom>
              <a:noFill/>
              <a:ln>
                <a:noFill/>
              </a:ln>
            </p:spPr>
            <p:txBody>
              <a:bodyPr wrap="square" lIns="0" tIns="0" rIns="0" bIns="0" anchor="t" anchorCtr="0">
                <a:spAutoFit/>
              </a:bodyPr>
              <a:lstStyle/>
              <a:p>
                <a:pPr algn="l"/>
                <a:r>
                  <a:rPr lang="ru" sz="1500" b="1" dirty="0">
                    <a:solidFill>
                      <a:srgbClr val="FFFFFF"/>
                    </a:solidFill>
                    <a:latin typeface="+mn-lt"/>
                    <a:ea typeface="+mn-ea"/>
                    <a:cs typeface="+mn-cs"/>
                  </a:rPr>
                  <a:t>Потоковая обработка</a:t>
                </a:r>
              </a:p>
            </p:txBody>
          </p:sp>
        </p:grpSp>
        <p:grpSp>
          <p:nvGrpSpPr>
            <p:cNvPr id="22" name="comparison-table-criteria"/>
            <p:cNvGrpSpPr/>
            <p:nvPr/>
          </p:nvGrpSpPr>
          <p:grpSpPr>
            <a:xfrm>
              <a:off x="792480" y="2562225"/>
              <a:ext cx="2177176" cy="2693670"/>
              <a:chOff x="792480" y="2562225"/>
              <a:chExt cx="2177176" cy="2693670"/>
            </a:xfrm>
          </p:grpSpPr>
          <p:sp>
            <p:nvSpPr>
              <p:cNvPr id="18" name="TextBox 18"/>
              <p:cNvSpPr txBox="1"/>
              <p:nvPr/>
            </p:nvSpPr>
            <p:spPr>
              <a:xfrm>
                <a:off x="792480" y="2562225"/>
                <a:ext cx="950128" cy="293370"/>
              </a:xfrm>
              <a:prstGeom prst="rect">
                <a:avLst/>
              </a:prstGeom>
              <a:noFill/>
              <a:ln>
                <a:noFill/>
              </a:ln>
            </p:spPr>
            <p:txBody>
              <a:bodyPr wrap="square" lIns="0" tIns="0" rIns="0" bIns="0" anchor="t" anchorCtr="0">
                <a:spAutoFit/>
              </a:bodyPr>
              <a:lstStyle/>
              <a:p>
                <a:pPr algn="l"/>
                <a:r>
                  <a:rPr lang="ru" sz="1500" b="1" dirty="0">
                    <a:solidFill>
                      <a:srgbClr val="17212B"/>
                    </a:solidFill>
                    <a:latin typeface="+mn-lt"/>
                    <a:ea typeface="+mn-ea"/>
                    <a:cs typeface="+mn-cs"/>
                  </a:rPr>
                  <a:t>Данные</a:t>
                </a:r>
              </a:p>
            </p:txBody>
          </p:sp>
          <p:sp>
            <p:nvSpPr>
              <p:cNvPr id="19" name="TextBox 19"/>
              <p:cNvSpPr txBox="1"/>
              <p:nvPr/>
            </p:nvSpPr>
            <p:spPr>
              <a:xfrm>
                <a:off x="792480" y="3362325"/>
                <a:ext cx="2087136" cy="293370"/>
              </a:xfrm>
              <a:prstGeom prst="rect">
                <a:avLst/>
              </a:prstGeom>
              <a:noFill/>
              <a:ln>
                <a:noFill/>
              </a:ln>
            </p:spPr>
            <p:txBody>
              <a:bodyPr wrap="square" lIns="0" tIns="0" rIns="0" bIns="0" anchor="t" anchorCtr="0">
                <a:spAutoFit/>
              </a:bodyPr>
              <a:lstStyle/>
              <a:p>
                <a:pPr algn="l"/>
                <a:r>
                  <a:rPr lang="ru" sz="1500" b="1" dirty="0">
                    <a:solidFill>
                      <a:srgbClr val="17212B"/>
                    </a:solidFill>
                    <a:latin typeface="+mn-lt"/>
                    <a:ea typeface="+mn-ea"/>
                    <a:cs typeface="+mn-cs"/>
                  </a:rPr>
                  <a:t>Когда считается</a:t>
                </a:r>
              </a:p>
            </p:txBody>
          </p:sp>
          <p:sp>
            <p:nvSpPr>
              <p:cNvPr id="20" name="TextBox 20"/>
              <p:cNvSpPr txBox="1"/>
              <p:nvPr/>
            </p:nvSpPr>
            <p:spPr>
              <a:xfrm>
                <a:off x="792480" y="4162425"/>
                <a:ext cx="2656154" cy="293370"/>
              </a:xfrm>
              <a:prstGeom prst="rect">
                <a:avLst/>
              </a:prstGeom>
              <a:noFill/>
              <a:ln>
                <a:noFill/>
              </a:ln>
            </p:spPr>
            <p:txBody>
              <a:bodyPr wrap="square" lIns="0" tIns="0" rIns="0" bIns="0" anchor="t" anchorCtr="0">
                <a:spAutoFit/>
              </a:bodyPr>
              <a:lstStyle/>
              <a:p>
                <a:pPr algn="l"/>
                <a:r>
                  <a:rPr lang="ru" sz="1500" b="1" dirty="0">
                    <a:solidFill>
                      <a:srgbClr val="17212B"/>
                    </a:solidFill>
                    <a:latin typeface="+mn-lt"/>
                    <a:ea typeface="+mn-ea"/>
                    <a:cs typeface="+mn-cs"/>
                  </a:rPr>
                  <a:t>Задержка результата</a:t>
                </a:r>
              </a:p>
            </p:txBody>
          </p:sp>
          <p:sp>
            <p:nvSpPr>
              <p:cNvPr id="21" name="TextBox 21"/>
              <p:cNvSpPr txBox="1"/>
              <p:nvPr/>
            </p:nvSpPr>
            <p:spPr>
              <a:xfrm>
                <a:off x="792480" y="4962525"/>
                <a:ext cx="2087136" cy="293370"/>
              </a:xfrm>
              <a:prstGeom prst="rect">
                <a:avLst/>
              </a:prstGeom>
              <a:noFill/>
              <a:ln>
                <a:noFill/>
              </a:ln>
            </p:spPr>
            <p:txBody>
              <a:bodyPr wrap="square" lIns="0" tIns="0" rIns="0" bIns="0" anchor="t" anchorCtr="0">
                <a:spAutoFit/>
              </a:bodyPr>
              <a:lstStyle/>
              <a:p>
                <a:pPr algn="l"/>
                <a:r>
                  <a:rPr lang="ru" sz="1500" b="1" dirty="0">
                    <a:solidFill>
                      <a:srgbClr val="17212B"/>
                    </a:solidFill>
                    <a:latin typeface="+mn-lt"/>
                    <a:ea typeface="+mn-ea"/>
                    <a:cs typeface="+mn-cs"/>
                  </a:rPr>
                  <a:t>Типичные задачи</a:t>
                </a:r>
              </a:p>
            </p:txBody>
          </p:sp>
        </p:grpSp>
        <p:grpSp>
          <p:nvGrpSpPr>
            <p:cNvPr id="27" name="comparison-table-batch"/>
            <p:cNvGrpSpPr/>
            <p:nvPr/>
          </p:nvGrpSpPr>
          <p:grpSpPr>
            <a:xfrm>
              <a:off x="3459480" y="2562225"/>
              <a:ext cx="3572600" cy="2807970"/>
              <a:chOff x="3459480" y="2562225"/>
              <a:chExt cx="3572600" cy="2807970"/>
            </a:xfrm>
          </p:grpSpPr>
          <p:sp>
            <p:nvSpPr>
              <p:cNvPr id="23" name="TextBox 23"/>
              <p:cNvSpPr txBox="1"/>
              <p:nvPr/>
            </p:nvSpPr>
            <p:spPr>
              <a:xfrm>
                <a:off x="3459480" y="2562225"/>
                <a:ext cx="3949327" cy="293370"/>
              </a:xfrm>
              <a:prstGeom prst="rect">
                <a:avLst/>
              </a:prstGeom>
              <a:noFill/>
              <a:ln>
                <a:noFill/>
              </a:ln>
            </p:spPr>
            <p:txBody>
              <a:bodyPr wrap="square" lIns="0" tIns="0" rIns="0" bIns="0" anchor="t" anchorCtr="0">
                <a:spAutoFit/>
              </a:bodyPr>
              <a:lstStyle/>
              <a:p>
                <a:pPr algn="l"/>
                <a:r>
                  <a:rPr lang="ru" sz="1500" dirty="0">
                    <a:solidFill>
                      <a:srgbClr val="4A5663"/>
                    </a:solidFill>
                    <a:latin typeface="+mn-lt"/>
                    <a:ea typeface="+mn-ea"/>
                    <a:cs typeface="+mn-cs"/>
                  </a:rPr>
                  <a:t>ограниченный накопленный набор</a:t>
                </a:r>
              </a:p>
            </p:txBody>
          </p:sp>
          <p:sp>
            <p:nvSpPr>
              <p:cNvPr id="24" name="TextBox 24"/>
              <p:cNvSpPr txBox="1"/>
              <p:nvPr/>
            </p:nvSpPr>
            <p:spPr>
              <a:xfrm>
                <a:off x="3459480" y="3362325"/>
                <a:ext cx="4358572" cy="293370"/>
              </a:xfrm>
              <a:prstGeom prst="rect">
                <a:avLst/>
              </a:prstGeom>
              <a:noFill/>
              <a:ln>
                <a:noFill/>
              </a:ln>
            </p:spPr>
            <p:txBody>
              <a:bodyPr wrap="square" lIns="0" tIns="0" rIns="0" bIns="0" anchor="t" anchorCtr="0">
                <a:spAutoFit/>
              </a:bodyPr>
              <a:lstStyle/>
              <a:p>
                <a:pPr algn="l"/>
                <a:r>
                  <a:rPr lang="ru" sz="1500" dirty="0">
                    <a:solidFill>
                      <a:srgbClr val="4A5663"/>
                    </a:solidFill>
                    <a:latin typeface="+mn-lt"/>
                    <a:ea typeface="+mn-ea"/>
                    <a:cs typeface="+mn-cs"/>
                  </a:rPr>
                  <a:t>по расписанию, например раз в сутки</a:t>
                </a:r>
              </a:p>
            </p:txBody>
          </p:sp>
          <p:sp>
            <p:nvSpPr>
              <p:cNvPr id="25" name="TextBox 25"/>
              <p:cNvSpPr txBox="1"/>
              <p:nvPr/>
            </p:nvSpPr>
            <p:spPr>
              <a:xfrm>
                <a:off x="3459480" y="4162425"/>
                <a:ext cx="1916903" cy="293370"/>
              </a:xfrm>
              <a:prstGeom prst="rect">
                <a:avLst/>
              </a:prstGeom>
              <a:noFill/>
              <a:ln>
                <a:noFill/>
              </a:ln>
            </p:spPr>
            <p:txBody>
              <a:bodyPr wrap="square" lIns="0" tIns="0" rIns="0" bIns="0" anchor="t" anchorCtr="0">
                <a:spAutoFit/>
              </a:bodyPr>
              <a:lstStyle/>
              <a:p>
                <a:pPr algn="l"/>
                <a:r>
                  <a:rPr lang="ru" sz="1500" dirty="0">
                    <a:solidFill>
                      <a:srgbClr val="4A5663"/>
                    </a:solidFill>
                    <a:latin typeface="+mn-lt"/>
                    <a:ea typeface="+mn-ea"/>
                    <a:cs typeface="+mn-cs"/>
                  </a:rPr>
                  <a:t>минуты или часы</a:t>
                </a:r>
              </a:p>
            </p:txBody>
          </p:sp>
          <p:sp>
            <p:nvSpPr>
              <p:cNvPr id="26" name="TextBox 26"/>
              <p:cNvSpPr txBox="1"/>
              <p:nvPr/>
            </p:nvSpPr>
            <p:spPr>
              <a:xfrm>
                <a:off x="3459480" y="4829175"/>
                <a:ext cx="2961182" cy="541020"/>
              </a:xfrm>
              <a:prstGeom prst="rect">
                <a:avLst/>
              </a:prstGeom>
              <a:noFill/>
              <a:ln>
                <a:noFill/>
              </a:ln>
            </p:spPr>
            <p:txBody>
              <a:bodyPr wrap="square" lIns="0" tIns="0" rIns="0" bIns="0" anchor="t" anchorCtr="0">
                <a:spAutoFit/>
              </a:bodyPr>
              <a:lstStyle/>
              <a:p>
                <a:pPr algn="l">
                  <a:lnSpc>
                    <a:spcPts val="1950"/>
                  </a:lnSpc>
                </a:pPr>
                <a:r>
                  <a:rPr lang="ru" sz="1500" dirty="0">
                    <a:solidFill>
                      <a:srgbClr val="4A5663"/>
                    </a:solidFill>
                    <a:latin typeface="+mn-lt"/>
                    <a:ea typeface="+mn-ea"/>
                    <a:cs typeface="+mn-cs"/>
                  </a:rPr>
                  <a:t>отчёты за месяц, обучение</a:t>
                </a:r>
                <a:br>
                  <a:rPr lang="ru" sz="1500" dirty="0">
                    <a:solidFill>
                      <a:srgbClr val="4A5663"/>
                    </a:solidFill>
                    <a:latin typeface="+mn-lt"/>
                    <a:ea typeface="+mn-ea"/>
                    <a:cs typeface="+mn-cs"/>
                  </a:rPr>
                </a:br>
                <a:r>
                  <a:rPr lang="ru" sz="1500" dirty="0">
                    <a:solidFill>
                      <a:srgbClr val="4A5663"/>
                    </a:solidFill>
                    <a:latin typeface="+mn-lt"/>
                    <a:ea typeface="+mn-ea"/>
                    <a:cs typeface="+mn-cs"/>
                  </a:rPr>
                  <a:t>моделей на истории</a:t>
                </a:r>
              </a:p>
            </p:txBody>
          </p:sp>
        </p:grpSp>
        <p:grpSp>
          <p:nvGrpSpPr>
            <p:cNvPr id="32" name="comparison-table-stream"/>
            <p:cNvGrpSpPr/>
            <p:nvPr/>
          </p:nvGrpSpPr>
          <p:grpSpPr>
            <a:xfrm>
              <a:off x="7612380" y="2562225"/>
              <a:ext cx="3526803" cy="2807970"/>
              <a:chOff x="7612380" y="2562225"/>
              <a:chExt cx="3526803" cy="2807970"/>
            </a:xfrm>
          </p:grpSpPr>
          <p:sp>
            <p:nvSpPr>
              <p:cNvPr id="28" name="TextBox 28"/>
              <p:cNvSpPr txBox="1"/>
              <p:nvPr/>
            </p:nvSpPr>
            <p:spPr>
              <a:xfrm>
                <a:off x="7612380" y="2562225"/>
                <a:ext cx="3678337" cy="293370"/>
              </a:xfrm>
              <a:prstGeom prst="rect">
                <a:avLst/>
              </a:prstGeom>
              <a:noFill/>
              <a:ln>
                <a:noFill/>
              </a:ln>
            </p:spPr>
            <p:txBody>
              <a:bodyPr wrap="square" lIns="0" tIns="0" rIns="0" bIns="0" anchor="t" anchorCtr="0">
                <a:spAutoFit/>
              </a:bodyPr>
              <a:lstStyle/>
              <a:p>
                <a:pPr algn="l"/>
                <a:r>
                  <a:rPr lang="ru" sz="1500" dirty="0">
                    <a:solidFill>
                      <a:srgbClr val="17212B"/>
                    </a:solidFill>
                    <a:latin typeface="+mn-lt"/>
                    <a:ea typeface="+mn-ea"/>
                    <a:cs typeface="+mn-cs"/>
                  </a:rPr>
                  <a:t>неограниченный поток событий</a:t>
                </a:r>
              </a:p>
            </p:txBody>
          </p:sp>
          <p:sp>
            <p:nvSpPr>
              <p:cNvPr id="29" name="TextBox 29"/>
              <p:cNvSpPr txBox="1"/>
              <p:nvPr/>
            </p:nvSpPr>
            <p:spPr>
              <a:xfrm>
                <a:off x="7612380" y="3362325"/>
                <a:ext cx="4017765" cy="293370"/>
              </a:xfrm>
              <a:prstGeom prst="rect">
                <a:avLst/>
              </a:prstGeom>
              <a:noFill/>
              <a:ln>
                <a:noFill/>
              </a:ln>
            </p:spPr>
            <p:txBody>
              <a:bodyPr wrap="square" lIns="0" tIns="0" rIns="0" bIns="0" anchor="t" anchorCtr="0">
                <a:spAutoFit/>
              </a:bodyPr>
              <a:lstStyle/>
              <a:p>
                <a:pPr algn="l"/>
                <a:r>
                  <a:rPr lang="ru" sz="1500" dirty="0">
                    <a:solidFill>
                      <a:srgbClr val="17212B"/>
                    </a:solidFill>
                    <a:latin typeface="+mn-lt"/>
                    <a:ea typeface="+mn-ea"/>
                    <a:cs typeface="+mn-cs"/>
                  </a:rPr>
                  <a:t>сразу после поступления события</a:t>
                </a:r>
              </a:p>
            </p:txBody>
          </p:sp>
          <p:sp>
            <p:nvSpPr>
              <p:cNvPr id="30" name="TextBox 30"/>
              <p:cNvSpPr txBox="1"/>
              <p:nvPr/>
            </p:nvSpPr>
            <p:spPr>
              <a:xfrm>
                <a:off x="7612380" y="4162425"/>
                <a:ext cx="3273233" cy="293370"/>
              </a:xfrm>
              <a:prstGeom prst="rect">
                <a:avLst/>
              </a:prstGeom>
              <a:noFill/>
              <a:ln>
                <a:noFill/>
              </a:ln>
            </p:spPr>
            <p:txBody>
              <a:bodyPr wrap="square" lIns="0" tIns="0" rIns="0" bIns="0" anchor="t" anchorCtr="0">
                <a:spAutoFit/>
              </a:bodyPr>
              <a:lstStyle/>
              <a:p>
                <a:pPr algn="l"/>
                <a:r>
                  <a:rPr lang="ru" sz="1500" dirty="0">
                    <a:solidFill>
                      <a:srgbClr val="17212B"/>
                    </a:solidFill>
                    <a:latin typeface="+mn-lt"/>
                    <a:ea typeface="+mn-ea"/>
                    <a:cs typeface="+mn-cs"/>
                  </a:rPr>
                  <a:t>от долей секунды до секунд</a:t>
                </a:r>
              </a:p>
            </p:txBody>
          </p:sp>
          <p:sp>
            <p:nvSpPr>
              <p:cNvPr id="31" name="TextBox 31"/>
              <p:cNvSpPr txBox="1"/>
              <p:nvPr/>
            </p:nvSpPr>
            <p:spPr>
              <a:xfrm>
                <a:off x="7612380" y="4829175"/>
                <a:ext cx="4302699" cy="541020"/>
              </a:xfrm>
              <a:prstGeom prst="rect">
                <a:avLst/>
              </a:prstGeom>
              <a:noFill/>
              <a:ln>
                <a:noFill/>
              </a:ln>
            </p:spPr>
            <p:txBody>
              <a:bodyPr wrap="square" lIns="0" tIns="0" rIns="0" bIns="0" anchor="t" anchorCtr="0">
                <a:spAutoFit/>
              </a:bodyPr>
              <a:lstStyle/>
              <a:p>
                <a:pPr algn="l">
                  <a:lnSpc>
                    <a:spcPts val="1950"/>
                  </a:lnSpc>
                </a:pPr>
                <a:r>
                  <a:rPr lang="ru" sz="1500" dirty="0">
                    <a:solidFill>
                      <a:srgbClr val="17212B"/>
                    </a:solidFill>
                    <a:latin typeface="+mn-lt"/>
                    <a:ea typeface="+mn-ea"/>
                    <a:cs typeface="+mn-cs"/>
                  </a:rPr>
                  <a:t>обнаружение аварий, контроль</a:t>
                </a:r>
                <a:br>
                  <a:rPr lang="ru" sz="1500" dirty="0">
                    <a:solidFill>
                      <a:srgbClr val="17212B"/>
                    </a:solidFill>
                    <a:latin typeface="+mn-lt"/>
                    <a:ea typeface="+mn-ea"/>
                    <a:cs typeface="+mn-cs"/>
                  </a:rPr>
                </a:br>
                <a:r>
                  <a:rPr lang="ru" sz="1500" dirty="0">
                    <a:solidFill>
                      <a:srgbClr val="17212B"/>
                    </a:solidFill>
                    <a:latin typeface="+mn-lt"/>
                    <a:ea typeface="+mn-ea"/>
                    <a:cs typeface="+mn-cs"/>
                  </a:rPr>
                  <a:t>оборудования, мониторинг транспорта</a:t>
                </a:r>
              </a:p>
            </p:txBody>
          </p:sp>
        </p:grpSp>
      </p:grpSp>
      <p:grpSp>
        <p:nvGrpSpPr>
          <p:cNvPr id="36" name="takeaway"/>
          <p:cNvGrpSpPr/>
          <p:nvPr/>
        </p:nvGrpSpPr>
        <p:grpSpPr>
          <a:xfrm>
            <a:off x="609600" y="5753100"/>
            <a:ext cx="6447889" cy="399669"/>
            <a:chOff x="609600" y="5753100"/>
            <a:chExt cx="6447889" cy="399669"/>
          </a:xfrm>
        </p:grpSpPr>
        <p:sp>
          <p:nvSpPr>
            <p:cNvPr id="34" name="Rectangle 34"/>
            <p:cNvSpPr/>
            <p:nvPr/>
          </p:nvSpPr>
          <p:spPr>
            <a:xfrm>
              <a:off x="609600" y="5753100"/>
              <a:ext cx="57150" cy="381000"/>
            </a:xfrm>
            <a:prstGeom prst="rect">
              <a:avLst/>
            </a:prstGeom>
            <a:solidFill>
              <a:srgbClr val="0E6680"/>
            </a:solidFill>
            <a:ln>
              <a:noFill/>
            </a:ln>
          </p:spPr>
        </p:sp>
        <p:sp>
          <p:nvSpPr>
            <p:cNvPr id="35" name="TextBox 35"/>
            <p:cNvSpPr txBox="1"/>
            <p:nvPr/>
          </p:nvSpPr>
          <p:spPr>
            <a:xfrm>
              <a:off x="829056" y="5800725"/>
              <a:ext cx="7598688" cy="352044"/>
            </a:xfrm>
            <a:prstGeom prst="rect">
              <a:avLst/>
            </a:prstGeom>
            <a:noFill/>
            <a:ln>
              <a:noFill/>
            </a:ln>
          </p:spPr>
          <p:txBody>
            <a:bodyPr wrap="square" lIns="0" tIns="0" rIns="0" bIns="0" anchor="t" anchorCtr="0">
              <a:spAutoFit/>
            </a:bodyPr>
            <a:lstStyle/>
            <a:p>
              <a:pPr algn="l"/>
              <a:r>
                <a:rPr lang="ru" sz="1800" dirty="0">
                  <a:solidFill>
                    <a:srgbClr val="17212B"/>
                  </a:solidFill>
                  <a:latin typeface="+mn-lt"/>
                  <a:ea typeface="+mn-ea"/>
                  <a:cs typeface="+mn-cs"/>
                </a:rPr>
                <a:t>На практике два подхода часто дополняют друг друга</a:t>
              </a:r>
            </a:p>
          </p:txBody>
        </p:sp>
      </p:grpSp>
      <p:grpSp>
        <p:nvGrpSpPr>
          <p:cNvPr id="40" name="footer"/>
          <p:cNvGrpSpPr/>
          <p:nvPr/>
        </p:nvGrpSpPr>
        <p:grpSpPr>
          <a:xfrm>
            <a:off x="603504" y="6400800"/>
            <a:ext cx="10984992" cy="348996"/>
            <a:chOff x="603504" y="6400800"/>
            <a:chExt cx="10984992" cy="348996"/>
          </a:xfrm>
        </p:grpSpPr>
        <p:sp>
          <p:nvSpPr>
            <p:cNvPr id="37" name="Line 37"/>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38" name="TextBox 38"/>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39" name="TextBox 39"/>
            <p:cNvSpPr txBox="1"/>
            <p:nvPr/>
          </p:nvSpPr>
          <p:spPr>
            <a:xfrm>
              <a:off x="10943521" y="6515100"/>
              <a:ext cx="644975"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6 / 12</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7111519" cy="1127379"/>
            <a:chOff x="596646" y="381000"/>
            <a:chExt cx="7111519" cy="112737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609600"/>
              <a:ext cx="8676053" cy="898779"/>
            </a:xfrm>
            <a:prstGeom prst="rect">
              <a:avLst/>
            </a:prstGeom>
            <a:noFill/>
            <a:ln>
              <a:noFill/>
            </a:ln>
          </p:spPr>
          <p:txBody>
            <a:bodyPr wrap="square" lIns="0" tIns="0" rIns="0" bIns="0" anchor="t" anchorCtr="0">
              <a:spAutoFit/>
            </a:bodyPr>
            <a:lstStyle/>
            <a:p>
              <a:pPr algn="l">
                <a:lnSpc>
                  <a:spcPts val="3150"/>
                </a:lnSpc>
              </a:pPr>
              <a:r>
                <a:rPr lang="ru" sz="2550" b="1" dirty="0">
                  <a:solidFill>
                    <a:srgbClr val="17212B"/>
                  </a:solidFill>
                  <a:latin typeface="+mn-lt"/>
                  <a:ea typeface="+mn-ea"/>
                  <a:cs typeface="+mn-cs"/>
                </a:rPr>
                <a:t>Анализ потока опирается на время события,</a:t>
              </a:r>
              <a:br>
                <a:rPr lang="ru" sz="2550" b="1" dirty="0">
                  <a:solidFill>
                    <a:srgbClr val="17212B"/>
                  </a:solidFill>
                  <a:latin typeface="+mn-lt"/>
                  <a:ea typeface="+mn-ea"/>
                  <a:cs typeface="+mn-cs"/>
                </a:rPr>
              </a:br>
              <a:r>
                <a:rPr lang="ru" sz="2550" b="1" dirty="0">
                  <a:solidFill>
                    <a:srgbClr val="17212B"/>
                  </a:solidFill>
                  <a:latin typeface="+mn-lt"/>
                  <a:ea typeface="+mn-ea"/>
                  <a:cs typeface="+mn-cs"/>
                </a:rPr>
                <a:t>а не на время поступления</a:t>
              </a:r>
            </a:p>
          </p:txBody>
        </p:sp>
      </p:grpSp>
      <p:grpSp>
        <p:nvGrpSpPr>
          <p:cNvPr id="54" name="time-diagram"/>
          <p:cNvGrpSpPr/>
          <p:nvPr/>
        </p:nvGrpSpPr>
        <p:grpSpPr>
          <a:xfrm>
            <a:off x="601980" y="1962150"/>
            <a:ext cx="10885170" cy="3035046"/>
            <a:chOff x="601980" y="1962150"/>
            <a:chExt cx="10885170" cy="3035046"/>
          </a:xfrm>
        </p:grpSpPr>
        <p:grpSp>
          <p:nvGrpSpPr>
            <p:cNvPr id="9" name="axis-labels"/>
            <p:cNvGrpSpPr/>
            <p:nvPr/>
          </p:nvGrpSpPr>
          <p:grpSpPr>
            <a:xfrm>
              <a:off x="601980" y="2133600"/>
              <a:ext cx="1124783" cy="2844546"/>
              <a:chOff x="601980" y="2133600"/>
              <a:chExt cx="1124783" cy="2844546"/>
            </a:xfrm>
          </p:grpSpPr>
          <p:sp>
            <p:nvSpPr>
              <p:cNvPr id="5" name="TextBox 5"/>
              <p:cNvSpPr txBox="1"/>
              <p:nvPr/>
            </p:nvSpPr>
            <p:spPr>
              <a:xfrm>
                <a:off x="601980" y="2133600"/>
                <a:ext cx="1013936" cy="521970"/>
              </a:xfrm>
              <a:prstGeom prst="rect">
                <a:avLst/>
              </a:prstGeom>
              <a:noFill/>
              <a:ln>
                <a:noFill/>
              </a:ln>
            </p:spPr>
            <p:txBody>
              <a:bodyPr wrap="square" lIns="0" tIns="0" rIns="0" bIns="0" anchor="t" anchorCtr="0">
                <a:spAutoFit/>
              </a:bodyPr>
              <a:lstStyle/>
              <a:p>
                <a:pPr algn="l">
                  <a:lnSpc>
                    <a:spcPts val="1800"/>
                  </a:lnSpc>
                </a:pPr>
                <a:r>
                  <a:rPr lang="ru" sz="1500" b="1" dirty="0">
                    <a:solidFill>
                      <a:srgbClr val="17212B"/>
                    </a:solidFill>
                    <a:latin typeface="+mn-lt"/>
                    <a:ea typeface="+mn-ea"/>
                    <a:cs typeface="+mn-cs"/>
                  </a:rPr>
                  <a:t>Время</a:t>
                </a:r>
                <a:br>
                  <a:rPr lang="ru" sz="1500" b="1" dirty="0">
                    <a:solidFill>
                      <a:srgbClr val="17212B"/>
                    </a:solidFill>
                    <a:latin typeface="+mn-lt"/>
                    <a:ea typeface="+mn-ea"/>
                    <a:cs typeface="+mn-cs"/>
                  </a:rPr>
                </a:br>
                <a:r>
                  <a:rPr lang="ru" sz="1500" b="1" dirty="0">
                    <a:solidFill>
                      <a:srgbClr val="17212B"/>
                    </a:solidFill>
                    <a:latin typeface="+mn-lt"/>
                    <a:ea typeface="+mn-ea"/>
                    <a:cs typeface="+mn-cs"/>
                  </a:rPr>
                  <a:t>события</a:t>
                </a:r>
              </a:p>
            </p:txBody>
          </p:sp>
          <p:sp>
            <p:nvSpPr>
              <p:cNvPr id="6" name="TextBox 6"/>
              <p:cNvSpPr txBox="1"/>
              <p:nvPr/>
            </p:nvSpPr>
            <p:spPr>
              <a:xfrm>
                <a:off x="603504" y="2647950"/>
                <a:ext cx="1370375"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на устройстве</a:t>
                </a:r>
              </a:p>
            </p:txBody>
          </p:sp>
          <p:sp>
            <p:nvSpPr>
              <p:cNvPr id="7" name="TextBox 7"/>
              <p:cNvSpPr txBox="1"/>
              <p:nvPr/>
            </p:nvSpPr>
            <p:spPr>
              <a:xfrm>
                <a:off x="601980" y="4229100"/>
                <a:ext cx="1233964" cy="521970"/>
              </a:xfrm>
              <a:prstGeom prst="rect">
                <a:avLst/>
              </a:prstGeom>
              <a:noFill/>
              <a:ln>
                <a:noFill/>
              </a:ln>
            </p:spPr>
            <p:txBody>
              <a:bodyPr wrap="square" lIns="0" tIns="0" rIns="0" bIns="0" anchor="t" anchorCtr="0">
                <a:spAutoFit/>
              </a:bodyPr>
              <a:lstStyle/>
              <a:p>
                <a:pPr algn="l">
                  <a:lnSpc>
                    <a:spcPts val="1800"/>
                  </a:lnSpc>
                </a:pPr>
                <a:r>
                  <a:rPr lang="ru" sz="1500" b="1" dirty="0">
                    <a:solidFill>
                      <a:srgbClr val="17212B"/>
                    </a:solidFill>
                    <a:latin typeface="+mn-lt"/>
                    <a:ea typeface="+mn-ea"/>
                    <a:cs typeface="+mn-cs"/>
                  </a:rPr>
                  <a:t>Время</a:t>
                </a:r>
                <a:br>
                  <a:rPr lang="ru" sz="1500" b="1" dirty="0">
                    <a:solidFill>
                      <a:srgbClr val="17212B"/>
                    </a:solidFill>
                    <a:latin typeface="+mn-lt"/>
                    <a:ea typeface="+mn-ea"/>
                    <a:cs typeface="+mn-cs"/>
                  </a:rPr>
                </a:br>
                <a:r>
                  <a:rPr lang="ru" sz="1500" b="1" dirty="0">
                    <a:solidFill>
                      <a:srgbClr val="17212B"/>
                    </a:solidFill>
                    <a:latin typeface="+mn-lt"/>
                    <a:ea typeface="+mn-ea"/>
                    <a:cs typeface="+mn-cs"/>
                  </a:rPr>
                  <a:t>обработки</a:t>
                </a:r>
              </a:p>
            </p:txBody>
          </p:sp>
          <p:sp>
            <p:nvSpPr>
              <p:cNvPr id="8" name="TextBox 8"/>
              <p:cNvSpPr txBox="1"/>
              <p:nvPr/>
            </p:nvSpPr>
            <p:spPr>
              <a:xfrm>
                <a:off x="603504" y="4743450"/>
                <a:ext cx="996463"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в системе</a:t>
                </a:r>
              </a:p>
            </p:txBody>
          </p:sp>
        </p:grpSp>
        <p:grpSp>
          <p:nvGrpSpPr>
            <p:cNvPr id="12" name="axes"/>
            <p:cNvGrpSpPr/>
            <p:nvPr/>
          </p:nvGrpSpPr>
          <p:grpSpPr>
            <a:xfrm>
              <a:off x="1905000" y="2381250"/>
              <a:ext cx="9582150" cy="2095501"/>
              <a:chOff x="1905000" y="2381250"/>
              <a:chExt cx="9582150" cy="2095501"/>
            </a:xfrm>
          </p:grpSpPr>
          <p:sp>
            <p:nvSpPr>
              <p:cNvPr id="10" name="Line 10"/>
              <p:cNvSpPr/>
              <p:nvPr/>
            </p:nvSpPr>
            <p:spPr>
              <a:xfrm>
                <a:off x="1905000" y="2381250"/>
                <a:ext cx="9582150" cy="1"/>
              </a:xfrm>
              <a:prstGeom prst="line">
                <a:avLst/>
              </a:prstGeom>
              <a:noFill/>
              <a:ln w="19050">
                <a:solidFill>
                  <a:srgbClr val="4A5663"/>
                </a:solidFill>
                <a:tailEnd type="triangle" w="lg" len="lg"/>
              </a:ln>
            </p:spPr>
          </p:sp>
          <p:sp>
            <p:nvSpPr>
              <p:cNvPr id="11" name="Line 11"/>
              <p:cNvSpPr/>
              <p:nvPr/>
            </p:nvSpPr>
            <p:spPr>
              <a:xfrm>
                <a:off x="1905000" y="4476750"/>
                <a:ext cx="9582150" cy="1"/>
              </a:xfrm>
              <a:prstGeom prst="line">
                <a:avLst/>
              </a:prstGeom>
              <a:noFill/>
              <a:ln w="19050">
                <a:solidFill>
                  <a:srgbClr val="4A5663"/>
                </a:solidFill>
                <a:tailEnd type="triangle" w="lg" len="lg"/>
              </a:ln>
            </p:spPr>
          </p:sp>
        </p:grpSp>
        <p:grpSp>
          <p:nvGrpSpPr>
            <p:cNvPr id="19" name="event-time-ticks"/>
            <p:cNvGrpSpPr/>
            <p:nvPr/>
          </p:nvGrpSpPr>
          <p:grpSpPr>
            <a:xfrm>
              <a:off x="3215866" y="1962150"/>
              <a:ext cx="7379519" cy="234696"/>
              <a:chOff x="3215866" y="1962150"/>
              <a:chExt cx="7379519" cy="234696"/>
            </a:xfrm>
          </p:grpSpPr>
          <p:sp>
            <p:nvSpPr>
              <p:cNvPr id="13" name="TextBox 13"/>
              <p:cNvSpPr txBox="1"/>
              <p:nvPr/>
            </p:nvSpPr>
            <p:spPr>
              <a:xfrm>
                <a:off x="3101566" y="1962150"/>
                <a:ext cx="464369"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1 с</a:t>
                </a:r>
              </a:p>
            </p:txBody>
          </p:sp>
          <p:sp>
            <p:nvSpPr>
              <p:cNvPr id="14" name="TextBox 14"/>
              <p:cNvSpPr txBox="1"/>
              <p:nvPr/>
            </p:nvSpPr>
            <p:spPr>
              <a:xfrm>
                <a:off x="4530316" y="1962150"/>
                <a:ext cx="464369"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2 с</a:t>
                </a:r>
              </a:p>
            </p:txBody>
          </p:sp>
          <p:sp>
            <p:nvSpPr>
              <p:cNvPr id="15" name="TextBox 15"/>
              <p:cNvSpPr txBox="1"/>
              <p:nvPr/>
            </p:nvSpPr>
            <p:spPr>
              <a:xfrm>
                <a:off x="5959066" y="1962150"/>
                <a:ext cx="464369"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3 с</a:t>
                </a:r>
              </a:p>
            </p:txBody>
          </p:sp>
          <p:sp>
            <p:nvSpPr>
              <p:cNvPr id="16" name="TextBox 16"/>
              <p:cNvSpPr txBox="1"/>
              <p:nvPr/>
            </p:nvSpPr>
            <p:spPr>
              <a:xfrm>
                <a:off x="7387816" y="1962150"/>
                <a:ext cx="464369"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4 с</a:t>
                </a:r>
              </a:p>
            </p:txBody>
          </p:sp>
          <p:sp>
            <p:nvSpPr>
              <p:cNvPr id="17" name="TextBox 17"/>
              <p:cNvSpPr txBox="1"/>
              <p:nvPr/>
            </p:nvSpPr>
            <p:spPr>
              <a:xfrm>
                <a:off x="8816566" y="1962150"/>
                <a:ext cx="464369"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5 с</a:t>
                </a:r>
              </a:p>
            </p:txBody>
          </p:sp>
          <p:sp>
            <p:nvSpPr>
              <p:cNvPr id="18" name="TextBox 18"/>
              <p:cNvSpPr txBox="1"/>
              <p:nvPr/>
            </p:nvSpPr>
            <p:spPr>
              <a:xfrm>
                <a:off x="10245316" y="1962150"/>
                <a:ext cx="464369"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6 с</a:t>
                </a:r>
              </a:p>
            </p:txBody>
          </p:sp>
        </p:grpSp>
        <p:grpSp>
          <p:nvGrpSpPr>
            <p:cNvPr id="22" name="tick-marks"/>
            <p:cNvGrpSpPr/>
            <p:nvPr/>
          </p:nvGrpSpPr>
          <p:grpSpPr>
            <a:xfrm>
              <a:off x="9048750" y="2324100"/>
              <a:ext cx="1438275" cy="114300"/>
              <a:chOff x="9048750" y="2324100"/>
              <a:chExt cx="1438275" cy="114300"/>
            </a:xfrm>
          </p:grpSpPr>
          <p:sp>
            <p:nvSpPr>
              <p:cNvPr id="20" name="Line 20"/>
              <p:cNvSpPr/>
              <p:nvPr/>
            </p:nvSpPr>
            <p:spPr>
              <a:xfrm>
                <a:off x="9048750" y="2324100"/>
                <a:ext cx="9525" cy="114300"/>
              </a:xfrm>
              <a:custGeom>
                <a:avLst/>
                <a:gdLst/>
                <a:ahLst/>
                <a:cxnLst/>
                <a:rect l="l" t="t" r="r" b="b"/>
                <a:pathLst>
                  <a:path w="9525" h="114300">
                    <a:moveTo>
                      <a:pt x="0" y="0"/>
                    </a:moveTo>
                    <a:lnTo>
                      <a:pt x="0" y="114300"/>
                    </a:lnTo>
                  </a:path>
                </a:pathLst>
              </a:custGeom>
              <a:noFill/>
              <a:ln w="19050">
                <a:solidFill>
                  <a:srgbClr val="4A5663"/>
                </a:solidFill>
              </a:ln>
            </p:spPr>
          </p:sp>
          <p:sp>
            <p:nvSpPr>
              <p:cNvPr id="21" name="Line 21"/>
              <p:cNvSpPr/>
              <p:nvPr/>
            </p:nvSpPr>
            <p:spPr>
              <a:xfrm>
                <a:off x="10477500" y="2324100"/>
                <a:ext cx="9525" cy="114300"/>
              </a:xfrm>
              <a:custGeom>
                <a:avLst/>
                <a:gdLst/>
                <a:ahLst/>
                <a:cxnLst/>
                <a:rect l="l" t="t" r="r" b="b"/>
                <a:pathLst>
                  <a:path w="9525" h="114300">
                    <a:moveTo>
                      <a:pt x="0" y="0"/>
                    </a:moveTo>
                    <a:lnTo>
                      <a:pt x="0" y="114300"/>
                    </a:lnTo>
                  </a:path>
                </a:pathLst>
              </a:custGeom>
              <a:noFill/>
              <a:ln w="19050">
                <a:solidFill>
                  <a:srgbClr val="4A5663"/>
                </a:solidFill>
              </a:ln>
            </p:spPr>
          </p:sp>
        </p:grpSp>
        <p:grpSp>
          <p:nvGrpSpPr>
            <p:cNvPr id="26" name="transit-lines"/>
            <p:cNvGrpSpPr/>
            <p:nvPr/>
          </p:nvGrpSpPr>
          <p:grpSpPr>
            <a:xfrm>
              <a:off x="3362325" y="2552700"/>
              <a:ext cx="4943475" cy="1733550"/>
              <a:chOff x="3362325" y="2552700"/>
              <a:chExt cx="4943475" cy="1733550"/>
            </a:xfrm>
          </p:grpSpPr>
          <p:sp>
            <p:nvSpPr>
              <p:cNvPr id="23" name="Line 23"/>
              <p:cNvSpPr/>
              <p:nvPr/>
            </p:nvSpPr>
            <p:spPr>
              <a:xfrm>
                <a:off x="3362325" y="2552700"/>
                <a:ext cx="800100" cy="1733550"/>
              </a:xfrm>
              <a:prstGeom prst="line">
                <a:avLst/>
              </a:prstGeom>
              <a:noFill/>
              <a:ln w="19050">
                <a:solidFill>
                  <a:srgbClr val="8A96A1"/>
                </a:solidFill>
                <a:tailEnd type="triangle" w="lg" len="lg"/>
              </a:ln>
            </p:spPr>
          </p:sp>
          <p:sp>
            <p:nvSpPr>
              <p:cNvPr id="24" name="Line 24"/>
              <p:cNvSpPr/>
              <p:nvPr/>
            </p:nvSpPr>
            <p:spPr>
              <a:xfrm>
                <a:off x="4791075" y="2552700"/>
                <a:ext cx="657225" cy="1733550"/>
              </a:xfrm>
              <a:prstGeom prst="line">
                <a:avLst/>
              </a:prstGeom>
              <a:noFill/>
              <a:ln w="19050">
                <a:solidFill>
                  <a:srgbClr val="8A96A1"/>
                </a:solidFill>
                <a:tailEnd type="triangle" w="lg" len="lg"/>
              </a:ln>
            </p:spPr>
          </p:sp>
          <p:sp>
            <p:nvSpPr>
              <p:cNvPr id="25" name="Line 25"/>
              <p:cNvSpPr/>
              <p:nvPr/>
            </p:nvSpPr>
            <p:spPr>
              <a:xfrm>
                <a:off x="7648575" y="2552700"/>
                <a:ext cx="657225" cy="1733550"/>
              </a:xfrm>
              <a:prstGeom prst="line">
                <a:avLst/>
              </a:prstGeom>
              <a:noFill/>
              <a:ln w="19050">
                <a:solidFill>
                  <a:srgbClr val="8A96A1"/>
                </a:solidFill>
                <a:tailEnd type="triangle" w="lg" len="lg"/>
              </a:ln>
            </p:spPr>
          </p:sp>
        </p:grpSp>
        <p:sp>
          <p:nvSpPr>
            <p:cNvPr id="27" name="Line 27"/>
            <p:cNvSpPr/>
            <p:nvPr/>
          </p:nvSpPr>
          <p:spPr>
            <a:xfrm>
              <a:off x="6305550" y="2514600"/>
              <a:ext cx="3924300" cy="1828800"/>
            </a:xfrm>
            <a:prstGeom prst="line">
              <a:avLst/>
            </a:prstGeom>
            <a:noFill/>
            <a:ln w="19050">
              <a:solidFill>
                <a:srgbClr val="B35A12"/>
              </a:solidFill>
              <a:tailEnd type="triangle" w="lg" len="lg"/>
            </a:ln>
          </p:spPr>
        </p:sp>
        <p:grpSp>
          <p:nvGrpSpPr>
            <p:cNvPr id="30" name="watermark"/>
            <p:cNvGrpSpPr/>
            <p:nvPr/>
          </p:nvGrpSpPr>
          <p:grpSpPr>
            <a:xfrm>
              <a:off x="8198724" y="2705100"/>
              <a:ext cx="1700052" cy="2057400"/>
              <a:chOff x="8198724" y="2705100"/>
              <a:chExt cx="1700052" cy="2057400"/>
            </a:xfrm>
          </p:grpSpPr>
          <p:sp>
            <p:nvSpPr>
              <p:cNvPr id="28" name="Line 28"/>
              <p:cNvSpPr/>
              <p:nvPr/>
            </p:nvSpPr>
            <p:spPr>
              <a:xfrm>
                <a:off x="9048750" y="2971800"/>
                <a:ext cx="9525" cy="1790700"/>
              </a:xfrm>
              <a:custGeom>
                <a:avLst/>
                <a:gdLst/>
                <a:ahLst/>
                <a:cxnLst/>
                <a:rect l="l" t="t" r="r" b="b"/>
                <a:pathLst>
                  <a:path w="9525" h="1790700">
                    <a:moveTo>
                      <a:pt x="0" y="0"/>
                    </a:moveTo>
                    <a:lnTo>
                      <a:pt x="0" y="1790700"/>
                    </a:lnTo>
                  </a:path>
                </a:pathLst>
              </a:custGeom>
              <a:noFill/>
              <a:ln w="19050">
                <a:solidFill>
                  <a:srgbClr val="17212B"/>
                </a:solidFill>
                <a:prstDash val="lgDash"/>
              </a:ln>
            </p:spPr>
          </p:sp>
          <p:sp>
            <p:nvSpPr>
              <p:cNvPr id="29" name="TextBox 29"/>
              <p:cNvSpPr txBox="1"/>
              <p:nvPr/>
            </p:nvSpPr>
            <p:spPr>
              <a:xfrm>
                <a:off x="8011719" y="2705100"/>
                <a:ext cx="2074063" cy="234696"/>
              </a:xfrm>
              <a:prstGeom prst="rect">
                <a:avLst/>
              </a:prstGeom>
              <a:noFill/>
              <a:ln>
                <a:noFill/>
              </a:ln>
            </p:spPr>
            <p:txBody>
              <a:bodyPr wrap="square" lIns="0" tIns="0" rIns="0" bIns="0" anchor="t" anchorCtr="0">
                <a:spAutoFit/>
              </a:bodyPr>
              <a:lstStyle/>
              <a:p>
                <a:pPr algn="ctr"/>
                <a:r>
                  <a:rPr lang="ru" sz="1200" b="1" dirty="0">
                    <a:solidFill>
                      <a:srgbClr val="17212B"/>
                    </a:solidFill>
                    <a:latin typeface="+mn-lt"/>
                    <a:ea typeface="+mn-ea"/>
                    <a:cs typeface="+mn-cs"/>
                  </a:rPr>
                  <a:t>водяной знак W = 4 с</a:t>
                </a:r>
              </a:p>
            </p:txBody>
          </p:sp>
        </p:grpSp>
        <p:grpSp>
          <p:nvGrpSpPr>
            <p:cNvPr id="41" name="events-at-source"/>
            <p:cNvGrpSpPr/>
            <p:nvPr/>
          </p:nvGrpSpPr>
          <p:grpSpPr>
            <a:xfrm>
              <a:off x="3181350" y="2228850"/>
              <a:ext cx="4591050" cy="304800"/>
              <a:chOff x="3181350" y="2228850"/>
              <a:chExt cx="4591050" cy="304800"/>
            </a:xfrm>
          </p:grpSpPr>
          <p:grpSp>
            <p:nvGrpSpPr>
              <p:cNvPr id="34" name="Group 34"/>
              <p:cNvGrpSpPr/>
              <p:nvPr/>
            </p:nvGrpSpPr>
            <p:grpSpPr>
              <a:xfrm>
                <a:off x="3181350" y="2228850"/>
                <a:ext cx="4591050" cy="304800"/>
                <a:chOff x="3181350" y="2228850"/>
                <a:chExt cx="4591050" cy="304800"/>
              </a:xfrm>
            </p:grpSpPr>
            <p:sp>
              <p:nvSpPr>
                <p:cNvPr id="31" name="Ellipse 31"/>
                <p:cNvSpPr/>
                <p:nvPr/>
              </p:nvSpPr>
              <p:spPr>
                <a:xfrm>
                  <a:off x="3181350" y="2228850"/>
                  <a:ext cx="304800" cy="304800"/>
                </a:xfrm>
                <a:prstGeom prst="ellipse">
                  <a:avLst/>
                </a:prstGeom>
                <a:solidFill>
                  <a:srgbClr val="0E6680"/>
                </a:solidFill>
                <a:ln>
                  <a:noFill/>
                </a:ln>
              </p:spPr>
            </p:sp>
            <p:sp>
              <p:nvSpPr>
                <p:cNvPr id="32" name="Ellipse 32"/>
                <p:cNvSpPr/>
                <p:nvPr/>
              </p:nvSpPr>
              <p:spPr>
                <a:xfrm>
                  <a:off x="4610100" y="2228850"/>
                  <a:ext cx="304800" cy="304800"/>
                </a:xfrm>
                <a:prstGeom prst="ellipse">
                  <a:avLst/>
                </a:prstGeom>
                <a:solidFill>
                  <a:srgbClr val="0E6680"/>
                </a:solidFill>
                <a:ln>
                  <a:noFill/>
                </a:ln>
              </p:spPr>
            </p:sp>
            <p:sp>
              <p:nvSpPr>
                <p:cNvPr id="33" name="Ellipse 33"/>
                <p:cNvSpPr/>
                <p:nvPr/>
              </p:nvSpPr>
              <p:spPr>
                <a:xfrm>
                  <a:off x="7467600" y="2228850"/>
                  <a:ext cx="304800" cy="304800"/>
                </a:xfrm>
                <a:prstGeom prst="ellipse">
                  <a:avLst/>
                </a:prstGeom>
                <a:solidFill>
                  <a:srgbClr val="0E6680"/>
                </a:solidFill>
                <a:ln>
                  <a:noFill/>
                </a:ln>
              </p:spPr>
            </p:sp>
          </p:grpSp>
          <p:sp>
            <p:nvSpPr>
              <p:cNvPr id="35" name="Ellipse 35"/>
              <p:cNvSpPr/>
              <p:nvPr/>
            </p:nvSpPr>
            <p:spPr>
              <a:xfrm>
                <a:off x="6038850" y="2228850"/>
                <a:ext cx="304800" cy="304800"/>
              </a:xfrm>
              <a:prstGeom prst="ellipse">
                <a:avLst/>
              </a:prstGeom>
              <a:solidFill>
                <a:srgbClr val="B35A12"/>
              </a:solidFill>
              <a:ln>
                <a:noFill/>
              </a:ln>
            </p:spPr>
          </p:sp>
          <p:grpSp>
            <p:nvGrpSpPr>
              <p:cNvPr id="40" name="Group 40"/>
              <p:cNvGrpSpPr/>
              <p:nvPr/>
            </p:nvGrpSpPr>
            <p:grpSpPr>
              <a:xfrm>
                <a:off x="3282729" y="2286000"/>
                <a:ext cx="4388293" cy="234696"/>
                <a:chOff x="3282729" y="2286000"/>
                <a:chExt cx="4388293" cy="234696"/>
              </a:xfrm>
            </p:grpSpPr>
            <p:sp>
              <p:nvSpPr>
                <p:cNvPr id="36" name="TextBox 36"/>
                <p:cNvSpPr txBox="1"/>
                <p:nvPr/>
              </p:nvSpPr>
              <p:spPr>
                <a:xfrm>
                  <a:off x="3168429" y="2286000"/>
                  <a:ext cx="330643"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1</a:t>
                  </a:r>
                </a:p>
              </p:txBody>
            </p:sp>
            <p:sp>
              <p:nvSpPr>
                <p:cNvPr id="37" name="TextBox 37"/>
                <p:cNvSpPr txBox="1"/>
                <p:nvPr/>
              </p:nvSpPr>
              <p:spPr>
                <a:xfrm>
                  <a:off x="4597179" y="2286000"/>
                  <a:ext cx="330643"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2</a:t>
                  </a:r>
                </a:p>
              </p:txBody>
            </p:sp>
            <p:sp>
              <p:nvSpPr>
                <p:cNvPr id="38" name="TextBox 38"/>
                <p:cNvSpPr txBox="1"/>
                <p:nvPr/>
              </p:nvSpPr>
              <p:spPr>
                <a:xfrm>
                  <a:off x="6025929" y="2286000"/>
                  <a:ext cx="330643"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3</a:t>
                  </a:r>
                </a:p>
              </p:txBody>
            </p:sp>
            <p:sp>
              <p:nvSpPr>
                <p:cNvPr id="39" name="TextBox 39"/>
                <p:cNvSpPr txBox="1"/>
                <p:nvPr/>
              </p:nvSpPr>
              <p:spPr>
                <a:xfrm>
                  <a:off x="7454679" y="2286000"/>
                  <a:ext cx="330643"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4</a:t>
                  </a:r>
                </a:p>
              </p:txBody>
            </p:sp>
          </p:grpSp>
        </p:grpSp>
        <p:grpSp>
          <p:nvGrpSpPr>
            <p:cNvPr id="52" name="events-at-system"/>
            <p:cNvGrpSpPr/>
            <p:nvPr/>
          </p:nvGrpSpPr>
          <p:grpSpPr>
            <a:xfrm>
              <a:off x="4038600" y="4324350"/>
              <a:ext cx="6448425" cy="304800"/>
              <a:chOff x="4038600" y="4324350"/>
              <a:chExt cx="6448425" cy="304800"/>
            </a:xfrm>
          </p:grpSpPr>
          <p:grpSp>
            <p:nvGrpSpPr>
              <p:cNvPr id="45" name="Group 45"/>
              <p:cNvGrpSpPr/>
              <p:nvPr/>
            </p:nvGrpSpPr>
            <p:grpSpPr>
              <a:xfrm>
                <a:off x="4038600" y="4324350"/>
                <a:ext cx="4448175" cy="304800"/>
                <a:chOff x="4038600" y="4324350"/>
                <a:chExt cx="4448175" cy="304800"/>
              </a:xfrm>
            </p:grpSpPr>
            <p:sp>
              <p:nvSpPr>
                <p:cNvPr id="42" name="Ellipse 42"/>
                <p:cNvSpPr/>
                <p:nvPr/>
              </p:nvSpPr>
              <p:spPr>
                <a:xfrm>
                  <a:off x="4038600" y="4324350"/>
                  <a:ext cx="304800" cy="304800"/>
                </a:xfrm>
                <a:prstGeom prst="ellipse">
                  <a:avLst/>
                </a:prstGeom>
                <a:solidFill>
                  <a:srgbClr val="0E6680"/>
                </a:solidFill>
                <a:ln>
                  <a:noFill/>
                </a:ln>
              </p:spPr>
            </p:sp>
            <p:sp>
              <p:nvSpPr>
                <p:cNvPr id="43" name="Ellipse 43"/>
                <p:cNvSpPr/>
                <p:nvPr/>
              </p:nvSpPr>
              <p:spPr>
                <a:xfrm>
                  <a:off x="5324475" y="4324350"/>
                  <a:ext cx="304800" cy="304800"/>
                </a:xfrm>
                <a:prstGeom prst="ellipse">
                  <a:avLst/>
                </a:prstGeom>
                <a:solidFill>
                  <a:srgbClr val="0E6680"/>
                </a:solidFill>
                <a:ln>
                  <a:noFill/>
                </a:ln>
              </p:spPr>
            </p:sp>
            <p:sp>
              <p:nvSpPr>
                <p:cNvPr id="44" name="Ellipse 44"/>
                <p:cNvSpPr/>
                <p:nvPr/>
              </p:nvSpPr>
              <p:spPr>
                <a:xfrm>
                  <a:off x="8181975" y="4324350"/>
                  <a:ext cx="304800" cy="304800"/>
                </a:xfrm>
                <a:prstGeom prst="ellipse">
                  <a:avLst/>
                </a:prstGeom>
                <a:solidFill>
                  <a:srgbClr val="0E6680"/>
                </a:solidFill>
                <a:ln>
                  <a:noFill/>
                </a:ln>
              </p:spPr>
            </p:sp>
          </p:grpSp>
          <p:sp>
            <p:nvSpPr>
              <p:cNvPr id="46" name="Ellipse 46"/>
              <p:cNvSpPr/>
              <p:nvPr/>
            </p:nvSpPr>
            <p:spPr>
              <a:xfrm>
                <a:off x="10182225" y="4324350"/>
                <a:ext cx="304800" cy="304800"/>
              </a:xfrm>
              <a:prstGeom prst="ellipse">
                <a:avLst/>
              </a:prstGeom>
              <a:solidFill>
                <a:srgbClr val="B35A12"/>
              </a:solidFill>
              <a:ln>
                <a:noFill/>
              </a:ln>
            </p:spPr>
          </p:sp>
          <p:grpSp>
            <p:nvGrpSpPr>
              <p:cNvPr id="51" name="Group 51"/>
              <p:cNvGrpSpPr/>
              <p:nvPr/>
            </p:nvGrpSpPr>
            <p:grpSpPr>
              <a:xfrm>
                <a:off x="4139979" y="4381500"/>
                <a:ext cx="6245668" cy="234696"/>
                <a:chOff x="4139979" y="4381500"/>
                <a:chExt cx="6245668" cy="234696"/>
              </a:xfrm>
            </p:grpSpPr>
            <p:sp>
              <p:nvSpPr>
                <p:cNvPr id="47" name="TextBox 47"/>
                <p:cNvSpPr txBox="1"/>
                <p:nvPr/>
              </p:nvSpPr>
              <p:spPr>
                <a:xfrm>
                  <a:off x="4025679" y="4381500"/>
                  <a:ext cx="330643"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1</a:t>
                  </a:r>
                </a:p>
              </p:txBody>
            </p:sp>
            <p:sp>
              <p:nvSpPr>
                <p:cNvPr id="48" name="TextBox 48"/>
                <p:cNvSpPr txBox="1"/>
                <p:nvPr/>
              </p:nvSpPr>
              <p:spPr>
                <a:xfrm>
                  <a:off x="5311554" y="4381500"/>
                  <a:ext cx="330643"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2</a:t>
                  </a:r>
                </a:p>
              </p:txBody>
            </p:sp>
            <p:sp>
              <p:nvSpPr>
                <p:cNvPr id="49" name="TextBox 49"/>
                <p:cNvSpPr txBox="1"/>
                <p:nvPr/>
              </p:nvSpPr>
              <p:spPr>
                <a:xfrm>
                  <a:off x="10169304" y="4381500"/>
                  <a:ext cx="330643"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3</a:t>
                  </a:r>
                </a:p>
              </p:txBody>
            </p:sp>
            <p:sp>
              <p:nvSpPr>
                <p:cNvPr id="50" name="TextBox 50"/>
                <p:cNvSpPr txBox="1"/>
                <p:nvPr/>
              </p:nvSpPr>
              <p:spPr>
                <a:xfrm>
                  <a:off x="8169054" y="4381500"/>
                  <a:ext cx="330643"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4</a:t>
                  </a:r>
                </a:p>
              </p:txBody>
            </p:sp>
          </p:grpSp>
        </p:grpSp>
        <p:sp>
          <p:nvSpPr>
            <p:cNvPr id="53" name="TextBox 53"/>
            <p:cNvSpPr txBox="1"/>
            <p:nvPr/>
          </p:nvSpPr>
          <p:spPr>
            <a:xfrm>
              <a:off x="9404660" y="4762500"/>
              <a:ext cx="1859932" cy="234696"/>
            </a:xfrm>
            <a:prstGeom prst="rect">
              <a:avLst/>
            </a:prstGeom>
            <a:noFill/>
            <a:ln>
              <a:noFill/>
            </a:ln>
          </p:spPr>
          <p:txBody>
            <a:bodyPr wrap="square" lIns="0" tIns="0" rIns="0" bIns="0" anchor="t" anchorCtr="0">
              <a:spAutoFit/>
            </a:bodyPr>
            <a:lstStyle/>
            <a:p>
              <a:pPr algn="ctr"/>
              <a:r>
                <a:rPr lang="ru" sz="1200" dirty="0">
                  <a:solidFill>
                    <a:srgbClr val="B35A12"/>
                  </a:solidFill>
                  <a:latin typeface="+mn-lt"/>
                  <a:ea typeface="+mn-ea"/>
                  <a:cs typeface="+mn-cs"/>
                </a:rPr>
                <a:t>событие 3 опоздало</a:t>
              </a:r>
            </a:p>
          </p:txBody>
        </p:sp>
      </p:grpSp>
      <p:sp>
        <p:nvSpPr>
          <p:cNvPr id="55" name="TextBox 55"/>
          <p:cNvSpPr txBox="1"/>
          <p:nvPr/>
        </p:nvSpPr>
        <p:spPr>
          <a:xfrm>
            <a:off x="601980" y="5245100"/>
            <a:ext cx="7182026" cy="826770"/>
          </a:xfrm>
          <a:prstGeom prst="rect">
            <a:avLst/>
          </a:prstGeom>
          <a:noFill/>
          <a:ln>
            <a:noFill/>
          </a:ln>
        </p:spPr>
        <p:txBody>
          <a:bodyPr wrap="square" lIns="0" tIns="0" rIns="0" bIns="0" anchor="t" anchorCtr="0">
            <a:spAutoFit/>
          </a:bodyPr>
          <a:lstStyle/>
          <a:p>
            <a:pPr algn="l">
              <a:lnSpc>
                <a:spcPts val="2100"/>
              </a:lnSpc>
            </a:pPr>
            <a:r>
              <a:rPr lang="ru" sz="1500" dirty="0">
                <a:solidFill>
                  <a:srgbClr val="17212B"/>
                </a:solidFill>
                <a:latin typeface="+mn-lt"/>
                <a:ea typeface="+mn-ea"/>
                <a:cs typeface="+mn-cs"/>
              </a:rPr>
              <a:t>Водяной знак сообщает системе, что событий старше указанного</a:t>
            </a:r>
            <a:br>
              <a:rPr lang="ru" sz="1500" dirty="0">
                <a:solidFill>
                  <a:srgbClr val="17212B"/>
                </a:solidFill>
                <a:latin typeface="+mn-lt"/>
                <a:ea typeface="+mn-ea"/>
                <a:cs typeface="+mn-cs"/>
              </a:rPr>
            </a:br>
            <a:r>
              <a:rPr lang="ru" sz="1500" dirty="0">
                <a:solidFill>
                  <a:srgbClr val="17212B"/>
                </a:solidFill>
                <a:latin typeface="+mn-lt"/>
                <a:ea typeface="+mn-ea"/>
                <a:cs typeface="+mn-cs"/>
              </a:rPr>
              <a:t>момента больше не ожидается. Событие 3 пришло после</a:t>
            </a:r>
            <a:br>
              <a:rPr lang="ru" sz="1500" dirty="0">
                <a:solidFill>
                  <a:srgbClr val="17212B"/>
                </a:solidFill>
                <a:latin typeface="+mn-lt"/>
                <a:ea typeface="+mn-ea"/>
                <a:cs typeface="+mn-cs"/>
              </a:rPr>
            </a:br>
            <a:r>
              <a:rPr lang="ru" sz="1500" dirty="0">
                <a:solidFill>
                  <a:srgbClr val="17212B"/>
                </a:solidFill>
                <a:latin typeface="+mn-lt"/>
                <a:ea typeface="+mn-ea"/>
                <a:cs typeface="+mn-cs"/>
              </a:rPr>
              <a:t>водяного знака и считается опоздавшим.</a:t>
            </a:r>
          </a:p>
        </p:txBody>
      </p:sp>
      <p:grpSp>
        <p:nvGrpSpPr>
          <p:cNvPr id="57" name="concept-source"/>
          <p:cNvGrpSpPr/>
          <p:nvPr/>
        </p:nvGrpSpPr>
        <p:grpSpPr>
          <a:xfrm>
            <a:off x="9269273" y="5283200"/>
            <a:ext cx="2319223" cy="653796"/>
            <a:chOff x="9269273" y="5283200"/>
            <a:chExt cx="2319223" cy="653796"/>
          </a:xfrm>
        </p:grpSpPr>
        <p:sp>
          <p:nvSpPr>
            <p:cNvPr id="56" name="TextBox 56"/>
            <p:cNvSpPr txBox="1"/>
            <p:nvPr/>
          </p:nvSpPr>
          <p:spPr>
            <a:xfrm>
              <a:off x="8759044" y="5283200"/>
              <a:ext cx="2829452" cy="653796"/>
            </a:xfrm>
            <a:prstGeom prst="rect">
              <a:avLst/>
            </a:prstGeom>
            <a:noFill/>
            <a:ln>
              <a:noFill/>
            </a:ln>
          </p:spPr>
          <p:txBody>
            <a:bodyPr wrap="square" lIns="0" tIns="0" rIns="0" bIns="0" anchor="t" anchorCtr="0">
              <a:spAutoFit/>
            </a:bodyPr>
            <a:lstStyle/>
            <a:p>
              <a:pPr algn="r">
                <a:lnSpc>
                  <a:spcPts val="1650"/>
                </a:lnSpc>
              </a:pPr>
              <a:r>
                <a:rPr lang="ru" sz="1200" dirty="0">
                  <a:solidFill>
                    <a:srgbClr val="5F6B76"/>
                  </a:solidFill>
                  <a:latin typeface="+mn-lt"/>
                  <a:ea typeface="+mn-ea"/>
                  <a:cs typeface="+mn-cs"/>
                </a:rPr>
                <a:t>Понятия по модели Dataflow</a:t>
              </a:r>
              <a:br>
                <a:rPr lang="ru" sz="1200" dirty="0">
                  <a:solidFill>
                    <a:srgbClr val="5F6B76"/>
                  </a:solidFill>
                  <a:latin typeface="+mn-lt"/>
                  <a:ea typeface="+mn-ea"/>
                  <a:cs typeface="+mn-cs"/>
                </a:rPr>
              </a:br>
              <a:r>
                <a:rPr lang="ru" sz="1200" dirty="0">
                  <a:solidFill>
                    <a:srgbClr val="5F6B76"/>
                  </a:solidFill>
                  <a:latin typeface="+mn-lt"/>
                  <a:ea typeface="+mn-ea"/>
                  <a:cs typeface="+mn-cs"/>
                </a:rPr>
                <a:t>(Akidau и соавт., VLDB 2015;</a:t>
              </a:r>
              <a:br>
                <a:rPr lang="ru" sz="1200" dirty="0">
                  <a:solidFill>
                    <a:srgbClr val="5F6B76"/>
                  </a:solidFill>
                  <a:latin typeface="+mn-lt"/>
                  <a:ea typeface="+mn-ea"/>
                  <a:cs typeface="+mn-cs"/>
                </a:rPr>
              </a:br>
              <a:r>
                <a:rPr lang="ru" sz="1200" dirty="0">
                  <a:solidFill>
                    <a:srgbClr val="5F6B76"/>
                  </a:solidFill>
                  <a:latin typeface="+mn-lt"/>
                  <a:ea typeface="+mn-ea"/>
                  <a:cs typeface="+mn-cs"/>
                </a:rPr>
                <a:t>премия VLDB Test of Time, 2026)</a:t>
              </a:r>
            </a:p>
          </p:txBody>
        </p:sp>
      </p:grpSp>
      <p:grpSp>
        <p:nvGrpSpPr>
          <p:cNvPr id="61" name="footer"/>
          <p:cNvGrpSpPr/>
          <p:nvPr/>
        </p:nvGrpSpPr>
        <p:grpSpPr>
          <a:xfrm>
            <a:off x="603504" y="6400800"/>
            <a:ext cx="10984992" cy="348996"/>
            <a:chOff x="603504" y="6400800"/>
            <a:chExt cx="10984992" cy="348996"/>
          </a:xfrm>
        </p:grpSpPr>
        <p:sp>
          <p:nvSpPr>
            <p:cNvPr id="58" name="Line 58"/>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59" name="TextBox 59"/>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60" name="TextBox 60"/>
            <p:cNvSpPr txBox="1"/>
            <p:nvPr/>
          </p:nvSpPr>
          <p:spPr>
            <a:xfrm>
              <a:off x="10943521" y="6515100"/>
              <a:ext cx="644975"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7 / 12</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8046636" cy="1127379"/>
            <a:chOff x="596646" y="381000"/>
            <a:chExt cx="8046636" cy="112737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609600"/>
              <a:ext cx="9816895" cy="898779"/>
            </a:xfrm>
            <a:prstGeom prst="rect">
              <a:avLst/>
            </a:prstGeom>
            <a:noFill/>
            <a:ln>
              <a:noFill/>
            </a:ln>
          </p:spPr>
          <p:txBody>
            <a:bodyPr wrap="square" lIns="0" tIns="0" rIns="0" bIns="0" anchor="t" anchorCtr="0">
              <a:spAutoFit/>
            </a:bodyPr>
            <a:lstStyle/>
            <a:p>
              <a:pPr algn="l">
                <a:lnSpc>
                  <a:spcPts val="3150"/>
                </a:lnSpc>
              </a:pPr>
              <a:r>
                <a:rPr lang="ru" sz="2550" b="1" dirty="0">
                  <a:solidFill>
                    <a:srgbClr val="17212B"/>
                  </a:solidFill>
                  <a:latin typeface="+mn-lt"/>
                  <a:ea typeface="+mn-ea"/>
                  <a:cs typeface="+mn-cs"/>
                </a:rPr>
                <a:t>Окна делят бесконечный поток на конечные части</a:t>
              </a:r>
              <a:br>
                <a:rPr lang="ru" sz="2550" b="1" dirty="0">
                  <a:solidFill>
                    <a:srgbClr val="17212B"/>
                  </a:solidFill>
                  <a:latin typeface="+mn-lt"/>
                  <a:ea typeface="+mn-ea"/>
                  <a:cs typeface="+mn-cs"/>
                </a:rPr>
              </a:br>
              <a:r>
                <a:rPr lang="ru" sz="2550" b="1" dirty="0">
                  <a:solidFill>
                    <a:srgbClr val="17212B"/>
                  </a:solidFill>
                  <a:latin typeface="+mn-lt"/>
                  <a:ea typeface="+mn-ea"/>
                  <a:cs typeface="+mn-cs"/>
                </a:rPr>
                <a:t>для расчётов</a:t>
              </a:r>
            </a:p>
          </p:txBody>
        </p:sp>
      </p:grpSp>
      <p:grpSp>
        <p:nvGrpSpPr>
          <p:cNvPr id="30" name="lane-tumbling"/>
          <p:cNvGrpSpPr/>
          <p:nvPr/>
        </p:nvGrpSpPr>
        <p:grpSpPr>
          <a:xfrm>
            <a:off x="600456" y="1866900"/>
            <a:ext cx="10886694" cy="787146"/>
            <a:chOff x="600456" y="1866900"/>
            <a:chExt cx="10886694" cy="787146"/>
          </a:xfrm>
        </p:grpSpPr>
        <p:sp>
          <p:nvSpPr>
            <p:cNvPr id="5" name="TextBox 5"/>
            <p:cNvSpPr txBox="1"/>
            <p:nvPr/>
          </p:nvSpPr>
          <p:spPr>
            <a:xfrm>
              <a:off x="600456" y="1866900"/>
              <a:ext cx="2251383"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Фиксированные</a:t>
              </a:r>
            </a:p>
          </p:txBody>
        </p:sp>
        <p:sp>
          <p:nvSpPr>
            <p:cNvPr id="6" name="TextBox 6"/>
            <p:cNvSpPr txBox="1"/>
            <p:nvPr/>
          </p:nvSpPr>
          <p:spPr>
            <a:xfrm>
              <a:off x="603504" y="2190750"/>
              <a:ext cx="1587168"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не пересекаются</a:t>
              </a:r>
            </a:p>
          </p:txBody>
        </p:sp>
        <p:sp>
          <p:nvSpPr>
            <p:cNvPr id="7" name="TextBox 7"/>
            <p:cNvSpPr txBox="1"/>
            <p:nvPr/>
          </p:nvSpPr>
          <p:spPr>
            <a:xfrm>
              <a:off x="603504" y="2419350"/>
              <a:ext cx="2455440" cy="234696"/>
            </a:xfrm>
            <a:prstGeom prst="rect">
              <a:avLst/>
            </a:prstGeom>
            <a:noFill/>
            <a:ln>
              <a:noFill/>
            </a:ln>
          </p:spPr>
          <p:txBody>
            <a:bodyPr wrap="square" lIns="0" tIns="0" rIns="0" bIns="0" anchor="t" anchorCtr="0">
              <a:spAutoFit/>
            </a:bodyPr>
            <a:lstStyle/>
            <a:p>
              <a:pPr algn="l"/>
              <a:r>
                <a:rPr lang="ru" sz="1200" dirty="0">
                  <a:solidFill>
                    <a:srgbClr val="0E6680"/>
                  </a:solidFill>
                  <a:latin typeface="+mn-lt"/>
                  <a:ea typeface="+mn-ea"/>
                  <a:cs typeface="+mn-cs"/>
                </a:rPr>
                <a:t>среднее за каждую минуту</a:t>
              </a:r>
            </a:p>
          </p:txBody>
        </p:sp>
        <p:sp>
          <p:nvSpPr>
            <p:cNvPr id="8" name="Line 8"/>
            <p:cNvSpPr/>
            <p:nvPr/>
          </p:nvSpPr>
          <p:spPr>
            <a:xfrm>
              <a:off x="3143250" y="2038350"/>
              <a:ext cx="8343900" cy="1"/>
            </a:xfrm>
            <a:prstGeom prst="line">
              <a:avLst/>
            </a:prstGeom>
            <a:noFill/>
            <a:ln w="19050">
              <a:solidFill>
                <a:srgbClr val="8A96A1"/>
              </a:solidFill>
              <a:tailEnd type="triangle" w="lg" len="lg"/>
            </a:ln>
          </p:spPr>
        </p:sp>
        <p:grpSp>
          <p:nvGrpSpPr>
            <p:cNvPr id="24" name="tumbling-events"/>
            <p:cNvGrpSpPr/>
            <p:nvPr/>
          </p:nvGrpSpPr>
          <p:grpSpPr>
            <a:xfrm>
              <a:off x="3276600" y="1981200"/>
              <a:ext cx="8020050" cy="114300"/>
              <a:chOff x="3276600" y="1981200"/>
              <a:chExt cx="8020050" cy="114300"/>
            </a:xfrm>
          </p:grpSpPr>
          <p:sp>
            <p:nvSpPr>
              <p:cNvPr id="9" name="Ellipse 9"/>
              <p:cNvSpPr/>
              <p:nvPr/>
            </p:nvSpPr>
            <p:spPr>
              <a:xfrm>
                <a:off x="3276600" y="1981200"/>
                <a:ext cx="114300" cy="114300"/>
              </a:xfrm>
              <a:prstGeom prst="ellipse">
                <a:avLst/>
              </a:prstGeom>
              <a:solidFill>
                <a:srgbClr val="17212B"/>
              </a:solidFill>
              <a:ln>
                <a:noFill/>
              </a:ln>
            </p:spPr>
          </p:sp>
          <p:sp>
            <p:nvSpPr>
              <p:cNvPr id="10" name="Ellipse 10"/>
              <p:cNvSpPr/>
              <p:nvPr/>
            </p:nvSpPr>
            <p:spPr>
              <a:xfrm>
                <a:off x="3562350" y="1981200"/>
                <a:ext cx="114300" cy="114300"/>
              </a:xfrm>
              <a:prstGeom prst="ellipse">
                <a:avLst/>
              </a:prstGeom>
              <a:solidFill>
                <a:srgbClr val="17212B"/>
              </a:solidFill>
              <a:ln>
                <a:noFill/>
              </a:ln>
            </p:spPr>
          </p:sp>
          <p:sp>
            <p:nvSpPr>
              <p:cNvPr id="11" name="Ellipse 11"/>
              <p:cNvSpPr/>
              <p:nvPr/>
            </p:nvSpPr>
            <p:spPr>
              <a:xfrm>
                <a:off x="3943350" y="1981200"/>
                <a:ext cx="114300" cy="114300"/>
              </a:xfrm>
              <a:prstGeom prst="ellipse">
                <a:avLst/>
              </a:prstGeom>
              <a:solidFill>
                <a:srgbClr val="17212B"/>
              </a:solidFill>
              <a:ln>
                <a:noFill/>
              </a:ln>
            </p:spPr>
          </p:sp>
          <p:sp>
            <p:nvSpPr>
              <p:cNvPr id="12" name="Ellipse 12"/>
              <p:cNvSpPr/>
              <p:nvPr/>
            </p:nvSpPr>
            <p:spPr>
              <a:xfrm>
                <a:off x="4419600" y="1981200"/>
                <a:ext cx="114300" cy="114300"/>
              </a:xfrm>
              <a:prstGeom prst="ellipse">
                <a:avLst/>
              </a:prstGeom>
              <a:solidFill>
                <a:srgbClr val="17212B"/>
              </a:solidFill>
              <a:ln>
                <a:noFill/>
              </a:ln>
            </p:spPr>
          </p:sp>
          <p:sp>
            <p:nvSpPr>
              <p:cNvPr id="13" name="Ellipse 13"/>
              <p:cNvSpPr/>
              <p:nvPr/>
            </p:nvSpPr>
            <p:spPr>
              <a:xfrm>
                <a:off x="4895850" y="1981200"/>
                <a:ext cx="114300" cy="114300"/>
              </a:xfrm>
              <a:prstGeom prst="ellipse">
                <a:avLst/>
              </a:prstGeom>
              <a:solidFill>
                <a:srgbClr val="17212B"/>
              </a:solidFill>
              <a:ln>
                <a:noFill/>
              </a:ln>
            </p:spPr>
          </p:sp>
          <p:sp>
            <p:nvSpPr>
              <p:cNvPr id="14" name="Ellipse 14"/>
              <p:cNvSpPr/>
              <p:nvPr/>
            </p:nvSpPr>
            <p:spPr>
              <a:xfrm>
                <a:off x="5276850" y="1981200"/>
                <a:ext cx="114300" cy="114300"/>
              </a:xfrm>
              <a:prstGeom prst="ellipse">
                <a:avLst/>
              </a:prstGeom>
              <a:solidFill>
                <a:srgbClr val="17212B"/>
              </a:solidFill>
              <a:ln>
                <a:noFill/>
              </a:ln>
            </p:spPr>
          </p:sp>
          <p:sp>
            <p:nvSpPr>
              <p:cNvPr id="15" name="Ellipse 15"/>
              <p:cNvSpPr/>
              <p:nvPr/>
            </p:nvSpPr>
            <p:spPr>
              <a:xfrm>
                <a:off x="5562600" y="1981200"/>
                <a:ext cx="114300" cy="114300"/>
              </a:xfrm>
              <a:prstGeom prst="ellipse">
                <a:avLst/>
              </a:prstGeom>
              <a:solidFill>
                <a:srgbClr val="17212B"/>
              </a:solidFill>
              <a:ln>
                <a:noFill/>
              </a:ln>
            </p:spPr>
          </p:sp>
          <p:sp>
            <p:nvSpPr>
              <p:cNvPr id="16" name="Ellipse 16"/>
              <p:cNvSpPr/>
              <p:nvPr/>
            </p:nvSpPr>
            <p:spPr>
              <a:xfrm>
                <a:off x="7181850" y="1981200"/>
                <a:ext cx="114300" cy="114300"/>
              </a:xfrm>
              <a:prstGeom prst="ellipse">
                <a:avLst/>
              </a:prstGeom>
              <a:solidFill>
                <a:srgbClr val="17212B"/>
              </a:solidFill>
              <a:ln>
                <a:noFill/>
              </a:ln>
            </p:spPr>
          </p:sp>
          <p:sp>
            <p:nvSpPr>
              <p:cNvPr id="17" name="Ellipse 17"/>
              <p:cNvSpPr/>
              <p:nvPr/>
            </p:nvSpPr>
            <p:spPr>
              <a:xfrm>
                <a:off x="7467600" y="1981200"/>
                <a:ext cx="114300" cy="114300"/>
              </a:xfrm>
              <a:prstGeom prst="ellipse">
                <a:avLst/>
              </a:prstGeom>
              <a:solidFill>
                <a:srgbClr val="17212B"/>
              </a:solidFill>
              <a:ln>
                <a:noFill/>
              </a:ln>
            </p:spPr>
          </p:sp>
          <p:sp>
            <p:nvSpPr>
              <p:cNvPr id="18" name="Ellipse 18"/>
              <p:cNvSpPr/>
              <p:nvPr/>
            </p:nvSpPr>
            <p:spPr>
              <a:xfrm>
                <a:off x="7848600" y="1981200"/>
                <a:ext cx="114300" cy="114300"/>
              </a:xfrm>
              <a:prstGeom prst="ellipse">
                <a:avLst/>
              </a:prstGeom>
              <a:solidFill>
                <a:srgbClr val="17212B"/>
              </a:solidFill>
              <a:ln>
                <a:noFill/>
              </a:ln>
            </p:spPr>
          </p:sp>
          <p:sp>
            <p:nvSpPr>
              <p:cNvPr id="19" name="Ellipse 19"/>
              <p:cNvSpPr/>
              <p:nvPr/>
            </p:nvSpPr>
            <p:spPr>
              <a:xfrm>
                <a:off x="8134350" y="1981200"/>
                <a:ext cx="114300" cy="114300"/>
              </a:xfrm>
              <a:prstGeom prst="ellipse">
                <a:avLst/>
              </a:prstGeom>
              <a:solidFill>
                <a:srgbClr val="17212B"/>
              </a:solidFill>
              <a:ln>
                <a:noFill/>
              </a:ln>
            </p:spPr>
          </p:sp>
          <p:sp>
            <p:nvSpPr>
              <p:cNvPr id="20" name="Ellipse 20"/>
              <p:cNvSpPr/>
              <p:nvPr/>
            </p:nvSpPr>
            <p:spPr>
              <a:xfrm>
                <a:off x="9563100" y="1981200"/>
                <a:ext cx="114300" cy="114300"/>
              </a:xfrm>
              <a:prstGeom prst="ellipse">
                <a:avLst/>
              </a:prstGeom>
              <a:solidFill>
                <a:srgbClr val="17212B"/>
              </a:solidFill>
              <a:ln>
                <a:noFill/>
              </a:ln>
            </p:spPr>
          </p:sp>
          <p:sp>
            <p:nvSpPr>
              <p:cNvPr id="21" name="Ellipse 21"/>
              <p:cNvSpPr/>
              <p:nvPr/>
            </p:nvSpPr>
            <p:spPr>
              <a:xfrm>
                <a:off x="9944100" y="1981200"/>
                <a:ext cx="114300" cy="114300"/>
              </a:xfrm>
              <a:prstGeom prst="ellipse">
                <a:avLst/>
              </a:prstGeom>
              <a:solidFill>
                <a:srgbClr val="17212B"/>
              </a:solidFill>
              <a:ln>
                <a:noFill/>
              </a:ln>
            </p:spPr>
          </p:sp>
          <p:sp>
            <p:nvSpPr>
              <p:cNvPr id="22" name="Ellipse 22"/>
              <p:cNvSpPr/>
              <p:nvPr/>
            </p:nvSpPr>
            <p:spPr>
              <a:xfrm>
                <a:off x="10896600" y="1981200"/>
                <a:ext cx="114300" cy="114300"/>
              </a:xfrm>
              <a:prstGeom prst="ellipse">
                <a:avLst/>
              </a:prstGeom>
              <a:solidFill>
                <a:srgbClr val="17212B"/>
              </a:solidFill>
              <a:ln>
                <a:noFill/>
              </a:ln>
            </p:spPr>
          </p:sp>
          <p:sp>
            <p:nvSpPr>
              <p:cNvPr id="23" name="Ellipse 23"/>
              <p:cNvSpPr/>
              <p:nvPr/>
            </p:nvSpPr>
            <p:spPr>
              <a:xfrm>
                <a:off x="11182350" y="1981200"/>
                <a:ext cx="114300" cy="114300"/>
              </a:xfrm>
              <a:prstGeom prst="ellipse">
                <a:avLst/>
              </a:prstGeom>
              <a:solidFill>
                <a:srgbClr val="17212B"/>
              </a:solidFill>
              <a:ln>
                <a:noFill/>
              </a:ln>
            </p:spPr>
          </p:sp>
        </p:grpSp>
        <p:grpSp>
          <p:nvGrpSpPr>
            <p:cNvPr id="29" name="tumbling-windows"/>
            <p:cNvGrpSpPr/>
            <p:nvPr/>
          </p:nvGrpSpPr>
          <p:grpSpPr>
            <a:xfrm>
              <a:off x="3162300" y="2247900"/>
              <a:ext cx="8153400" cy="171450"/>
              <a:chOff x="3162300" y="2247900"/>
              <a:chExt cx="8153400" cy="171450"/>
            </a:xfrm>
          </p:grpSpPr>
          <p:sp>
            <p:nvSpPr>
              <p:cNvPr id="25" name="Rectangle 25"/>
              <p:cNvSpPr/>
              <p:nvPr/>
            </p:nvSpPr>
            <p:spPr>
              <a:xfrm>
                <a:off x="3162300" y="2247900"/>
                <a:ext cx="2038350" cy="171450"/>
              </a:xfrm>
              <a:prstGeom prst="rect">
                <a:avLst/>
              </a:prstGeom>
              <a:solidFill>
                <a:srgbClr val="0E6680"/>
              </a:solidFill>
              <a:ln>
                <a:noFill/>
              </a:ln>
            </p:spPr>
          </p:sp>
          <p:sp>
            <p:nvSpPr>
              <p:cNvPr id="26" name="Rectangle 26"/>
              <p:cNvSpPr/>
              <p:nvPr/>
            </p:nvSpPr>
            <p:spPr>
              <a:xfrm>
                <a:off x="5257800" y="2247900"/>
                <a:ext cx="2038350" cy="171450"/>
              </a:xfrm>
              <a:prstGeom prst="rect">
                <a:avLst/>
              </a:prstGeom>
              <a:solidFill>
                <a:srgbClr val="0E6680"/>
              </a:solidFill>
              <a:ln>
                <a:noFill/>
              </a:ln>
            </p:spPr>
          </p:sp>
          <p:sp>
            <p:nvSpPr>
              <p:cNvPr id="27" name="Rectangle 27"/>
              <p:cNvSpPr/>
              <p:nvPr/>
            </p:nvSpPr>
            <p:spPr>
              <a:xfrm>
                <a:off x="7353300" y="2247900"/>
                <a:ext cx="2038350" cy="171450"/>
              </a:xfrm>
              <a:prstGeom prst="rect">
                <a:avLst/>
              </a:prstGeom>
              <a:solidFill>
                <a:srgbClr val="0E6680"/>
              </a:solidFill>
              <a:ln>
                <a:noFill/>
              </a:ln>
            </p:spPr>
          </p:sp>
          <p:sp>
            <p:nvSpPr>
              <p:cNvPr id="28" name="Rectangle 28"/>
              <p:cNvSpPr/>
              <p:nvPr/>
            </p:nvSpPr>
            <p:spPr>
              <a:xfrm>
                <a:off x="9448800" y="2247900"/>
                <a:ext cx="1866900" cy="171450"/>
              </a:xfrm>
              <a:prstGeom prst="rect">
                <a:avLst/>
              </a:prstGeom>
              <a:solidFill>
                <a:srgbClr val="0E6680"/>
              </a:solidFill>
              <a:ln>
                <a:noFill/>
              </a:ln>
            </p:spPr>
          </p:sp>
        </p:grpSp>
      </p:grpSp>
      <p:grpSp>
        <p:nvGrpSpPr>
          <p:cNvPr id="56" name="lane-sliding"/>
          <p:cNvGrpSpPr/>
          <p:nvPr/>
        </p:nvGrpSpPr>
        <p:grpSpPr>
          <a:xfrm>
            <a:off x="600456" y="3048000"/>
            <a:ext cx="10886694" cy="1066800"/>
            <a:chOff x="600456" y="3048000"/>
            <a:chExt cx="10886694" cy="1066800"/>
          </a:xfrm>
        </p:grpSpPr>
        <p:sp>
          <p:nvSpPr>
            <p:cNvPr id="31" name="TextBox 31"/>
            <p:cNvSpPr txBox="1"/>
            <p:nvPr/>
          </p:nvSpPr>
          <p:spPr>
            <a:xfrm>
              <a:off x="600456" y="3048000"/>
              <a:ext cx="1739212"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Скользящие</a:t>
              </a:r>
            </a:p>
          </p:txBody>
        </p:sp>
        <p:sp>
          <p:nvSpPr>
            <p:cNvPr id="32" name="TextBox 32"/>
            <p:cNvSpPr txBox="1"/>
            <p:nvPr/>
          </p:nvSpPr>
          <p:spPr>
            <a:xfrm>
              <a:off x="603504" y="3371850"/>
              <a:ext cx="1315626"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пересекаются</a:t>
              </a:r>
            </a:p>
          </p:txBody>
        </p:sp>
        <p:sp>
          <p:nvSpPr>
            <p:cNvPr id="33" name="TextBox 33"/>
            <p:cNvSpPr txBox="1"/>
            <p:nvPr/>
          </p:nvSpPr>
          <p:spPr>
            <a:xfrm>
              <a:off x="603504" y="3600450"/>
              <a:ext cx="1971757" cy="234696"/>
            </a:xfrm>
            <a:prstGeom prst="rect">
              <a:avLst/>
            </a:prstGeom>
            <a:noFill/>
            <a:ln>
              <a:noFill/>
            </a:ln>
          </p:spPr>
          <p:txBody>
            <a:bodyPr wrap="square" lIns="0" tIns="0" rIns="0" bIns="0" anchor="t" anchorCtr="0">
              <a:spAutoFit/>
            </a:bodyPr>
            <a:lstStyle/>
            <a:p>
              <a:pPr algn="l"/>
              <a:r>
                <a:rPr lang="ru" sz="1200" dirty="0">
                  <a:solidFill>
                    <a:srgbClr val="0E6680"/>
                  </a:solidFill>
                  <a:latin typeface="+mn-lt"/>
                  <a:ea typeface="+mn-ea"/>
                  <a:cs typeface="+mn-cs"/>
                </a:rPr>
                <a:t>окно 5 мин, шаг 1 мин</a:t>
              </a:r>
            </a:p>
          </p:txBody>
        </p:sp>
        <p:sp>
          <p:nvSpPr>
            <p:cNvPr id="34" name="Line 34"/>
            <p:cNvSpPr/>
            <p:nvPr/>
          </p:nvSpPr>
          <p:spPr>
            <a:xfrm>
              <a:off x="3143250" y="3219450"/>
              <a:ext cx="8343900" cy="1"/>
            </a:xfrm>
            <a:prstGeom prst="line">
              <a:avLst/>
            </a:prstGeom>
            <a:noFill/>
            <a:ln w="19050">
              <a:solidFill>
                <a:srgbClr val="8A96A1"/>
              </a:solidFill>
              <a:tailEnd type="triangle" w="lg" len="lg"/>
            </a:ln>
          </p:spPr>
        </p:sp>
        <p:grpSp>
          <p:nvGrpSpPr>
            <p:cNvPr id="50" name="sliding-events"/>
            <p:cNvGrpSpPr/>
            <p:nvPr/>
          </p:nvGrpSpPr>
          <p:grpSpPr>
            <a:xfrm>
              <a:off x="3276600" y="3162300"/>
              <a:ext cx="8020050" cy="114300"/>
              <a:chOff x="3276600" y="3162300"/>
              <a:chExt cx="8020050" cy="114300"/>
            </a:xfrm>
          </p:grpSpPr>
          <p:sp>
            <p:nvSpPr>
              <p:cNvPr id="35" name="Ellipse 35"/>
              <p:cNvSpPr/>
              <p:nvPr/>
            </p:nvSpPr>
            <p:spPr>
              <a:xfrm>
                <a:off x="3276600" y="3162300"/>
                <a:ext cx="114300" cy="114300"/>
              </a:xfrm>
              <a:prstGeom prst="ellipse">
                <a:avLst/>
              </a:prstGeom>
              <a:solidFill>
                <a:srgbClr val="17212B"/>
              </a:solidFill>
              <a:ln>
                <a:noFill/>
              </a:ln>
            </p:spPr>
          </p:sp>
          <p:sp>
            <p:nvSpPr>
              <p:cNvPr id="36" name="Ellipse 36"/>
              <p:cNvSpPr/>
              <p:nvPr/>
            </p:nvSpPr>
            <p:spPr>
              <a:xfrm>
                <a:off x="3562350" y="3162300"/>
                <a:ext cx="114300" cy="114300"/>
              </a:xfrm>
              <a:prstGeom prst="ellipse">
                <a:avLst/>
              </a:prstGeom>
              <a:solidFill>
                <a:srgbClr val="17212B"/>
              </a:solidFill>
              <a:ln>
                <a:noFill/>
              </a:ln>
            </p:spPr>
          </p:sp>
          <p:sp>
            <p:nvSpPr>
              <p:cNvPr id="37" name="Ellipse 37"/>
              <p:cNvSpPr/>
              <p:nvPr/>
            </p:nvSpPr>
            <p:spPr>
              <a:xfrm>
                <a:off x="3943350" y="3162300"/>
                <a:ext cx="114300" cy="114300"/>
              </a:xfrm>
              <a:prstGeom prst="ellipse">
                <a:avLst/>
              </a:prstGeom>
              <a:solidFill>
                <a:srgbClr val="17212B"/>
              </a:solidFill>
              <a:ln>
                <a:noFill/>
              </a:ln>
            </p:spPr>
          </p:sp>
          <p:sp>
            <p:nvSpPr>
              <p:cNvPr id="38" name="Ellipse 38"/>
              <p:cNvSpPr/>
              <p:nvPr/>
            </p:nvSpPr>
            <p:spPr>
              <a:xfrm>
                <a:off x="4419600" y="3162300"/>
                <a:ext cx="114300" cy="114300"/>
              </a:xfrm>
              <a:prstGeom prst="ellipse">
                <a:avLst/>
              </a:prstGeom>
              <a:solidFill>
                <a:srgbClr val="17212B"/>
              </a:solidFill>
              <a:ln>
                <a:noFill/>
              </a:ln>
            </p:spPr>
          </p:sp>
          <p:sp>
            <p:nvSpPr>
              <p:cNvPr id="39" name="Ellipse 39"/>
              <p:cNvSpPr/>
              <p:nvPr/>
            </p:nvSpPr>
            <p:spPr>
              <a:xfrm>
                <a:off x="4895850" y="3162300"/>
                <a:ext cx="114300" cy="114300"/>
              </a:xfrm>
              <a:prstGeom prst="ellipse">
                <a:avLst/>
              </a:prstGeom>
              <a:solidFill>
                <a:srgbClr val="17212B"/>
              </a:solidFill>
              <a:ln>
                <a:noFill/>
              </a:ln>
            </p:spPr>
          </p:sp>
          <p:sp>
            <p:nvSpPr>
              <p:cNvPr id="40" name="Ellipse 40"/>
              <p:cNvSpPr/>
              <p:nvPr/>
            </p:nvSpPr>
            <p:spPr>
              <a:xfrm>
                <a:off x="5276850" y="3162300"/>
                <a:ext cx="114300" cy="114300"/>
              </a:xfrm>
              <a:prstGeom prst="ellipse">
                <a:avLst/>
              </a:prstGeom>
              <a:solidFill>
                <a:srgbClr val="17212B"/>
              </a:solidFill>
              <a:ln>
                <a:noFill/>
              </a:ln>
            </p:spPr>
          </p:sp>
          <p:sp>
            <p:nvSpPr>
              <p:cNvPr id="41" name="Ellipse 41"/>
              <p:cNvSpPr/>
              <p:nvPr/>
            </p:nvSpPr>
            <p:spPr>
              <a:xfrm>
                <a:off x="5562600" y="3162300"/>
                <a:ext cx="114300" cy="114300"/>
              </a:xfrm>
              <a:prstGeom prst="ellipse">
                <a:avLst/>
              </a:prstGeom>
              <a:solidFill>
                <a:srgbClr val="17212B"/>
              </a:solidFill>
              <a:ln>
                <a:noFill/>
              </a:ln>
            </p:spPr>
          </p:sp>
          <p:sp>
            <p:nvSpPr>
              <p:cNvPr id="42" name="Ellipse 42"/>
              <p:cNvSpPr/>
              <p:nvPr/>
            </p:nvSpPr>
            <p:spPr>
              <a:xfrm>
                <a:off x="7181850" y="3162300"/>
                <a:ext cx="114300" cy="114300"/>
              </a:xfrm>
              <a:prstGeom prst="ellipse">
                <a:avLst/>
              </a:prstGeom>
              <a:solidFill>
                <a:srgbClr val="17212B"/>
              </a:solidFill>
              <a:ln>
                <a:noFill/>
              </a:ln>
            </p:spPr>
          </p:sp>
          <p:sp>
            <p:nvSpPr>
              <p:cNvPr id="43" name="Ellipse 43"/>
              <p:cNvSpPr/>
              <p:nvPr/>
            </p:nvSpPr>
            <p:spPr>
              <a:xfrm>
                <a:off x="7467600" y="3162300"/>
                <a:ext cx="114300" cy="114300"/>
              </a:xfrm>
              <a:prstGeom prst="ellipse">
                <a:avLst/>
              </a:prstGeom>
              <a:solidFill>
                <a:srgbClr val="17212B"/>
              </a:solidFill>
              <a:ln>
                <a:noFill/>
              </a:ln>
            </p:spPr>
          </p:sp>
          <p:sp>
            <p:nvSpPr>
              <p:cNvPr id="44" name="Ellipse 44"/>
              <p:cNvSpPr/>
              <p:nvPr/>
            </p:nvSpPr>
            <p:spPr>
              <a:xfrm>
                <a:off x="7848600" y="3162300"/>
                <a:ext cx="114300" cy="114300"/>
              </a:xfrm>
              <a:prstGeom prst="ellipse">
                <a:avLst/>
              </a:prstGeom>
              <a:solidFill>
                <a:srgbClr val="17212B"/>
              </a:solidFill>
              <a:ln>
                <a:noFill/>
              </a:ln>
            </p:spPr>
          </p:sp>
          <p:sp>
            <p:nvSpPr>
              <p:cNvPr id="45" name="Ellipse 45"/>
              <p:cNvSpPr/>
              <p:nvPr/>
            </p:nvSpPr>
            <p:spPr>
              <a:xfrm>
                <a:off x="8134350" y="3162300"/>
                <a:ext cx="114300" cy="114300"/>
              </a:xfrm>
              <a:prstGeom prst="ellipse">
                <a:avLst/>
              </a:prstGeom>
              <a:solidFill>
                <a:srgbClr val="17212B"/>
              </a:solidFill>
              <a:ln>
                <a:noFill/>
              </a:ln>
            </p:spPr>
          </p:sp>
          <p:sp>
            <p:nvSpPr>
              <p:cNvPr id="46" name="Ellipse 46"/>
              <p:cNvSpPr/>
              <p:nvPr/>
            </p:nvSpPr>
            <p:spPr>
              <a:xfrm>
                <a:off x="9563100" y="3162300"/>
                <a:ext cx="114300" cy="114300"/>
              </a:xfrm>
              <a:prstGeom prst="ellipse">
                <a:avLst/>
              </a:prstGeom>
              <a:solidFill>
                <a:srgbClr val="17212B"/>
              </a:solidFill>
              <a:ln>
                <a:noFill/>
              </a:ln>
            </p:spPr>
          </p:sp>
          <p:sp>
            <p:nvSpPr>
              <p:cNvPr id="47" name="Ellipse 47"/>
              <p:cNvSpPr/>
              <p:nvPr/>
            </p:nvSpPr>
            <p:spPr>
              <a:xfrm>
                <a:off x="9944100" y="3162300"/>
                <a:ext cx="114300" cy="114300"/>
              </a:xfrm>
              <a:prstGeom prst="ellipse">
                <a:avLst/>
              </a:prstGeom>
              <a:solidFill>
                <a:srgbClr val="17212B"/>
              </a:solidFill>
              <a:ln>
                <a:noFill/>
              </a:ln>
            </p:spPr>
          </p:sp>
          <p:sp>
            <p:nvSpPr>
              <p:cNvPr id="48" name="Ellipse 48"/>
              <p:cNvSpPr/>
              <p:nvPr/>
            </p:nvSpPr>
            <p:spPr>
              <a:xfrm>
                <a:off x="10896600" y="3162300"/>
                <a:ext cx="114300" cy="114300"/>
              </a:xfrm>
              <a:prstGeom prst="ellipse">
                <a:avLst/>
              </a:prstGeom>
              <a:solidFill>
                <a:srgbClr val="17212B"/>
              </a:solidFill>
              <a:ln>
                <a:noFill/>
              </a:ln>
            </p:spPr>
          </p:sp>
          <p:sp>
            <p:nvSpPr>
              <p:cNvPr id="49" name="Ellipse 49"/>
              <p:cNvSpPr/>
              <p:nvPr/>
            </p:nvSpPr>
            <p:spPr>
              <a:xfrm>
                <a:off x="11182350" y="3162300"/>
                <a:ext cx="114300" cy="114300"/>
              </a:xfrm>
              <a:prstGeom prst="ellipse">
                <a:avLst/>
              </a:prstGeom>
              <a:solidFill>
                <a:srgbClr val="17212B"/>
              </a:solidFill>
              <a:ln>
                <a:noFill/>
              </a:ln>
            </p:spPr>
          </p:sp>
        </p:grpSp>
        <p:grpSp>
          <p:nvGrpSpPr>
            <p:cNvPr id="55" name="sliding-windows"/>
            <p:cNvGrpSpPr/>
            <p:nvPr/>
          </p:nvGrpSpPr>
          <p:grpSpPr>
            <a:xfrm>
              <a:off x="3162300" y="3409950"/>
              <a:ext cx="8153400" cy="704850"/>
              <a:chOff x="3162300" y="3409950"/>
              <a:chExt cx="8153400" cy="704850"/>
            </a:xfrm>
          </p:grpSpPr>
          <p:sp>
            <p:nvSpPr>
              <p:cNvPr id="51" name="Rectangle 51"/>
              <p:cNvSpPr/>
              <p:nvPr/>
            </p:nvSpPr>
            <p:spPr>
              <a:xfrm>
                <a:off x="3162300" y="3409950"/>
                <a:ext cx="5200650" cy="133350"/>
              </a:xfrm>
              <a:prstGeom prst="rect">
                <a:avLst/>
              </a:prstGeom>
              <a:solidFill>
                <a:srgbClr val="0E6680"/>
              </a:solidFill>
              <a:ln>
                <a:noFill/>
              </a:ln>
            </p:spPr>
          </p:sp>
          <p:sp>
            <p:nvSpPr>
              <p:cNvPr id="52" name="Rectangle 52"/>
              <p:cNvSpPr/>
              <p:nvPr/>
            </p:nvSpPr>
            <p:spPr>
              <a:xfrm>
                <a:off x="4210050" y="3600450"/>
                <a:ext cx="5200650" cy="133350"/>
              </a:xfrm>
              <a:prstGeom prst="rect">
                <a:avLst/>
              </a:prstGeom>
              <a:solidFill>
                <a:srgbClr val="0E6680"/>
              </a:solidFill>
              <a:ln>
                <a:noFill/>
              </a:ln>
            </p:spPr>
          </p:sp>
          <p:sp>
            <p:nvSpPr>
              <p:cNvPr id="53" name="Rectangle 53"/>
              <p:cNvSpPr/>
              <p:nvPr/>
            </p:nvSpPr>
            <p:spPr>
              <a:xfrm>
                <a:off x="5257800" y="3790950"/>
                <a:ext cx="5200650" cy="133350"/>
              </a:xfrm>
              <a:prstGeom prst="rect">
                <a:avLst/>
              </a:prstGeom>
              <a:solidFill>
                <a:srgbClr val="0E6680"/>
              </a:solidFill>
              <a:ln>
                <a:noFill/>
              </a:ln>
            </p:spPr>
          </p:sp>
          <p:sp>
            <p:nvSpPr>
              <p:cNvPr id="54" name="Rectangle 54"/>
              <p:cNvSpPr/>
              <p:nvPr/>
            </p:nvSpPr>
            <p:spPr>
              <a:xfrm>
                <a:off x="6305550" y="3981450"/>
                <a:ext cx="5010150" cy="133350"/>
              </a:xfrm>
              <a:prstGeom prst="rect">
                <a:avLst/>
              </a:prstGeom>
              <a:solidFill>
                <a:srgbClr val="0E6680"/>
              </a:solidFill>
              <a:ln>
                <a:noFill/>
              </a:ln>
            </p:spPr>
          </p:sp>
        </p:grpSp>
      </p:grpSp>
      <p:grpSp>
        <p:nvGrpSpPr>
          <p:cNvPr id="83" name="lane-session"/>
          <p:cNvGrpSpPr/>
          <p:nvPr/>
        </p:nvGrpSpPr>
        <p:grpSpPr>
          <a:xfrm>
            <a:off x="600456" y="4495800"/>
            <a:ext cx="10886694" cy="844296"/>
            <a:chOff x="600456" y="4495800"/>
            <a:chExt cx="10886694" cy="844296"/>
          </a:xfrm>
        </p:grpSpPr>
        <p:sp>
          <p:nvSpPr>
            <p:cNvPr id="57" name="TextBox 57"/>
            <p:cNvSpPr txBox="1"/>
            <p:nvPr/>
          </p:nvSpPr>
          <p:spPr>
            <a:xfrm>
              <a:off x="600456" y="4495800"/>
              <a:ext cx="1739212"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Сессионные</a:t>
              </a:r>
            </a:p>
          </p:txBody>
        </p:sp>
        <p:sp>
          <p:nvSpPr>
            <p:cNvPr id="58" name="TextBox 58"/>
            <p:cNvSpPr txBox="1"/>
            <p:nvPr/>
          </p:nvSpPr>
          <p:spPr>
            <a:xfrm>
              <a:off x="603504" y="4819650"/>
              <a:ext cx="240069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закрываются после паузы</a:t>
              </a:r>
            </a:p>
          </p:txBody>
        </p:sp>
        <p:sp>
          <p:nvSpPr>
            <p:cNvPr id="59" name="TextBox 59"/>
            <p:cNvSpPr txBox="1"/>
            <p:nvPr/>
          </p:nvSpPr>
          <p:spPr>
            <a:xfrm>
              <a:off x="603504" y="5048250"/>
              <a:ext cx="1912356" cy="234696"/>
            </a:xfrm>
            <a:prstGeom prst="rect">
              <a:avLst/>
            </a:prstGeom>
            <a:noFill/>
            <a:ln>
              <a:noFill/>
            </a:ln>
          </p:spPr>
          <p:txBody>
            <a:bodyPr wrap="square" lIns="0" tIns="0" rIns="0" bIns="0" anchor="t" anchorCtr="0">
              <a:spAutoFit/>
            </a:bodyPr>
            <a:lstStyle/>
            <a:p>
              <a:pPr algn="l"/>
              <a:r>
                <a:rPr lang="ru" sz="1200" dirty="0">
                  <a:solidFill>
                    <a:srgbClr val="0E6680"/>
                  </a:solidFill>
                  <a:latin typeface="+mn-lt"/>
                  <a:ea typeface="+mn-ea"/>
                  <a:cs typeface="+mn-cs"/>
                </a:rPr>
                <a:t>периоды активности</a:t>
              </a:r>
            </a:p>
          </p:txBody>
        </p:sp>
        <p:sp>
          <p:nvSpPr>
            <p:cNvPr id="60" name="Line 60"/>
            <p:cNvSpPr/>
            <p:nvPr/>
          </p:nvSpPr>
          <p:spPr>
            <a:xfrm>
              <a:off x="3143250" y="4667250"/>
              <a:ext cx="8343900" cy="1"/>
            </a:xfrm>
            <a:prstGeom prst="line">
              <a:avLst/>
            </a:prstGeom>
            <a:noFill/>
            <a:ln w="19050">
              <a:solidFill>
                <a:srgbClr val="8A96A1"/>
              </a:solidFill>
              <a:tailEnd type="triangle" w="lg" len="lg"/>
            </a:ln>
          </p:spPr>
        </p:sp>
        <p:grpSp>
          <p:nvGrpSpPr>
            <p:cNvPr id="76" name="session-events"/>
            <p:cNvGrpSpPr/>
            <p:nvPr/>
          </p:nvGrpSpPr>
          <p:grpSpPr>
            <a:xfrm>
              <a:off x="3276600" y="4610100"/>
              <a:ext cx="8020050" cy="114300"/>
              <a:chOff x="3276600" y="4610100"/>
              <a:chExt cx="8020050" cy="114300"/>
            </a:xfrm>
          </p:grpSpPr>
          <p:sp>
            <p:nvSpPr>
              <p:cNvPr id="61" name="Ellipse 61"/>
              <p:cNvSpPr/>
              <p:nvPr/>
            </p:nvSpPr>
            <p:spPr>
              <a:xfrm>
                <a:off x="3276600" y="4610100"/>
                <a:ext cx="114300" cy="114300"/>
              </a:xfrm>
              <a:prstGeom prst="ellipse">
                <a:avLst/>
              </a:prstGeom>
              <a:solidFill>
                <a:srgbClr val="17212B"/>
              </a:solidFill>
              <a:ln>
                <a:noFill/>
              </a:ln>
            </p:spPr>
          </p:sp>
          <p:sp>
            <p:nvSpPr>
              <p:cNvPr id="62" name="Ellipse 62"/>
              <p:cNvSpPr/>
              <p:nvPr/>
            </p:nvSpPr>
            <p:spPr>
              <a:xfrm>
                <a:off x="3562350" y="4610100"/>
                <a:ext cx="114300" cy="114300"/>
              </a:xfrm>
              <a:prstGeom prst="ellipse">
                <a:avLst/>
              </a:prstGeom>
              <a:solidFill>
                <a:srgbClr val="17212B"/>
              </a:solidFill>
              <a:ln>
                <a:noFill/>
              </a:ln>
            </p:spPr>
          </p:sp>
          <p:sp>
            <p:nvSpPr>
              <p:cNvPr id="63" name="Ellipse 63"/>
              <p:cNvSpPr/>
              <p:nvPr/>
            </p:nvSpPr>
            <p:spPr>
              <a:xfrm>
                <a:off x="3943350" y="4610100"/>
                <a:ext cx="114300" cy="114300"/>
              </a:xfrm>
              <a:prstGeom prst="ellipse">
                <a:avLst/>
              </a:prstGeom>
              <a:solidFill>
                <a:srgbClr val="17212B"/>
              </a:solidFill>
              <a:ln>
                <a:noFill/>
              </a:ln>
            </p:spPr>
          </p:sp>
          <p:sp>
            <p:nvSpPr>
              <p:cNvPr id="64" name="Ellipse 64"/>
              <p:cNvSpPr/>
              <p:nvPr/>
            </p:nvSpPr>
            <p:spPr>
              <a:xfrm>
                <a:off x="4419600" y="4610100"/>
                <a:ext cx="114300" cy="114300"/>
              </a:xfrm>
              <a:prstGeom prst="ellipse">
                <a:avLst/>
              </a:prstGeom>
              <a:solidFill>
                <a:srgbClr val="17212B"/>
              </a:solidFill>
              <a:ln>
                <a:noFill/>
              </a:ln>
            </p:spPr>
          </p:sp>
          <p:sp>
            <p:nvSpPr>
              <p:cNvPr id="65" name="Ellipse 65"/>
              <p:cNvSpPr/>
              <p:nvPr/>
            </p:nvSpPr>
            <p:spPr>
              <a:xfrm>
                <a:off x="4895850" y="4610100"/>
                <a:ext cx="114300" cy="114300"/>
              </a:xfrm>
              <a:prstGeom prst="ellipse">
                <a:avLst/>
              </a:prstGeom>
              <a:solidFill>
                <a:srgbClr val="17212B"/>
              </a:solidFill>
              <a:ln>
                <a:noFill/>
              </a:ln>
            </p:spPr>
          </p:sp>
          <p:sp>
            <p:nvSpPr>
              <p:cNvPr id="66" name="Ellipse 66"/>
              <p:cNvSpPr/>
              <p:nvPr/>
            </p:nvSpPr>
            <p:spPr>
              <a:xfrm>
                <a:off x="5276850" y="4610100"/>
                <a:ext cx="114300" cy="114300"/>
              </a:xfrm>
              <a:prstGeom prst="ellipse">
                <a:avLst/>
              </a:prstGeom>
              <a:solidFill>
                <a:srgbClr val="17212B"/>
              </a:solidFill>
              <a:ln>
                <a:noFill/>
              </a:ln>
            </p:spPr>
          </p:sp>
          <p:sp>
            <p:nvSpPr>
              <p:cNvPr id="67" name="Ellipse 67"/>
              <p:cNvSpPr/>
              <p:nvPr/>
            </p:nvSpPr>
            <p:spPr>
              <a:xfrm>
                <a:off x="5562600" y="4610100"/>
                <a:ext cx="114300" cy="114300"/>
              </a:xfrm>
              <a:prstGeom prst="ellipse">
                <a:avLst/>
              </a:prstGeom>
              <a:solidFill>
                <a:srgbClr val="17212B"/>
              </a:solidFill>
              <a:ln>
                <a:noFill/>
              </a:ln>
            </p:spPr>
          </p:sp>
          <p:sp>
            <p:nvSpPr>
              <p:cNvPr id="68" name="Ellipse 68"/>
              <p:cNvSpPr/>
              <p:nvPr/>
            </p:nvSpPr>
            <p:spPr>
              <a:xfrm>
                <a:off x="7181850" y="4610100"/>
                <a:ext cx="114300" cy="114300"/>
              </a:xfrm>
              <a:prstGeom prst="ellipse">
                <a:avLst/>
              </a:prstGeom>
              <a:solidFill>
                <a:srgbClr val="17212B"/>
              </a:solidFill>
              <a:ln>
                <a:noFill/>
              </a:ln>
            </p:spPr>
          </p:sp>
          <p:sp>
            <p:nvSpPr>
              <p:cNvPr id="69" name="Ellipse 69"/>
              <p:cNvSpPr/>
              <p:nvPr/>
            </p:nvSpPr>
            <p:spPr>
              <a:xfrm>
                <a:off x="7467600" y="4610100"/>
                <a:ext cx="114300" cy="114300"/>
              </a:xfrm>
              <a:prstGeom prst="ellipse">
                <a:avLst/>
              </a:prstGeom>
              <a:solidFill>
                <a:srgbClr val="17212B"/>
              </a:solidFill>
              <a:ln>
                <a:noFill/>
              </a:ln>
            </p:spPr>
          </p:sp>
          <p:sp>
            <p:nvSpPr>
              <p:cNvPr id="70" name="Ellipse 70"/>
              <p:cNvSpPr/>
              <p:nvPr/>
            </p:nvSpPr>
            <p:spPr>
              <a:xfrm>
                <a:off x="7848600" y="4610100"/>
                <a:ext cx="114300" cy="114300"/>
              </a:xfrm>
              <a:prstGeom prst="ellipse">
                <a:avLst/>
              </a:prstGeom>
              <a:solidFill>
                <a:srgbClr val="17212B"/>
              </a:solidFill>
              <a:ln>
                <a:noFill/>
              </a:ln>
            </p:spPr>
          </p:sp>
          <p:sp>
            <p:nvSpPr>
              <p:cNvPr id="71" name="Ellipse 71"/>
              <p:cNvSpPr/>
              <p:nvPr/>
            </p:nvSpPr>
            <p:spPr>
              <a:xfrm>
                <a:off x="8134350" y="4610100"/>
                <a:ext cx="114300" cy="114300"/>
              </a:xfrm>
              <a:prstGeom prst="ellipse">
                <a:avLst/>
              </a:prstGeom>
              <a:solidFill>
                <a:srgbClr val="17212B"/>
              </a:solidFill>
              <a:ln>
                <a:noFill/>
              </a:ln>
            </p:spPr>
          </p:sp>
          <p:sp>
            <p:nvSpPr>
              <p:cNvPr id="72" name="Ellipse 72"/>
              <p:cNvSpPr/>
              <p:nvPr/>
            </p:nvSpPr>
            <p:spPr>
              <a:xfrm>
                <a:off x="9563100" y="4610100"/>
                <a:ext cx="114300" cy="114300"/>
              </a:xfrm>
              <a:prstGeom prst="ellipse">
                <a:avLst/>
              </a:prstGeom>
              <a:solidFill>
                <a:srgbClr val="17212B"/>
              </a:solidFill>
              <a:ln>
                <a:noFill/>
              </a:ln>
            </p:spPr>
          </p:sp>
          <p:sp>
            <p:nvSpPr>
              <p:cNvPr id="73" name="Ellipse 73"/>
              <p:cNvSpPr/>
              <p:nvPr/>
            </p:nvSpPr>
            <p:spPr>
              <a:xfrm>
                <a:off x="9944100" y="4610100"/>
                <a:ext cx="114300" cy="114300"/>
              </a:xfrm>
              <a:prstGeom prst="ellipse">
                <a:avLst/>
              </a:prstGeom>
              <a:solidFill>
                <a:srgbClr val="17212B"/>
              </a:solidFill>
              <a:ln>
                <a:noFill/>
              </a:ln>
            </p:spPr>
          </p:sp>
          <p:sp>
            <p:nvSpPr>
              <p:cNvPr id="74" name="Ellipse 74"/>
              <p:cNvSpPr/>
              <p:nvPr/>
            </p:nvSpPr>
            <p:spPr>
              <a:xfrm>
                <a:off x="10896600" y="4610100"/>
                <a:ext cx="114300" cy="114300"/>
              </a:xfrm>
              <a:prstGeom prst="ellipse">
                <a:avLst/>
              </a:prstGeom>
              <a:solidFill>
                <a:srgbClr val="17212B"/>
              </a:solidFill>
              <a:ln>
                <a:noFill/>
              </a:ln>
            </p:spPr>
          </p:sp>
          <p:sp>
            <p:nvSpPr>
              <p:cNvPr id="75" name="Ellipse 75"/>
              <p:cNvSpPr/>
              <p:nvPr/>
            </p:nvSpPr>
            <p:spPr>
              <a:xfrm>
                <a:off x="11182350" y="4610100"/>
                <a:ext cx="114300" cy="114300"/>
              </a:xfrm>
              <a:prstGeom prst="ellipse">
                <a:avLst/>
              </a:prstGeom>
              <a:solidFill>
                <a:srgbClr val="17212B"/>
              </a:solidFill>
              <a:ln>
                <a:noFill/>
              </a:ln>
            </p:spPr>
          </p:sp>
        </p:grpSp>
        <p:grpSp>
          <p:nvGrpSpPr>
            <p:cNvPr id="81" name="session-windows"/>
            <p:cNvGrpSpPr/>
            <p:nvPr/>
          </p:nvGrpSpPr>
          <p:grpSpPr>
            <a:xfrm>
              <a:off x="3219450" y="4876800"/>
              <a:ext cx="8134350" cy="171450"/>
              <a:chOff x="3219450" y="4876800"/>
              <a:chExt cx="8134350" cy="171450"/>
            </a:xfrm>
          </p:grpSpPr>
          <p:sp>
            <p:nvSpPr>
              <p:cNvPr id="77" name="Rectangle 77"/>
              <p:cNvSpPr/>
              <p:nvPr/>
            </p:nvSpPr>
            <p:spPr>
              <a:xfrm>
                <a:off x="3219450" y="4876800"/>
                <a:ext cx="2514600" cy="171450"/>
              </a:xfrm>
              <a:prstGeom prst="rect">
                <a:avLst/>
              </a:prstGeom>
              <a:solidFill>
                <a:srgbClr val="0E6680"/>
              </a:solidFill>
              <a:ln>
                <a:noFill/>
              </a:ln>
            </p:spPr>
          </p:sp>
          <p:sp>
            <p:nvSpPr>
              <p:cNvPr id="78" name="Rectangle 78"/>
              <p:cNvSpPr/>
              <p:nvPr/>
            </p:nvSpPr>
            <p:spPr>
              <a:xfrm>
                <a:off x="7124700" y="4876800"/>
                <a:ext cx="1181100" cy="171450"/>
              </a:xfrm>
              <a:prstGeom prst="rect">
                <a:avLst/>
              </a:prstGeom>
              <a:solidFill>
                <a:srgbClr val="0E6680"/>
              </a:solidFill>
              <a:ln>
                <a:noFill/>
              </a:ln>
            </p:spPr>
          </p:sp>
          <p:sp>
            <p:nvSpPr>
              <p:cNvPr id="79" name="Rectangle 79"/>
              <p:cNvSpPr/>
              <p:nvPr/>
            </p:nvSpPr>
            <p:spPr>
              <a:xfrm>
                <a:off x="9505950" y="4876800"/>
                <a:ext cx="609600" cy="171450"/>
              </a:xfrm>
              <a:prstGeom prst="rect">
                <a:avLst/>
              </a:prstGeom>
              <a:solidFill>
                <a:srgbClr val="0E6680"/>
              </a:solidFill>
              <a:ln>
                <a:noFill/>
              </a:ln>
            </p:spPr>
          </p:sp>
          <p:sp>
            <p:nvSpPr>
              <p:cNvPr id="80" name="Rectangle 80"/>
              <p:cNvSpPr/>
              <p:nvPr/>
            </p:nvSpPr>
            <p:spPr>
              <a:xfrm>
                <a:off x="10839450" y="4876800"/>
                <a:ext cx="514350" cy="171450"/>
              </a:xfrm>
              <a:prstGeom prst="rect">
                <a:avLst/>
              </a:prstGeom>
              <a:solidFill>
                <a:srgbClr val="0E6680"/>
              </a:solidFill>
              <a:ln>
                <a:noFill/>
              </a:ln>
            </p:spPr>
          </p:sp>
        </p:grpSp>
        <p:sp>
          <p:nvSpPr>
            <p:cNvPr id="82" name="TextBox 82"/>
            <p:cNvSpPr txBox="1"/>
            <p:nvPr/>
          </p:nvSpPr>
          <p:spPr>
            <a:xfrm>
              <a:off x="5554218" y="5105400"/>
              <a:ext cx="1750314"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пауза без событий</a:t>
              </a:r>
            </a:p>
          </p:txBody>
        </p:sp>
      </p:grpSp>
      <p:grpSp>
        <p:nvGrpSpPr>
          <p:cNvPr id="85" name="windows-source"/>
          <p:cNvGrpSpPr/>
          <p:nvPr/>
        </p:nvGrpSpPr>
        <p:grpSpPr>
          <a:xfrm>
            <a:off x="8492440" y="5905500"/>
            <a:ext cx="3096056" cy="234696"/>
            <a:chOff x="8492440" y="5905500"/>
            <a:chExt cx="3096056" cy="234696"/>
          </a:xfrm>
        </p:grpSpPr>
        <p:sp>
          <p:nvSpPr>
            <p:cNvPr id="84" name="TextBox 84"/>
            <p:cNvSpPr txBox="1"/>
            <p:nvPr/>
          </p:nvSpPr>
          <p:spPr>
            <a:xfrm>
              <a:off x="7811308" y="5905500"/>
              <a:ext cx="3777188"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Типы окон по документации Apache Flink</a:t>
              </a:r>
            </a:p>
          </p:txBody>
        </p:sp>
      </p:grpSp>
      <p:grpSp>
        <p:nvGrpSpPr>
          <p:cNvPr id="89" name="footer"/>
          <p:cNvGrpSpPr/>
          <p:nvPr/>
        </p:nvGrpSpPr>
        <p:grpSpPr>
          <a:xfrm>
            <a:off x="603504" y="6400800"/>
            <a:ext cx="10984992" cy="348996"/>
            <a:chOff x="603504" y="6400800"/>
            <a:chExt cx="10984992" cy="348996"/>
          </a:xfrm>
        </p:grpSpPr>
        <p:sp>
          <p:nvSpPr>
            <p:cNvPr id="86" name="Line 86"/>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87" name="TextBox 87"/>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88" name="TextBox 88"/>
            <p:cNvSpPr txBox="1"/>
            <p:nvPr/>
          </p:nvSpPr>
          <p:spPr>
            <a:xfrm>
              <a:off x="10943521" y="6515100"/>
              <a:ext cx="644975"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8 / 12</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7956671" cy="1127379"/>
            <a:chOff x="596646" y="381000"/>
            <a:chExt cx="7956671" cy="112737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609600"/>
              <a:ext cx="9707138" cy="898779"/>
            </a:xfrm>
            <a:prstGeom prst="rect">
              <a:avLst/>
            </a:prstGeom>
            <a:noFill/>
            <a:ln>
              <a:noFill/>
            </a:ln>
          </p:spPr>
          <p:txBody>
            <a:bodyPr wrap="square" lIns="0" tIns="0" rIns="0" bIns="0" anchor="t" anchorCtr="0">
              <a:spAutoFit/>
            </a:bodyPr>
            <a:lstStyle/>
            <a:p>
              <a:pPr algn="l">
                <a:lnSpc>
                  <a:spcPts val="3150"/>
                </a:lnSpc>
              </a:pPr>
              <a:r>
                <a:rPr lang="ru" sz="2550" b="1" dirty="0">
                  <a:solidFill>
                    <a:srgbClr val="17212B"/>
                  </a:solidFill>
                  <a:latin typeface="+mn-lt"/>
                  <a:ea typeface="+mn-ea"/>
                  <a:cs typeface="+mn-cs"/>
                </a:rPr>
                <a:t>Потоковую систему строят из брокера сообщений</a:t>
              </a:r>
              <a:br>
                <a:rPr lang="ru" sz="2550" b="1" dirty="0">
                  <a:solidFill>
                    <a:srgbClr val="17212B"/>
                  </a:solidFill>
                  <a:latin typeface="+mn-lt"/>
                  <a:ea typeface="+mn-ea"/>
                  <a:cs typeface="+mn-cs"/>
                </a:rPr>
              </a:br>
              <a:r>
                <a:rPr lang="ru" sz="2550" b="1" dirty="0">
                  <a:solidFill>
                    <a:srgbClr val="17212B"/>
                  </a:solidFill>
                  <a:latin typeface="+mn-lt"/>
                  <a:ea typeface="+mn-ea"/>
                  <a:cs typeface="+mn-cs"/>
                </a:rPr>
                <a:t>и движка обработки</a:t>
              </a:r>
            </a:p>
          </p:txBody>
        </p:sp>
      </p:grpSp>
      <p:grpSp>
        <p:nvGrpSpPr>
          <p:cNvPr id="24" name="pipeline"/>
          <p:cNvGrpSpPr/>
          <p:nvPr/>
        </p:nvGrpSpPr>
        <p:grpSpPr>
          <a:xfrm>
            <a:off x="609600" y="1790700"/>
            <a:ext cx="10972800" cy="1320546"/>
            <a:chOff x="609600" y="1790700"/>
            <a:chExt cx="10972800" cy="1320546"/>
          </a:xfrm>
        </p:grpSpPr>
        <p:grpSp>
          <p:nvGrpSpPr>
            <p:cNvPr id="7" name="node-sources"/>
            <p:cNvGrpSpPr/>
            <p:nvPr/>
          </p:nvGrpSpPr>
          <p:grpSpPr>
            <a:xfrm>
              <a:off x="609600" y="1790700"/>
              <a:ext cx="2000250" cy="990600"/>
              <a:chOff x="609600" y="1790700"/>
              <a:chExt cx="2000250" cy="990600"/>
            </a:xfrm>
          </p:grpSpPr>
          <p:sp>
            <p:nvSpPr>
              <p:cNvPr id="5" name="Rectangle 5"/>
              <p:cNvSpPr/>
              <p:nvPr/>
            </p:nvSpPr>
            <p:spPr>
              <a:xfrm>
                <a:off x="609600" y="1790700"/>
                <a:ext cx="2000250" cy="990600"/>
              </a:xfrm>
              <a:prstGeom prst="rect">
                <a:avLst/>
              </a:prstGeom>
              <a:solidFill>
                <a:srgbClr val="F3F5F7"/>
              </a:solidFill>
              <a:ln>
                <a:noFill/>
              </a:ln>
            </p:spPr>
          </p:sp>
          <p:sp>
            <p:nvSpPr>
              <p:cNvPr id="6" name="TextBox 6"/>
              <p:cNvSpPr txBox="1"/>
              <p:nvPr/>
            </p:nvSpPr>
            <p:spPr>
              <a:xfrm>
                <a:off x="792480" y="2019300"/>
                <a:ext cx="1360761" cy="541020"/>
              </a:xfrm>
              <a:prstGeom prst="rect">
                <a:avLst/>
              </a:prstGeom>
              <a:noFill/>
              <a:ln>
                <a:noFill/>
              </a:ln>
            </p:spPr>
            <p:txBody>
              <a:bodyPr wrap="square" lIns="0" tIns="0" rIns="0" bIns="0" anchor="t" anchorCtr="0">
                <a:spAutoFit/>
              </a:bodyPr>
              <a:lstStyle/>
              <a:p>
                <a:pPr algn="l">
                  <a:lnSpc>
                    <a:spcPts val="1950"/>
                  </a:lnSpc>
                </a:pPr>
                <a:r>
                  <a:rPr lang="ru" sz="1500" b="1" dirty="0">
                    <a:solidFill>
                      <a:srgbClr val="17212B"/>
                    </a:solidFill>
                    <a:latin typeface="+mn-lt"/>
                    <a:ea typeface="+mn-ea"/>
                    <a:cs typeface="+mn-cs"/>
                  </a:rPr>
                  <a:t>Устройства</a:t>
                </a:r>
                <a:br>
                  <a:rPr lang="ru" sz="1500" b="1" dirty="0">
                    <a:solidFill>
                      <a:srgbClr val="17212B"/>
                    </a:solidFill>
                    <a:latin typeface="+mn-lt"/>
                    <a:ea typeface="+mn-ea"/>
                    <a:cs typeface="+mn-cs"/>
                  </a:rPr>
                </a:br>
                <a:r>
                  <a:rPr lang="ru" sz="1500" b="1" dirty="0">
                    <a:solidFill>
                      <a:srgbClr val="17212B"/>
                    </a:solidFill>
                    <a:latin typeface="+mn-lt"/>
                    <a:ea typeface="+mn-ea"/>
                    <a:cs typeface="+mn-cs"/>
                  </a:rPr>
                  <a:t>и шлюзы</a:t>
                </a:r>
              </a:p>
            </p:txBody>
          </p:sp>
        </p:grpSp>
        <p:sp>
          <p:nvSpPr>
            <p:cNvPr id="8" name="Freeform 8"/>
            <p:cNvSpPr/>
            <p:nvPr/>
          </p:nvSpPr>
          <p:spPr>
            <a:xfrm>
              <a:off x="2667000" y="2152650"/>
              <a:ext cx="266700" cy="266700"/>
            </a:xfrm>
            <a:prstGeom prst="rightArrow">
              <a:avLst/>
            </a:prstGeom>
            <a:solidFill>
              <a:srgbClr val="8A96A1"/>
            </a:solidFill>
            <a:ln>
              <a:noFill/>
            </a:ln>
          </p:spPr>
        </p:sp>
        <p:grpSp>
          <p:nvGrpSpPr>
            <p:cNvPr id="13" name="node-broker"/>
            <p:cNvGrpSpPr/>
            <p:nvPr/>
          </p:nvGrpSpPr>
          <p:grpSpPr>
            <a:xfrm>
              <a:off x="2984754" y="1790700"/>
              <a:ext cx="2577846" cy="1320546"/>
              <a:chOff x="2984754" y="1790700"/>
              <a:chExt cx="2577846" cy="1320546"/>
            </a:xfrm>
          </p:grpSpPr>
          <p:sp>
            <p:nvSpPr>
              <p:cNvPr id="9" name="Rectangle 9"/>
              <p:cNvSpPr/>
              <p:nvPr/>
            </p:nvSpPr>
            <p:spPr>
              <a:xfrm>
                <a:off x="2990850" y="1790700"/>
                <a:ext cx="2571750" cy="990600"/>
              </a:xfrm>
              <a:prstGeom prst="rect">
                <a:avLst/>
              </a:prstGeom>
              <a:solidFill>
                <a:srgbClr val="0E6680"/>
              </a:solidFill>
              <a:ln>
                <a:noFill/>
              </a:ln>
            </p:spPr>
          </p:sp>
          <p:sp>
            <p:nvSpPr>
              <p:cNvPr id="10" name="TextBox 10"/>
              <p:cNvSpPr txBox="1"/>
              <p:nvPr/>
            </p:nvSpPr>
            <p:spPr>
              <a:xfrm>
                <a:off x="3173730" y="2019300"/>
                <a:ext cx="2229387" cy="293370"/>
              </a:xfrm>
              <a:prstGeom prst="rect">
                <a:avLst/>
              </a:prstGeom>
              <a:noFill/>
              <a:ln>
                <a:noFill/>
              </a:ln>
            </p:spPr>
            <p:txBody>
              <a:bodyPr wrap="square" lIns="0" tIns="0" rIns="0" bIns="0" anchor="t" anchorCtr="0">
                <a:spAutoFit/>
              </a:bodyPr>
              <a:lstStyle/>
              <a:p>
                <a:pPr algn="l"/>
                <a:r>
                  <a:rPr lang="ru" sz="1500" b="1" dirty="0">
                    <a:solidFill>
                      <a:srgbClr val="FFFFFF"/>
                    </a:solidFill>
                    <a:latin typeface="+mn-lt"/>
                    <a:ea typeface="+mn-ea"/>
                    <a:cs typeface="+mn-cs"/>
                  </a:rPr>
                  <a:t>Брокер сообщений</a:t>
                </a:r>
              </a:p>
            </p:txBody>
          </p:sp>
          <p:sp>
            <p:nvSpPr>
              <p:cNvPr id="11" name="TextBox 11"/>
              <p:cNvSpPr txBox="1"/>
              <p:nvPr/>
            </p:nvSpPr>
            <p:spPr>
              <a:xfrm>
                <a:off x="3173730" y="2266950"/>
                <a:ext cx="1568380" cy="293370"/>
              </a:xfrm>
              <a:prstGeom prst="rect">
                <a:avLst/>
              </a:prstGeom>
              <a:noFill/>
              <a:ln>
                <a:noFill/>
              </a:ln>
            </p:spPr>
            <p:txBody>
              <a:bodyPr wrap="square" lIns="0" tIns="0" rIns="0" bIns="0" anchor="t" anchorCtr="0">
                <a:spAutoFit/>
              </a:bodyPr>
              <a:lstStyle/>
              <a:p>
                <a:pPr algn="l"/>
                <a:r>
                  <a:rPr lang="en-US" sz="1500" dirty="0">
                    <a:solidFill>
                      <a:srgbClr val="FFFFFF"/>
                    </a:solidFill>
                    <a:latin typeface="+mn-lt"/>
                    <a:ea typeface="+mn-ea"/>
                    <a:cs typeface="+mn-cs"/>
                  </a:rPr>
                  <a:t>Apache Kafka</a:t>
                </a:r>
              </a:p>
            </p:txBody>
          </p:sp>
          <p:sp>
            <p:nvSpPr>
              <p:cNvPr id="12" name="TextBox 12"/>
              <p:cNvSpPr txBox="1"/>
              <p:nvPr/>
            </p:nvSpPr>
            <p:spPr>
              <a:xfrm>
                <a:off x="2984754" y="2876550"/>
                <a:ext cx="289687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журнал событий; LinkedIn, 2011</a:t>
                </a:r>
              </a:p>
            </p:txBody>
          </p:sp>
        </p:grpSp>
        <p:sp>
          <p:nvSpPr>
            <p:cNvPr id="14" name="Freeform 14"/>
            <p:cNvSpPr/>
            <p:nvPr/>
          </p:nvSpPr>
          <p:spPr>
            <a:xfrm>
              <a:off x="5619750" y="2152650"/>
              <a:ext cx="266700" cy="266700"/>
            </a:xfrm>
            <a:prstGeom prst="rightArrow">
              <a:avLst/>
            </a:prstGeom>
            <a:solidFill>
              <a:srgbClr val="8A96A1"/>
            </a:solidFill>
            <a:ln>
              <a:noFill/>
            </a:ln>
          </p:spPr>
        </p:sp>
        <p:grpSp>
          <p:nvGrpSpPr>
            <p:cNvPr id="19" name="node-engine"/>
            <p:cNvGrpSpPr/>
            <p:nvPr/>
          </p:nvGrpSpPr>
          <p:grpSpPr>
            <a:xfrm>
              <a:off x="5937504" y="1790700"/>
              <a:ext cx="3244596" cy="1320546"/>
              <a:chOff x="5937504" y="1790700"/>
              <a:chExt cx="3244596" cy="1320546"/>
            </a:xfrm>
          </p:grpSpPr>
          <p:sp>
            <p:nvSpPr>
              <p:cNvPr id="15" name="Rectangle 15"/>
              <p:cNvSpPr/>
              <p:nvPr/>
            </p:nvSpPr>
            <p:spPr>
              <a:xfrm>
                <a:off x="5943600" y="1790700"/>
                <a:ext cx="3238500" cy="990600"/>
              </a:xfrm>
              <a:prstGeom prst="rect">
                <a:avLst/>
              </a:prstGeom>
              <a:solidFill>
                <a:srgbClr val="0E6680"/>
              </a:solidFill>
              <a:ln>
                <a:noFill/>
              </a:ln>
            </p:spPr>
          </p:sp>
          <p:sp>
            <p:nvSpPr>
              <p:cNvPr id="16" name="TextBox 16"/>
              <p:cNvSpPr txBox="1"/>
              <p:nvPr/>
            </p:nvSpPr>
            <p:spPr>
              <a:xfrm>
                <a:off x="6126480" y="1924050"/>
                <a:ext cx="2229387" cy="293370"/>
              </a:xfrm>
              <a:prstGeom prst="rect">
                <a:avLst/>
              </a:prstGeom>
              <a:noFill/>
              <a:ln>
                <a:noFill/>
              </a:ln>
            </p:spPr>
            <p:txBody>
              <a:bodyPr wrap="square" lIns="0" tIns="0" rIns="0" bIns="0" anchor="t" anchorCtr="0">
                <a:spAutoFit/>
              </a:bodyPr>
              <a:lstStyle/>
              <a:p>
                <a:pPr algn="l"/>
                <a:r>
                  <a:rPr lang="ru" sz="1500" b="1" dirty="0">
                    <a:solidFill>
                      <a:srgbClr val="FFFFFF"/>
                    </a:solidFill>
                    <a:latin typeface="+mn-lt"/>
                    <a:ea typeface="+mn-ea"/>
                    <a:cs typeface="+mn-cs"/>
                  </a:rPr>
                  <a:t>Движок обработки</a:t>
                </a:r>
              </a:p>
            </p:txBody>
          </p:sp>
          <p:sp>
            <p:nvSpPr>
              <p:cNvPr id="17" name="TextBox 17"/>
              <p:cNvSpPr txBox="1"/>
              <p:nvPr/>
            </p:nvSpPr>
            <p:spPr>
              <a:xfrm>
                <a:off x="6126480" y="2171700"/>
                <a:ext cx="2886346" cy="541020"/>
              </a:xfrm>
              <a:prstGeom prst="rect">
                <a:avLst/>
              </a:prstGeom>
              <a:noFill/>
              <a:ln>
                <a:noFill/>
              </a:ln>
            </p:spPr>
            <p:txBody>
              <a:bodyPr wrap="square" lIns="0" tIns="0" rIns="0" bIns="0" anchor="t" anchorCtr="0">
                <a:spAutoFit/>
              </a:bodyPr>
              <a:lstStyle/>
              <a:p>
                <a:pPr algn="l">
                  <a:lnSpc>
                    <a:spcPts val="1950"/>
                  </a:lnSpc>
                </a:pPr>
                <a:r>
                  <a:rPr lang="en-US" sz="1500" dirty="0">
                    <a:solidFill>
                      <a:srgbClr val="FFFFFF"/>
                    </a:solidFill>
                    <a:latin typeface="+mn-lt"/>
                    <a:ea typeface="+mn-ea"/>
                    <a:cs typeface="+mn-cs"/>
                  </a:rPr>
                  <a:t>Apache Flink,</a:t>
                </a:r>
                <a:br>
                  <a:rPr lang="en-US" sz="1500" dirty="0">
                    <a:solidFill>
                      <a:srgbClr val="FFFFFF"/>
                    </a:solidFill>
                    <a:latin typeface="+mn-lt"/>
                    <a:ea typeface="+mn-ea"/>
                    <a:cs typeface="+mn-cs"/>
                  </a:rPr>
                </a:br>
                <a:r>
                  <a:rPr lang="en-US" sz="1500" dirty="0">
                    <a:solidFill>
                      <a:srgbClr val="FFFFFF"/>
                    </a:solidFill>
                    <a:latin typeface="+mn-lt"/>
                    <a:ea typeface="+mn-ea"/>
                    <a:cs typeface="+mn-cs"/>
                  </a:rPr>
                  <a:t>Spark Structured Streaming</a:t>
                </a:r>
              </a:p>
            </p:txBody>
          </p:sp>
          <p:sp>
            <p:nvSpPr>
              <p:cNvPr id="18" name="TextBox 18"/>
              <p:cNvSpPr txBox="1"/>
              <p:nvPr/>
            </p:nvSpPr>
            <p:spPr>
              <a:xfrm>
                <a:off x="5937504" y="2876550"/>
                <a:ext cx="2293397"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окна, агрегаты, правила</a:t>
                </a:r>
              </a:p>
            </p:txBody>
          </p:sp>
        </p:grpSp>
        <p:sp>
          <p:nvSpPr>
            <p:cNvPr id="20" name="Freeform 20"/>
            <p:cNvSpPr/>
            <p:nvPr/>
          </p:nvSpPr>
          <p:spPr>
            <a:xfrm>
              <a:off x="9239250" y="2152650"/>
              <a:ext cx="266700" cy="266700"/>
            </a:xfrm>
            <a:prstGeom prst="rightArrow">
              <a:avLst/>
            </a:prstGeom>
            <a:solidFill>
              <a:srgbClr val="8A96A1"/>
            </a:solidFill>
            <a:ln>
              <a:noFill/>
            </a:ln>
          </p:spPr>
        </p:sp>
        <p:grpSp>
          <p:nvGrpSpPr>
            <p:cNvPr id="23" name="node-sinks"/>
            <p:cNvGrpSpPr/>
            <p:nvPr/>
          </p:nvGrpSpPr>
          <p:grpSpPr>
            <a:xfrm>
              <a:off x="9563100" y="1790700"/>
              <a:ext cx="2019300" cy="990600"/>
              <a:chOff x="9563100" y="1790700"/>
              <a:chExt cx="2019300" cy="990600"/>
            </a:xfrm>
          </p:grpSpPr>
          <p:sp>
            <p:nvSpPr>
              <p:cNvPr id="21" name="Rectangle 21"/>
              <p:cNvSpPr/>
              <p:nvPr/>
            </p:nvSpPr>
            <p:spPr>
              <a:xfrm>
                <a:off x="9563100" y="1790700"/>
                <a:ext cx="2019300" cy="990600"/>
              </a:xfrm>
              <a:prstGeom prst="rect">
                <a:avLst/>
              </a:prstGeom>
              <a:solidFill>
                <a:srgbClr val="F3F5F7"/>
              </a:solidFill>
              <a:ln>
                <a:noFill/>
              </a:ln>
            </p:spPr>
          </p:sp>
          <p:sp>
            <p:nvSpPr>
              <p:cNvPr id="22" name="TextBox 22"/>
              <p:cNvSpPr txBox="1"/>
              <p:nvPr/>
            </p:nvSpPr>
            <p:spPr>
              <a:xfrm>
                <a:off x="9745980" y="2019300"/>
                <a:ext cx="1559540" cy="541020"/>
              </a:xfrm>
              <a:prstGeom prst="rect">
                <a:avLst/>
              </a:prstGeom>
              <a:noFill/>
              <a:ln>
                <a:noFill/>
              </a:ln>
            </p:spPr>
            <p:txBody>
              <a:bodyPr wrap="square" lIns="0" tIns="0" rIns="0" bIns="0" anchor="t" anchorCtr="0">
                <a:spAutoFit/>
              </a:bodyPr>
              <a:lstStyle/>
              <a:p>
                <a:pPr algn="l">
                  <a:lnSpc>
                    <a:spcPts val="1950"/>
                  </a:lnSpc>
                </a:pPr>
                <a:r>
                  <a:rPr lang="ru" sz="1500" b="1" dirty="0">
                    <a:solidFill>
                      <a:srgbClr val="17212B"/>
                    </a:solidFill>
                    <a:latin typeface="+mn-lt"/>
                    <a:ea typeface="+mn-ea"/>
                    <a:cs typeface="+mn-cs"/>
                  </a:rPr>
                  <a:t>Хранилище</a:t>
                </a:r>
                <a:br>
                  <a:rPr lang="ru" sz="1500" b="1" dirty="0">
                    <a:solidFill>
                      <a:srgbClr val="17212B"/>
                    </a:solidFill>
                    <a:latin typeface="+mn-lt"/>
                    <a:ea typeface="+mn-ea"/>
                    <a:cs typeface="+mn-cs"/>
                  </a:rPr>
                </a:br>
                <a:r>
                  <a:rPr lang="ru" sz="1500" b="1" dirty="0">
                    <a:solidFill>
                      <a:srgbClr val="17212B"/>
                    </a:solidFill>
                    <a:latin typeface="+mn-lt"/>
                    <a:ea typeface="+mn-ea"/>
                    <a:cs typeface="+mn-cs"/>
                  </a:rPr>
                  <a:t>и приложения</a:t>
                </a:r>
              </a:p>
            </p:txBody>
          </p:sp>
        </p:grpSp>
      </p:grpSp>
      <p:grpSp>
        <p:nvGrpSpPr>
          <p:cNvPr id="43" name="panel-lambda"/>
          <p:cNvGrpSpPr/>
          <p:nvPr/>
        </p:nvGrpSpPr>
        <p:grpSpPr>
          <a:xfrm>
            <a:off x="609600" y="3352800"/>
            <a:ext cx="5372100" cy="2743200"/>
            <a:chOff x="609600" y="3352800"/>
            <a:chExt cx="5372100" cy="2743200"/>
          </a:xfrm>
        </p:grpSpPr>
        <p:sp>
          <p:nvSpPr>
            <p:cNvPr id="25" name="Rectangle 25"/>
            <p:cNvSpPr/>
            <p:nvPr/>
          </p:nvSpPr>
          <p:spPr>
            <a:xfrm>
              <a:off x="609600" y="3352800"/>
              <a:ext cx="5372100" cy="2743200"/>
            </a:xfrm>
            <a:prstGeom prst="rect">
              <a:avLst/>
            </a:prstGeom>
            <a:solidFill>
              <a:srgbClr val="F3F5F7"/>
            </a:solidFill>
            <a:ln>
              <a:noFill/>
            </a:ln>
          </p:spPr>
        </p:sp>
        <p:sp>
          <p:nvSpPr>
            <p:cNvPr id="26" name="TextBox 26"/>
            <p:cNvSpPr txBox="1"/>
            <p:nvPr/>
          </p:nvSpPr>
          <p:spPr>
            <a:xfrm>
              <a:off x="829056" y="3505200"/>
              <a:ext cx="3136426"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Архитектура Lambda</a:t>
              </a:r>
            </a:p>
          </p:txBody>
        </p:sp>
        <p:sp>
          <p:nvSpPr>
            <p:cNvPr id="27" name="TextBox 27"/>
            <p:cNvSpPr txBox="1"/>
            <p:nvPr/>
          </p:nvSpPr>
          <p:spPr>
            <a:xfrm>
              <a:off x="4146184" y="3581400"/>
              <a:ext cx="1613012"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Натан Марц, 2011</a:t>
              </a:r>
            </a:p>
          </p:txBody>
        </p:sp>
        <p:grpSp>
          <p:nvGrpSpPr>
            <p:cNvPr id="32" name="lambda-edges"/>
            <p:cNvGrpSpPr/>
            <p:nvPr/>
          </p:nvGrpSpPr>
          <p:grpSpPr>
            <a:xfrm>
              <a:off x="1790700" y="4210050"/>
              <a:ext cx="2552700" cy="952500"/>
              <a:chOff x="1790700" y="4210050"/>
              <a:chExt cx="2552700" cy="952500"/>
            </a:xfrm>
          </p:grpSpPr>
          <p:sp>
            <p:nvSpPr>
              <p:cNvPr id="28" name="Line 28"/>
              <p:cNvSpPr/>
              <p:nvPr/>
            </p:nvSpPr>
            <p:spPr>
              <a:xfrm flipV="1">
                <a:off x="1790700" y="4248150"/>
                <a:ext cx="457200" cy="438150"/>
              </a:xfrm>
              <a:prstGeom prst="line">
                <a:avLst/>
              </a:prstGeom>
              <a:noFill/>
              <a:ln w="19050">
                <a:solidFill>
                  <a:srgbClr val="4A5663"/>
                </a:solidFill>
                <a:tailEnd type="triangle" w="lg" len="lg"/>
              </a:ln>
            </p:spPr>
          </p:sp>
          <p:sp>
            <p:nvSpPr>
              <p:cNvPr id="29" name="Line 29"/>
              <p:cNvSpPr/>
              <p:nvPr/>
            </p:nvSpPr>
            <p:spPr>
              <a:xfrm>
                <a:off x="1790700" y="4686300"/>
                <a:ext cx="457200" cy="438150"/>
              </a:xfrm>
              <a:prstGeom prst="line">
                <a:avLst/>
              </a:prstGeom>
              <a:noFill/>
              <a:ln w="19050">
                <a:solidFill>
                  <a:srgbClr val="4A5663"/>
                </a:solidFill>
                <a:tailEnd type="triangle" w="lg" len="lg"/>
              </a:ln>
            </p:spPr>
          </p:sp>
          <p:sp>
            <p:nvSpPr>
              <p:cNvPr id="30" name="Line 30"/>
              <p:cNvSpPr/>
              <p:nvPr/>
            </p:nvSpPr>
            <p:spPr>
              <a:xfrm>
                <a:off x="3962400" y="4210050"/>
                <a:ext cx="381000" cy="419100"/>
              </a:xfrm>
              <a:prstGeom prst="line">
                <a:avLst/>
              </a:prstGeom>
              <a:noFill/>
              <a:ln w="19050">
                <a:solidFill>
                  <a:srgbClr val="4A5663"/>
                </a:solidFill>
                <a:tailEnd type="triangle" w="lg" len="lg"/>
              </a:ln>
            </p:spPr>
          </p:sp>
          <p:sp>
            <p:nvSpPr>
              <p:cNvPr id="31" name="Line 31"/>
              <p:cNvSpPr/>
              <p:nvPr/>
            </p:nvSpPr>
            <p:spPr>
              <a:xfrm flipV="1">
                <a:off x="3962400" y="4743450"/>
                <a:ext cx="381000" cy="419100"/>
              </a:xfrm>
              <a:prstGeom prst="line">
                <a:avLst/>
              </a:prstGeom>
              <a:noFill/>
              <a:ln w="19050">
                <a:solidFill>
                  <a:srgbClr val="4A5663"/>
                </a:solidFill>
                <a:tailEnd type="triangle" w="lg" len="lg"/>
              </a:ln>
            </p:spPr>
          </p:sp>
        </p:grpSp>
        <p:grpSp>
          <p:nvGrpSpPr>
            <p:cNvPr id="41" name="lambda-nodes"/>
            <p:cNvGrpSpPr/>
            <p:nvPr/>
          </p:nvGrpSpPr>
          <p:grpSpPr>
            <a:xfrm>
              <a:off x="838200" y="4000500"/>
              <a:ext cx="4914900" cy="1371600"/>
              <a:chOff x="838200" y="4000500"/>
              <a:chExt cx="4914900" cy="1371600"/>
            </a:xfrm>
          </p:grpSpPr>
          <p:sp>
            <p:nvSpPr>
              <p:cNvPr id="33" name="Rectangle 33"/>
              <p:cNvSpPr/>
              <p:nvPr/>
            </p:nvSpPr>
            <p:spPr>
              <a:xfrm>
                <a:off x="838200" y="4476750"/>
                <a:ext cx="952500" cy="419100"/>
              </a:xfrm>
              <a:prstGeom prst="rect">
                <a:avLst/>
              </a:prstGeom>
              <a:solidFill>
                <a:srgbClr val="FFFFFF"/>
              </a:solidFill>
              <a:ln w="14288">
                <a:solidFill>
                  <a:srgbClr val="8A96A1"/>
                </a:solidFill>
              </a:ln>
            </p:spPr>
          </p:sp>
          <p:sp>
            <p:nvSpPr>
              <p:cNvPr id="34" name="TextBox 34"/>
              <p:cNvSpPr txBox="1"/>
              <p:nvPr/>
            </p:nvSpPr>
            <p:spPr>
              <a:xfrm>
                <a:off x="911539" y="4591050"/>
                <a:ext cx="805823" cy="234696"/>
              </a:xfrm>
              <a:prstGeom prst="rect">
                <a:avLst/>
              </a:prstGeom>
              <a:noFill/>
              <a:ln>
                <a:noFill/>
              </a:ln>
            </p:spPr>
            <p:txBody>
              <a:bodyPr wrap="square" lIns="0" tIns="0" rIns="0" bIns="0" anchor="t" anchorCtr="0">
                <a:spAutoFit/>
              </a:bodyPr>
              <a:lstStyle/>
              <a:p>
                <a:pPr algn="ctr"/>
                <a:r>
                  <a:rPr lang="ru" sz="1200" b="1" dirty="0">
                    <a:solidFill>
                      <a:srgbClr val="17212B"/>
                    </a:solidFill>
                    <a:latin typeface="+mn-lt"/>
                    <a:ea typeface="+mn-ea"/>
                    <a:cs typeface="+mn-cs"/>
                  </a:rPr>
                  <a:t>Данные</a:t>
                </a:r>
              </a:p>
            </p:txBody>
          </p:sp>
          <p:sp>
            <p:nvSpPr>
              <p:cNvPr id="35" name="Rectangle 35"/>
              <p:cNvSpPr/>
              <p:nvPr/>
            </p:nvSpPr>
            <p:spPr>
              <a:xfrm>
                <a:off x="2286000" y="4000500"/>
                <a:ext cx="1676400" cy="419100"/>
              </a:xfrm>
              <a:prstGeom prst="rect">
                <a:avLst/>
              </a:prstGeom>
              <a:solidFill>
                <a:srgbClr val="FFFFFF"/>
              </a:solidFill>
              <a:ln w="14288">
                <a:solidFill>
                  <a:srgbClr val="8A96A1"/>
                </a:solidFill>
              </a:ln>
            </p:spPr>
          </p:sp>
          <p:sp>
            <p:nvSpPr>
              <p:cNvPr id="36" name="TextBox 36"/>
              <p:cNvSpPr txBox="1"/>
              <p:nvPr/>
            </p:nvSpPr>
            <p:spPr>
              <a:xfrm>
                <a:off x="2289346" y="4114800"/>
                <a:ext cx="1669709" cy="234696"/>
              </a:xfrm>
              <a:prstGeom prst="rect">
                <a:avLst/>
              </a:prstGeom>
              <a:noFill/>
              <a:ln>
                <a:noFill/>
              </a:ln>
            </p:spPr>
            <p:txBody>
              <a:bodyPr wrap="square" lIns="0" tIns="0" rIns="0" bIns="0" anchor="t" anchorCtr="0">
                <a:spAutoFit/>
              </a:bodyPr>
              <a:lstStyle/>
              <a:p>
                <a:pPr algn="ctr"/>
                <a:r>
                  <a:rPr lang="ru" sz="1200" b="1" dirty="0">
                    <a:solidFill>
                      <a:srgbClr val="17212B"/>
                    </a:solidFill>
                    <a:latin typeface="+mn-lt"/>
                    <a:ea typeface="+mn-ea"/>
                    <a:cs typeface="+mn-cs"/>
                  </a:rPr>
                  <a:t>Пакетный контур</a:t>
                </a:r>
              </a:p>
            </p:txBody>
          </p:sp>
          <p:sp>
            <p:nvSpPr>
              <p:cNvPr id="37" name="Rectangle 37"/>
              <p:cNvSpPr/>
              <p:nvPr/>
            </p:nvSpPr>
            <p:spPr>
              <a:xfrm>
                <a:off x="2286000" y="4953000"/>
                <a:ext cx="1676400" cy="419100"/>
              </a:xfrm>
              <a:prstGeom prst="rect">
                <a:avLst/>
              </a:prstGeom>
              <a:solidFill>
                <a:srgbClr val="0E6680"/>
              </a:solidFill>
              <a:ln>
                <a:noFill/>
              </a:ln>
            </p:spPr>
          </p:sp>
          <p:sp>
            <p:nvSpPr>
              <p:cNvPr id="38" name="TextBox 38"/>
              <p:cNvSpPr txBox="1"/>
              <p:nvPr/>
            </p:nvSpPr>
            <p:spPr>
              <a:xfrm>
                <a:off x="2232445" y="5067300"/>
                <a:ext cx="1783510"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Потоковый контур</a:t>
                </a:r>
              </a:p>
            </p:txBody>
          </p:sp>
          <p:sp>
            <p:nvSpPr>
              <p:cNvPr id="39" name="Rectangle 39"/>
              <p:cNvSpPr/>
              <p:nvPr/>
            </p:nvSpPr>
            <p:spPr>
              <a:xfrm>
                <a:off x="4381500" y="4476750"/>
                <a:ext cx="1371600" cy="419100"/>
              </a:xfrm>
              <a:prstGeom prst="rect">
                <a:avLst/>
              </a:prstGeom>
              <a:solidFill>
                <a:srgbClr val="FFFFFF"/>
              </a:solidFill>
              <a:ln w="14288">
                <a:solidFill>
                  <a:srgbClr val="8A96A1"/>
                </a:solidFill>
              </a:ln>
            </p:spPr>
          </p:sp>
          <p:sp>
            <p:nvSpPr>
              <p:cNvPr id="40" name="TextBox 40"/>
              <p:cNvSpPr txBox="1"/>
              <p:nvPr/>
            </p:nvSpPr>
            <p:spPr>
              <a:xfrm>
                <a:off x="4430656" y="4591050"/>
                <a:ext cx="1273290" cy="234696"/>
              </a:xfrm>
              <a:prstGeom prst="rect">
                <a:avLst/>
              </a:prstGeom>
              <a:noFill/>
              <a:ln>
                <a:noFill/>
              </a:ln>
            </p:spPr>
            <p:txBody>
              <a:bodyPr wrap="square" lIns="0" tIns="0" rIns="0" bIns="0" anchor="t" anchorCtr="0">
                <a:spAutoFit/>
              </a:bodyPr>
              <a:lstStyle/>
              <a:p>
                <a:pPr algn="ctr"/>
                <a:r>
                  <a:rPr lang="ru" sz="1200" b="1" dirty="0">
                    <a:solidFill>
                      <a:srgbClr val="17212B"/>
                    </a:solidFill>
                    <a:latin typeface="+mn-lt"/>
                    <a:ea typeface="+mn-ea"/>
                    <a:cs typeface="+mn-cs"/>
                  </a:rPr>
                  <a:t>Объединение</a:t>
                </a:r>
              </a:p>
            </p:txBody>
          </p:sp>
        </p:grpSp>
        <p:sp>
          <p:nvSpPr>
            <p:cNvPr id="42" name="TextBox 42"/>
            <p:cNvSpPr txBox="1"/>
            <p:nvPr/>
          </p:nvSpPr>
          <p:spPr>
            <a:xfrm>
              <a:off x="830580" y="5657850"/>
              <a:ext cx="4703262" cy="293370"/>
            </a:xfrm>
            <a:prstGeom prst="rect">
              <a:avLst/>
            </a:prstGeom>
            <a:noFill/>
            <a:ln>
              <a:noFill/>
            </a:ln>
          </p:spPr>
          <p:txBody>
            <a:bodyPr wrap="square" lIns="0" tIns="0" rIns="0" bIns="0" anchor="t" anchorCtr="0">
              <a:spAutoFit/>
            </a:bodyPr>
            <a:lstStyle/>
            <a:p>
              <a:pPr algn="l"/>
              <a:r>
                <a:rPr lang="ru" sz="1500" dirty="0">
                  <a:solidFill>
                    <a:srgbClr val="4A5663"/>
                  </a:solidFill>
                  <a:latin typeface="+mn-lt"/>
                  <a:ea typeface="+mn-ea"/>
                  <a:cs typeface="+mn-cs"/>
                </a:rPr>
                <a:t>Логику обработки поддерживают дважды</a:t>
              </a:r>
            </a:p>
          </p:txBody>
        </p:sp>
      </p:grpSp>
      <p:grpSp>
        <p:nvGrpSpPr>
          <p:cNvPr id="63" name="panel-kappa"/>
          <p:cNvGrpSpPr/>
          <p:nvPr/>
        </p:nvGrpSpPr>
        <p:grpSpPr>
          <a:xfrm>
            <a:off x="6210300" y="3352800"/>
            <a:ext cx="5372100" cy="2743200"/>
            <a:chOff x="6210300" y="3352800"/>
            <a:chExt cx="5372100" cy="2743200"/>
          </a:xfrm>
        </p:grpSpPr>
        <p:sp>
          <p:nvSpPr>
            <p:cNvPr id="44" name="Rectangle 44"/>
            <p:cNvSpPr/>
            <p:nvPr/>
          </p:nvSpPr>
          <p:spPr>
            <a:xfrm>
              <a:off x="6210300" y="3352800"/>
              <a:ext cx="5372100" cy="2743200"/>
            </a:xfrm>
            <a:prstGeom prst="rect">
              <a:avLst/>
            </a:prstGeom>
            <a:solidFill>
              <a:srgbClr val="F3F5F7"/>
            </a:solidFill>
            <a:ln>
              <a:noFill/>
            </a:ln>
          </p:spPr>
        </p:sp>
        <p:sp>
          <p:nvSpPr>
            <p:cNvPr id="45" name="TextBox 45"/>
            <p:cNvSpPr txBox="1"/>
            <p:nvPr/>
          </p:nvSpPr>
          <p:spPr>
            <a:xfrm>
              <a:off x="6429756" y="3505200"/>
              <a:ext cx="2906148" cy="352044"/>
            </a:xfrm>
            <a:prstGeom prst="rect">
              <a:avLst/>
            </a:prstGeom>
            <a:noFill/>
            <a:ln>
              <a:noFill/>
            </a:ln>
          </p:spPr>
          <p:txBody>
            <a:bodyPr wrap="square" lIns="0" tIns="0" rIns="0" bIns="0" anchor="t" anchorCtr="0">
              <a:spAutoFit/>
            </a:bodyPr>
            <a:lstStyle/>
            <a:p>
              <a:pPr algn="l"/>
              <a:r>
                <a:rPr lang="ru" sz="1800" b="1" dirty="0">
                  <a:solidFill>
                    <a:srgbClr val="17212B"/>
                  </a:solidFill>
                  <a:latin typeface="+mn-lt"/>
                  <a:ea typeface="+mn-ea"/>
                  <a:cs typeface="+mn-cs"/>
                </a:rPr>
                <a:t>Архитектура Kappa</a:t>
              </a:r>
            </a:p>
          </p:txBody>
        </p:sp>
        <p:sp>
          <p:nvSpPr>
            <p:cNvPr id="46" name="TextBox 46"/>
            <p:cNvSpPr txBox="1"/>
            <p:nvPr/>
          </p:nvSpPr>
          <p:spPr>
            <a:xfrm>
              <a:off x="9746884" y="3581400"/>
              <a:ext cx="1613012"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Джей Крепс, 2014</a:t>
              </a:r>
            </a:p>
          </p:txBody>
        </p:sp>
        <p:grpSp>
          <p:nvGrpSpPr>
            <p:cNvPr id="49" name="kappa-edges"/>
            <p:cNvGrpSpPr/>
            <p:nvPr/>
          </p:nvGrpSpPr>
          <p:grpSpPr>
            <a:xfrm>
              <a:off x="7486650" y="4686300"/>
              <a:ext cx="2705100" cy="1"/>
              <a:chOff x="7486650" y="4686300"/>
              <a:chExt cx="2705100" cy="1"/>
            </a:xfrm>
          </p:grpSpPr>
          <p:sp>
            <p:nvSpPr>
              <p:cNvPr id="47" name="Line 47"/>
              <p:cNvSpPr/>
              <p:nvPr/>
            </p:nvSpPr>
            <p:spPr>
              <a:xfrm>
                <a:off x="7486650" y="4686300"/>
                <a:ext cx="476250" cy="1"/>
              </a:xfrm>
              <a:prstGeom prst="line">
                <a:avLst/>
              </a:prstGeom>
              <a:noFill/>
              <a:ln w="19050">
                <a:solidFill>
                  <a:srgbClr val="4A5663"/>
                </a:solidFill>
                <a:tailEnd type="triangle" w="lg" len="lg"/>
              </a:ln>
            </p:spPr>
          </p:sp>
          <p:sp>
            <p:nvSpPr>
              <p:cNvPr id="48" name="Line 48"/>
              <p:cNvSpPr/>
              <p:nvPr/>
            </p:nvSpPr>
            <p:spPr>
              <a:xfrm>
                <a:off x="9715500" y="4686300"/>
                <a:ext cx="476250" cy="1"/>
              </a:xfrm>
              <a:prstGeom prst="line">
                <a:avLst/>
              </a:prstGeom>
              <a:noFill/>
              <a:ln w="19050">
                <a:solidFill>
                  <a:srgbClr val="4A5663"/>
                </a:solidFill>
                <a:tailEnd type="triangle" w="lg" len="lg"/>
              </a:ln>
            </p:spPr>
          </p:sp>
        </p:grpSp>
        <p:grpSp>
          <p:nvGrpSpPr>
            <p:cNvPr id="53" name="kappa-replay"/>
            <p:cNvGrpSpPr/>
            <p:nvPr/>
          </p:nvGrpSpPr>
          <p:grpSpPr>
            <a:xfrm>
              <a:off x="6962775" y="4895850"/>
              <a:ext cx="1895476" cy="333375"/>
              <a:chOff x="6962775" y="4895850"/>
              <a:chExt cx="1895476" cy="333375"/>
            </a:xfrm>
          </p:grpSpPr>
          <p:sp>
            <p:nvSpPr>
              <p:cNvPr id="50" name="Line 50"/>
              <p:cNvSpPr/>
              <p:nvPr/>
            </p:nvSpPr>
            <p:spPr>
              <a:xfrm>
                <a:off x="6962775" y="4895850"/>
                <a:ext cx="9525" cy="323850"/>
              </a:xfrm>
              <a:custGeom>
                <a:avLst/>
                <a:gdLst/>
                <a:ahLst/>
                <a:cxnLst/>
                <a:rect l="l" t="t" r="r" b="b"/>
                <a:pathLst>
                  <a:path w="9525" h="323850">
                    <a:moveTo>
                      <a:pt x="0" y="0"/>
                    </a:moveTo>
                    <a:lnTo>
                      <a:pt x="0" y="323850"/>
                    </a:lnTo>
                  </a:path>
                </a:pathLst>
              </a:custGeom>
              <a:noFill/>
              <a:ln w="19050">
                <a:solidFill>
                  <a:srgbClr val="4A5663"/>
                </a:solidFill>
                <a:custDash>
                  <a:ds d="300000" sp="200000"/>
                </a:custDash>
              </a:ln>
            </p:spPr>
          </p:sp>
          <p:sp>
            <p:nvSpPr>
              <p:cNvPr id="51" name="Line 51"/>
              <p:cNvSpPr/>
              <p:nvPr/>
            </p:nvSpPr>
            <p:spPr>
              <a:xfrm>
                <a:off x="6962775" y="5219700"/>
                <a:ext cx="1895475" cy="9525"/>
              </a:xfrm>
              <a:custGeom>
                <a:avLst/>
                <a:gdLst/>
                <a:ahLst/>
                <a:cxnLst/>
                <a:rect l="l" t="t" r="r" b="b"/>
                <a:pathLst>
                  <a:path w="1895475" h="9525">
                    <a:moveTo>
                      <a:pt x="0" y="0"/>
                    </a:moveTo>
                    <a:lnTo>
                      <a:pt x="1895475" y="0"/>
                    </a:lnTo>
                  </a:path>
                </a:pathLst>
              </a:custGeom>
              <a:noFill/>
              <a:ln w="19050">
                <a:solidFill>
                  <a:srgbClr val="4A5663"/>
                </a:solidFill>
                <a:custDash>
                  <a:ds d="300000" sp="200000"/>
                </a:custDash>
              </a:ln>
            </p:spPr>
          </p:sp>
          <p:sp>
            <p:nvSpPr>
              <p:cNvPr id="52" name="Line 52"/>
              <p:cNvSpPr/>
              <p:nvPr/>
            </p:nvSpPr>
            <p:spPr>
              <a:xfrm flipV="1">
                <a:off x="8858250" y="4953000"/>
                <a:ext cx="1" cy="266700"/>
              </a:xfrm>
              <a:prstGeom prst="line">
                <a:avLst/>
              </a:prstGeom>
              <a:noFill/>
              <a:ln w="19050">
                <a:solidFill>
                  <a:srgbClr val="4A5663"/>
                </a:solidFill>
                <a:custDash>
                  <a:ds d="300000" sp="200000"/>
                </a:custDash>
                <a:tailEnd type="triangle" w="lg" len="lg"/>
              </a:ln>
            </p:spPr>
          </p:sp>
        </p:grpSp>
        <p:sp>
          <p:nvSpPr>
            <p:cNvPr id="54" name="TextBox 54"/>
            <p:cNvSpPr txBox="1"/>
            <p:nvPr/>
          </p:nvSpPr>
          <p:spPr>
            <a:xfrm>
              <a:off x="7057969" y="5295900"/>
              <a:ext cx="1695564" cy="234696"/>
            </a:xfrm>
            <a:prstGeom prst="rect">
              <a:avLst/>
            </a:prstGeom>
            <a:noFill/>
            <a:ln>
              <a:noFill/>
            </a:ln>
          </p:spPr>
          <p:txBody>
            <a:bodyPr wrap="square" lIns="0" tIns="0" rIns="0" bIns="0" anchor="t" anchorCtr="0">
              <a:spAutoFit/>
            </a:bodyPr>
            <a:lstStyle/>
            <a:p>
              <a:pPr algn="ctr"/>
              <a:r>
                <a:rPr lang="ru" sz="1200" dirty="0">
                  <a:solidFill>
                    <a:srgbClr val="5F6B76"/>
                  </a:solidFill>
                  <a:latin typeface="+mn-lt"/>
                  <a:ea typeface="+mn-ea"/>
                  <a:cs typeface="+mn-cs"/>
                </a:rPr>
                <a:t>повторное чтение</a:t>
              </a:r>
            </a:p>
          </p:txBody>
        </p:sp>
        <p:grpSp>
          <p:nvGrpSpPr>
            <p:cNvPr id="61" name="kappa-nodes"/>
            <p:cNvGrpSpPr/>
            <p:nvPr/>
          </p:nvGrpSpPr>
          <p:grpSpPr>
            <a:xfrm>
              <a:off x="6438900" y="4476750"/>
              <a:ext cx="4914900" cy="419100"/>
              <a:chOff x="6438900" y="4476750"/>
              <a:chExt cx="4914900" cy="419100"/>
            </a:xfrm>
          </p:grpSpPr>
          <p:sp>
            <p:nvSpPr>
              <p:cNvPr id="55" name="Rectangle 55"/>
              <p:cNvSpPr/>
              <p:nvPr/>
            </p:nvSpPr>
            <p:spPr>
              <a:xfrm>
                <a:off x="6438900" y="4476750"/>
                <a:ext cx="1047750" cy="419100"/>
              </a:xfrm>
              <a:prstGeom prst="rect">
                <a:avLst/>
              </a:prstGeom>
              <a:solidFill>
                <a:srgbClr val="FFFFFF"/>
              </a:solidFill>
              <a:ln w="14288">
                <a:solidFill>
                  <a:srgbClr val="8A96A1"/>
                </a:solidFill>
              </a:ln>
            </p:spPr>
          </p:sp>
          <p:sp>
            <p:nvSpPr>
              <p:cNvPr id="56" name="TextBox 56"/>
              <p:cNvSpPr txBox="1"/>
              <p:nvPr/>
            </p:nvSpPr>
            <p:spPr>
              <a:xfrm>
                <a:off x="6559864" y="4591050"/>
                <a:ext cx="805823" cy="234696"/>
              </a:xfrm>
              <a:prstGeom prst="rect">
                <a:avLst/>
              </a:prstGeom>
              <a:noFill/>
              <a:ln>
                <a:noFill/>
              </a:ln>
            </p:spPr>
            <p:txBody>
              <a:bodyPr wrap="square" lIns="0" tIns="0" rIns="0" bIns="0" anchor="t" anchorCtr="0">
                <a:spAutoFit/>
              </a:bodyPr>
              <a:lstStyle/>
              <a:p>
                <a:pPr algn="ctr"/>
                <a:r>
                  <a:rPr lang="ru" sz="1200" b="1" dirty="0">
                    <a:solidFill>
                      <a:srgbClr val="17212B"/>
                    </a:solidFill>
                    <a:latin typeface="+mn-lt"/>
                    <a:ea typeface="+mn-ea"/>
                    <a:cs typeface="+mn-cs"/>
                  </a:rPr>
                  <a:t>Журнал</a:t>
                </a:r>
              </a:p>
            </p:txBody>
          </p:sp>
          <p:sp>
            <p:nvSpPr>
              <p:cNvPr id="57" name="Rectangle 57"/>
              <p:cNvSpPr/>
              <p:nvPr/>
            </p:nvSpPr>
            <p:spPr>
              <a:xfrm>
                <a:off x="8001000" y="4476750"/>
                <a:ext cx="1714500" cy="419100"/>
              </a:xfrm>
              <a:prstGeom prst="rect">
                <a:avLst/>
              </a:prstGeom>
              <a:solidFill>
                <a:srgbClr val="0E6680"/>
              </a:solidFill>
              <a:ln>
                <a:noFill/>
              </a:ln>
            </p:spPr>
          </p:sp>
          <p:sp>
            <p:nvSpPr>
              <p:cNvPr id="58" name="TextBox 58"/>
              <p:cNvSpPr txBox="1"/>
              <p:nvPr/>
            </p:nvSpPr>
            <p:spPr>
              <a:xfrm>
                <a:off x="7966495" y="4591050"/>
                <a:ext cx="1783510" cy="234696"/>
              </a:xfrm>
              <a:prstGeom prst="rect">
                <a:avLst/>
              </a:prstGeom>
              <a:noFill/>
              <a:ln>
                <a:noFill/>
              </a:ln>
            </p:spPr>
            <p:txBody>
              <a:bodyPr wrap="square" lIns="0" tIns="0" rIns="0" bIns="0" anchor="t" anchorCtr="0">
                <a:spAutoFit/>
              </a:bodyPr>
              <a:lstStyle/>
              <a:p>
                <a:pPr algn="ctr"/>
                <a:r>
                  <a:rPr lang="ru" sz="1200" b="1" dirty="0">
                    <a:solidFill>
                      <a:srgbClr val="FFFFFF"/>
                    </a:solidFill>
                    <a:latin typeface="+mn-lt"/>
                    <a:ea typeface="+mn-ea"/>
                    <a:cs typeface="+mn-cs"/>
                  </a:rPr>
                  <a:t>Потоковый контур</a:t>
                </a:r>
              </a:p>
            </p:txBody>
          </p:sp>
          <p:sp>
            <p:nvSpPr>
              <p:cNvPr id="59" name="Rectangle 59"/>
              <p:cNvSpPr/>
              <p:nvPr/>
            </p:nvSpPr>
            <p:spPr>
              <a:xfrm>
                <a:off x="10229850" y="4476750"/>
                <a:ext cx="1123950" cy="419100"/>
              </a:xfrm>
              <a:prstGeom prst="rect">
                <a:avLst/>
              </a:prstGeom>
              <a:solidFill>
                <a:srgbClr val="FFFFFF"/>
              </a:solidFill>
              <a:ln w="14288">
                <a:solidFill>
                  <a:srgbClr val="8A96A1"/>
                </a:solidFill>
              </a:ln>
            </p:spPr>
          </p:sp>
          <p:sp>
            <p:nvSpPr>
              <p:cNvPr id="60" name="TextBox 60"/>
              <p:cNvSpPr txBox="1"/>
              <p:nvPr/>
            </p:nvSpPr>
            <p:spPr>
              <a:xfrm>
                <a:off x="10248976" y="4591050"/>
                <a:ext cx="1085698" cy="234696"/>
              </a:xfrm>
              <a:prstGeom prst="rect">
                <a:avLst/>
              </a:prstGeom>
              <a:noFill/>
              <a:ln>
                <a:noFill/>
              </a:ln>
            </p:spPr>
            <p:txBody>
              <a:bodyPr wrap="square" lIns="0" tIns="0" rIns="0" bIns="0" anchor="t" anchorCtr="0">
                <a:spAutoFit/>
              </a:bodyPr>
              <a:lstStyle/>
              <a:p>
                <a:pPr algn="ctr"/>
                <a:r>
                  <a:rPr lang="ru" sz="1200" b="1" dirty="0">
                    <a:solidFill>
                      <a:srgbClr val="17212B"/>
                    </a:solidFill>
                    <a:latin typeface="+mn-lt"/>
                    <a:ea typeface="+mn-ea"/>
                    <a:cs typeface="+mn-cs"/>
                  </a:rPr>
                  <a:t>Результат</a:t>
                </a:r>
              </a:p>
            </p:txBody>
          </p:sp>
        </p:grpSp>
        <p:sp>
          <p:nvSpPr>
            <p:cNvPr id="62" name="TextBox 62"/>
            <p:cNvSpPr txBox="1"/>
            <p:nvPr/>
          </p:nvSpPr>
          <p:spPr>
            <a:xfrm>
              <a:off x="6431280" y="5657850"/>
              <a:ext cx="5382288" cy="293370"/>
            </a:xfrm>
            <a:prstGeom prst="rect">
              <a:avLst/>
            </a:prstGeom>
            <a:noFill/>
            <a:ln>
              <a:noFill/>
            </a:ln>
          </p:spPr>
          <p:txBody>
            <a:bodyPr wrap="square" lIns="0" tIns="0" rIns="0" bIns="0" anchor="t" anchorCtr="0">
              <a:spAutoFit/>
            </a:bodyPr>
            <a:lstStyle/>
            <a:p>
              <a:pPr algn="l"/>
              <a:r>
                <a:rPr lang="ru" sz="1500" dirty="0">
                  <a:solidFill>
                    <a:srgbClr val="4A5663"/>
                  </a:solidFill>
                  <a:latin typeface="+mn-lt"/>
                  <a:ea typeface="+mn-ea"/>
                  <a:cs typeface="+mn-cs"/>
                </a:rPr>
                <a:t>Пересчёт истории: повторное чтение журнала</a:t>
              </a:r>
            </a:p>
          </p:txBody>
        </p:sp>
      </p:grpSp>
      <p:grpSp>
        <p:nvGrpSpPr>
          <p:cNvPr id="67" name="footer"/>
          <p:cNvGrpSpPr/>
          <p:nvPr/>
        </p:nvGrpSpPr>
        <p:grpSpPr>
          <a:xfrm>
            <a:off x="603504" y="6400800"/>
            <a:ext cx="10984992" cy="348996"/>
            <a:chOff x="603504" y="6400800"/>
            <a:chExt cx="10984992" cy="348996"/>
          </a:xfrm>
        </p:grpSpPr>
        <p:sp>
          <p:nvSpPr>
            <p:cNvPr id="64" name="Line 64"/>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65" name="TextBox 65"/>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66" name="TextBox 66"/>
            <p:cNvSpPr txBox="1"/>
            <p:nvPr/>
          </p:nvSpPr>
          <p:spPr>
            <a:xfrm>
              <a:off x="10943521" y="6515100"/>
              <a:ext cx="644975"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9 / 12</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9089595" cy="1127379"/>
            <a:chOff x="596646" y="381000"/>
            <a:chExt cx="9089595" cy="112737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609600"/>
              <a:ext cx="11089305" cy="898779"/>
            </a:xfrm>
            <a:prstGeom prst="rect">
              <a:avLst/>
            </a:prstGeom>
            <a:noFill/>
            <a:ln>
              <a:noFill/>
            </a:ln>
          </p:spPr>
          <p:txBody>
            <a:bodyPr wrap="square" lIns="0" tIns="0" rIns="0" bIns="0" anchor="t" anchorCtr="0">
              <a:spAutoFit/>
            </a:bodyPr>
            <a:lstStyle/>
            <a:p>
              <a:pPr algn="l">
                <a:lnSpc>
                  <a:spcPts val="3150"/>
                </a:lnSpc>
              </a:pPr>
              <a:r>
                <a:rPr lang="ru" sz="2550" b="1" dirty="0">
                  <a:solidFill>
                    <a:srgbClr val="17212B"/>
                  </a:solidFill>
                  <a:latin typeface="+mn-lt"/>
                  <a:ea typeface="+mn-ea"/>
                  <a:cs typeface="+mn-cs"/>
                </a:rPr>
                <a:t>Мониторинг насосов: от замера вибрации до оповещения</a:t>
              </a:r>
              <a:br>
                <a:rPr lang="ru" sz="2550" b="1" dirty="0">
                  <a:solidFill>
                    <a:srgbClr val="17212B"/>
                  </a:solidFill>
                  <a:latin typeface="+mn-lt"/>
                  <a:ea typeface="+mn-ea"/>
                  <a:cs typeface="+mn-cs"/>
                </a:rPr>
              </a:br>
              <a:r>
                <a:rPr lang="ru" sz="2550" b="1" dirty="0">
                  <a:solidFill>
                    <a:srgbClr val="17212B"/>
                  </a:solidFill>
                  <a:latin typeface="+mn-lt"/>
                  <a:ea typeface="+mn-ea"/>
                  <a:cs typeface="+mn-cs"/>
                </a:rPr>
                <a:t>проходит около минуты</a:t>
              </a:r>
            </a:p>
          </p:txBody>
        </p:sp>
      </p:grpSp>
      <p:grpSp>
        <p:nvGrpSpPr>
          <p:cNvPr id="8" name="kpi-rate"/>
          <p:cNvGrpSpPr/>
          <p:nvPr/>
        </p:nvGrpSpPr>
        <p:grpSpPr>
          <a:xfrm>
            <a:off x="590550" y="1898650"/>
            <a:ext cx="2881535" cy="1174496"/>
            <a:chOff x="590550" y="1898650"/>
            <a:chExt cx="2881535" cy="1174496"/>
          </a:xfrm>
        </p:grpSpPr>
        <p:sp>
          <p:nvSpPr>
            <p:cNvPr id="5" name="TextBox 5"/>
            <p:cNvSpPr txBox="1"/>
            <p:nvPr/>
          </p:nvSpPr>
          <p:spPr>
            <a:xfrm>
              <a:off x="590550" y="1898650"/>
              <a:ext cx="1896063" cy="876300"/>
            </a:xfrm>
            <a:prstGeom prst="rect">
              <a:avLst/>
            </a:prstGeom>
            <a:noFill/>
            <a:ln>
              <a:noFill/>
            </a:ln>
          </p:spPr>
          <p:txBody>
            <a:bodyPr wrap="square" lIns="0" tIns="0" rIns="0" bIns="0" anchor="t" anchorCtr="0">
              <a:spAutoFit/>
            </a:bodyPr>
            <a:lstStyle/>
            <a:p>
              <a:pPr algn="l"/>
              <a:r>
                <a:rPr lang="ru" sz="4500" b="1" dirty="0">
                  <a:solidFill>
                    <a:srgbClr val="0E6680"/>
                  </a:solidFill>
                  <a:latin typeface="+mn-lt"/>
                  <a:ea typeface="+mn-ea"/>
                  <a:cs typeface="+mn-cs"/>
                </a:rPr>
                <a:t>2 000</a:t>
              </a:r>
            </a:p>
          </p:txBody>
        </p:sp>
        <p:sp>
          <p:nvSpPr>
            <p:cNvPr id="6" name="TextBox 6"/>
            <p:cNvSpPr txBox="1"/>
            <p:nvPr/>
          </p:nvSpPr>
          <p:spPr>
            <a:xfrm>
              <a:off x="601980" y="2571750"/>
              <a:ext cx="2187893" cy="293370"/>
            </a:xfrm>
            <a:prstGeom prst="rect">
              <a:avLst/>
            </a:prstGeom>
            <a:noFill/>
            <a:ln>
              <a:noFill/>
            </a:ln>
          </p:spPr>
          <p:txBody>
            <a:bodyPr wrap="square" lIns="0" tIns="0" rIns="0" bIns="0" anchor="t" anchorCtr="0">
              <a:spAutoFit/>
            </a:bodyPr>
            <a:lstStyle/>
            <a:p>
              <a:pPr algn="l"/>
              <a:r>
                <a:rPr lang="ru" sz="1500" dirty="0">
                  <a:solidFill>
                    <a:srgbClr val="17212B"/>
                  </a:solidFill>
                  <a:latin typeface="+mn-lt"/>
                  <a:ea typeface="+mn-ea"/>
                  <a:cs typeface="+mn-cs"/>
                </a:rPr>
                <a:t>событий в секунду</a:t>
              </a:r>
            </a:p>
          </p:txBody>
        </p:sp>
        <p:sp>
          <p:nvSpPr>
            <p:cNvPr id="7" name="TextBox 7"/>
            <p:cNvSpPr txBox="1"/>
            <p:nvPr/>
          </p:nvSpPr>
          <p:spPr>
            <a:xfrm>
              <a:off x="603504" y="2838450"/>
              <a:ext cx="3499668"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200 датчиков × 10 замеров в секунду</a:t>
              </a:r>
            </a:p>
          </p:txBody>
        </p:sp>
      </p:grpSp>
      <p:grpSp>
        <p:nvGrpSpPr>
          <p:cNvPr id="12" name="kpi-window"/>
          <p:cNvGrpSpPr/>
          <p:nvPr/>
        </p:nvGrpSpPr>
        <p:grpSpPr>
          <a:xfrm>
            <a:off x="4552950" y="1898650"/>
            <a:ext cx="3047828" cy="1174496"/>
            <a:chOff x="4552950" y="1898650"/>
            <a:chExt cx="3047828" cy="1174496"/>
          </a:xfrm>
        </p:grpSpPr>
        <p:sp>
          <p:nvSpPr>
            <p:cNvPr id="9" name="TextBox 9"/>
            <p:cNvSpPr txBox="1"/>
            <p:nvPr/>
          </p:nvSpPr>
          <p:spPr>
            <a:xfrm>
              <a:off x="4552950" y="1898650"/>
              <a:ext cx="1943289" cy="876300"/>
            </a:xfrm>
            <a:prstGeom prst="rect">
              <a:avLst/>
            </a:prstGeom>
            <a:noFill/>
            <a:ln>
              <a:noFill/>
            </a:ln>
          </p:spPr>
          <p:txBody>
            <a:bodyPr wrap="square" lIns="0" tIns="0" rIns="0" bIns="0" anchor="t" anchorCtr="0">
              <a:spAutoFit/>
            </a:bodyPr>
            <a:lstStyle/>
            <a:p>
              <a:pPr algn="l"/>
              <a:r>
                <a:rPr lang="ru" sz="4500" b="1" dirty="0">
                  <a:solidFill>
                    <a:srgbClr val="0E6680"/>
                  </a:solidFill>
                  <a:latin typeface="+mn-lt"/>
                  <a:ea typeface="+mn-ea"/>
                  <a:cs typeface="+mn-cs"/>
                </a:rPr>
                <a:t>1 мин</a:t>
              </a:r>
            </a:p>
          </p:txBody>
        </p:sp>
        <p:sp>
          <p:nvSpPr>
            <p:cNvPr id="10" name="TextBox 10"/>
            <p:cNvSpPr txBox="1"/>
            <p:nvPr/>
          </p:nvSpPr>
          <p:spPr>
            <a:xfrm>
              <a:off x="4564380" y="2571750"/>
              <a:ext cx="3679717" cy="293370"/>
            </a:xfrm>
            <a:prstGeom prst="rect">
              <a:avLst/>
            </a:prstGeom>
            <a:noFill/>
            <a:ln>
              <a:noFill/>
            </a:ln>
          </p:spPr>
          <p:txBody>
            <a:bodyPr wrap="square" lIns="0" tIns="0" rIns="0" bIns="0" anchor="t" anchorCtr="0">
              <a:spAutoFit/>
            </a:bodyPr>
            <a:lstStyle/>
            <a:p>
              <a:pPr algn="l"/>
              <a:r>
                <a:rPr lang="ru" sz="1500" dirty="0">
                  <a:solidFill>
                    <a:srgbClr val="17212B"/>
                  </a:solidFill>
                  <a:latin typeface="+mn-lt"/>
                  <a:ea typeface="+mn-ea"/>
                  <a:cs typeface="+mn-cs"/>
                </a:rPr>
                <a:t>длина окна по времени события</a:t>
              </a:r>
            </a:p>
          </p:txBody>
        </p:sp>
        <p:sp>
          <p:nvSpPr>
            <p:cNvPr id="11" name="TextBox 11"/>
            <p:cNvSpPr txBox="1"/>
            <p:nvPr/>
          </p:nvSpPr>
          <p:spPr>
            <a:xfrm>
              <a:off x="4565904" y="2838450"/>
              <a:ext cx="3702546"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оповещение приходит в течение минуты</a:t>
              </a:r>
            </a:p>
          </p:txBody>
        </p:sp>
      </p:grpSp>
      <p:grpSp>
        <p:nvGrpSpPr>
          <p:cNvPr id="14" name="illustration-label"/>
          <p:cNvGrpSpPr/>
          <p:nvPr/>
        </p:nvGrpSpPr>
        <p:grpSpPr>
          <a:xfrm>
            <a:off x="8717018" y="1866900"/>
            <a:ext cx="2871478" cy="234696"/>
            <a:chOff x="8717018" y="1866900"/>
            <a:chExt cx="2871478" cy="234696"/>
          </a:xfrm>
        </p:grpSpPr>
        <p:sp>
          <p:nvSpPr>
            <p:cNvPr id="13" name="TextBox 13"/>
            <p:cNvSpPr txBox="1"/>
            <p:nvPr/>
          </p:nvSpPr>
          <p:spPr>
            <a:xfrm>
              <a:off x="8085293" y="1866900"/>
              <a:ext cx="3503203" cy="234696"/>
            </a:xfrm>
            <a:prstGeom prst="rect">
              <a:avLst/>
            </a:prstGeom>
            <a:noFill/>
            <a:ln>
              <a:noFill/>
            </a:ln>
          </p:spPr>
          <p:txBody>
            <a:bodyPr wrap="square" lIns="0" tIns="0" rIns="0" bIns="0" anchor="t" anchorCtr="0">
              <a:spAutoFit/>
            </a:bodyPr>
            <a:lstStyle/>
            <a:p>
              <a:pPr algn="r"/>
              <a:r>
                <a:rPr lang="ru" sz="1200" dirty="0">
                  <a:solidFill>
                    <a:srgbClr val="B35A12"/>
                  </a:solidFill>
                  <a:latin typeface="+mn-lt"/>
                  <a:ea typeface="+mn-ea"/>
                  <a:cs typeface="+mn-cs"/>
                </a:rPr>
                <a:t>Пример-иллюстрация: числа условные</a:t>
              </a:r>
            </a:p>
          </p:txBody>
        </p:sp>
      </p:grpSp>
      <p:grpSp>
        <p:nvGrpSpPr>
          <p:cNvPr id="31" name="pipeline-spine"/>
          <p:cNvGrpSpPr/>
          <p:nvPr/>
        </p:nvGrpSpPr>
        <p:grpSpPr>
          <a:xfrm>
            <a:off x="1390650" y="3638550"/>
            <a:ext cx="9382125" cy="571500"/>
            <a:chOff x="1390650" y="3638550"/>
            <a:chExt cx="9382125" cy="571500"/>
          </a:xfrm>
        </p:grpSpPr>
        <p:sp>
          <p:nvSpPr>
            <p:cNvPr id="15" name="Line 15"/>
            <p:cNvSpPr/>
            <p:nvPr/>
          </p:nvSpPr>
          <p:spPr>
            <a:xfrm>
              <a:off x="1676400" y="3924300"/>
              <a:ext cx="8810625" cy="9525"/>
            </a:xfrm>
            <a:custGeom>
              <a:avLst/>
              <a:gdLst/>
              <a:ahLst/>
              <a:cxnLst/>
              <a:rect l="l" t="t" r="r" b="b"/>
              <a:pathLst>
                <a:path w="8810625" h="9525">
                  <a:moveTo>
                    <a:pt x="0" y="0"/>
                  </a:moveTo>
                  <a:lnTo>
                    <a:pt x="8810625" y="0"/>
                  </a:lnTo>
                </a:path>
              </a:pathLst>
            </a:custGeom>
            <a:noFill/>
            <a:ln w="19050">
              <a:solidFill>
                <a:srgbClr val="8A96A1"/>
              </a:solidFill>
            </a:ln>
          </p:spPr>
        </p:sp>
        <p:grpSp>
          <p:nvGrpSpPr>
            <p:cNvPr id="21" name="step-markers"/>
            <p:cNvGrpSpPr/>
            <p:nvPr/>
          </p:nvGrpSpPr>
          <p:grpSpPr>
            <a:xfrm>
              <a:off x="1390650" y="3638550"/>
              <a:ext cx="9382125" cy="571500"/>
              <a:chOff x="1390650" y="3638550"/>
              <a:chExt cx="9382125" cy="571500"/>
            </a:xfrm>
          </p:grpSpPr>
          <p:sp>
            <p:nvSpPr>
              <p:cNvPr id="16" name="Ellipse 16"/>
              <p:cNvSpPr/>
              <p:nvPr/>
            </p:nvSpPr>
            <p:spPr>
              <a:xfrm>
                <a:off x="1390650" y="3638550"/>
                <a:ext cx="571500" cy="571500"/>
              </a:xfrm>
              <a:prstGeom prst="ellipse">
                <a:avLst/>
              </a:prstGeom>
              <a:solidFill>
                <a:srgbClr val="0E6680"/>
              </a:solidFill>
              <a:ln>
                <a:noFill/>
              </a:ln>
            </p:spPr>
          </p:sp>
          <p:sp>
            <p:nvSpPr>
              <p:cNvPr id="17" name="Ellipse 17"/>
              <p:cNvSpPr/>
              <p:nvPr/>
            </p:nvSpPr>
            <p:spPr>
              <a:xfrm>
                <a:off x="3581400" y="3638550"/>
                <a:ext cx="571500" cy="571500"/>
              </a:xfrm>
              <a:prstGeom prst="ellipse">
                <a:avLst/>
              </a:prstGeom>
              <a:solidFill>
                <a:srgbClr val="0E6680"/>
              </a:solidFill>
              <a:ln>
                <a:noFill/>
              </a:ln>
            </p:spPr>
          </p:sp>
          <p:sp>
            <p:nvSpPr>
              <p:cNvPr id="18" name="Ellipse 18"/>
              <p:cNvSpPr/>
              <p:nvPr/>
            </p:nvSpPr>
            <p:spPr>
              <a:xfrm>
                <a:off x="5781675" y="3638550"/>
                <a:ext cx="571500" cy="571500"/>
              </a:xfrm>
              <a:prstGeom prst="ellipse">
                <a:avLst/>
              </a:prstGeom>
              <a:solidFill>
                <a:srgbClr val="0E6680"/>
              </a:solidFill>
              <a:ln>
                <a:noFill/>
              </a:ln>
            </p:spPr>
          </p:sp>
          <p:sp>
            <p:nvSpPr>
              <p:cNvPr id="19" name="Ellipse 19"/>
              <p:cNvSpPr/>
              <p:nvPr/>
            </p:nvSpPr>
            <p:spPr>
              <a:xfrm>
                <a:off x="7972425" y="3638550"/>
                <a:ext cx="571500" cy="571500"/>
              </a:xfrm>
              <a:prstGeom prst="ellipse">
                <a:avLst/>
              </a:prstGeom>
              <a:solidFill>
                <a:srgbClr val="0E6680"/>
              </a:solidFill>
              <a:ln>
                <a:noFill/>
              </a:ln>
            </p:spPr>
          </p:sp>
          <p:sp>
            <p:nvSpPr>
              <p:cNvPr id="20" name="Ellipse 20"/>
              <p:cNvSpPr/>
              <p:nvPr/>
            </p:nvSpPr>
            <p:spPr>
              <a:xfrm>
                <a:off x="10201275" y="3638550"/>
                <a:ext cx="571500" cy="571500"/>
              </a:xfrm>
              <a:prstGeom prst="ellipse">
                <a:avLst/>
              </a:prstGeom>
              <a:solidFill>
                <a:srgbClr val="0E6680"/>
              </a:solidFill>
              <a:ln>
                <a:noFill/>
              </a:ln>
            </p:spPr>
          </p:sp>
        </p:grpSp>
        <p:sp>
          <p:nvSpPr>
            <p:cNvPr id="22" name="Freeform 22"/>
            <p:cNvSpPr/>
            <p:nvPr/>
          </p:nvSpPr>
          <p:spPr>
            <a:xfrm>
              <a:off x="1549400" y="3791611"/>
              <a:ext cx="267081" cy="267518"/>
            </a:xfrm>
            <a:custGeom>
              <a:avLst/>
              <a:gdLst/>
              <a:ahLst/>
              <a:cxnLst/>
              <a:rect l="l" t="t" r="r" b="b"/>
              <a:pathLst>
                <a:path w="267081" h="267518">
                  <a:moveTo>
                    <a:pt x="190500" y="22707"/>
                  </a:moveTo>
                  <a:cubicBezTo>
                    <a:pt x="243425" y="53266"/>
                    <a:pt x="267081" y="117187"/>
                    <a:pt x="246798" y="174837"/>
                  </a:cubicBezTo>
                  <a:cubicBezTo>
                    <a:pt x="226516" y="232488"/>
                    <a:pt x="168049" y="267518"/>
                    <a:pt x="107648" y="258207"/>
                  </a:cubicBezTo>
                  <a:cubicBezTo>
                    <a:pt x="47247" y="248896"/>
                    <a:pt x="2043" y="197886"/>
                    <a:pt x="63" y="136803"/>
                  </a:cubicBezTo>
                  <a:lnTo>
                    <a:pt x="0" y="132688"/>
                  </a:lnTo>
                  <a:lnTo>
                    <a:pt x="63" y="128574"/>
                  </a:lnTo>
                  <a:cubicBezTo>
                    <a:pt x="1510" y="83958"/>
                    <a:pt x="26274" y="43379"/>
                    <a:pt x="65289" y="21689"/>
                  </a:cubicBezTo>
                  <a:cubicBezTo>
                    <a:pt x="104304" y="0"/>
                    <a:pt x="151842" y="386"/>
                    <a:pt x="190500" y="22707"/>
                  </a:cubicBezTo>
                  <a:close/>
                  <a:moveTo>
                    <a:pt x="186778" y="72910"/>
                  </a:moveTo>
                  <a:cubicBezTo>
                    <a:pt x="181819" y="67952"/>
                    <a:pt x="173780" y="67952"/>
                    <a:pt x="168821" y="72910"/>
                  </a:cubicBezTo>
                  <a:lnTo>
                    <a:pt x="135928" y="105803"/>
                  </a:lnTo>
                  <a:lnTo>
                    <a:pt x="134874" y="106996"/>
                  </a:lnTo>
                  <a:lnTo>
                    <a:pt x="134010" y="108266"/>
                  </a:lnTo>
                  <a:cubicBezTo>
                    <a:pt x="126661" y="106159"/>
                    <a:pt x="118754" y="107472"/>
                    <a:pt x="112481" y="111841"/>
                  </a:cubicBezTo>
                  <a:cubicBezTo>
                    <a:pt x="106207" y="116211"/>
                    <a:pt x="102234" y="123172"/>
                    <a:pt x="101663" y="130796"/>
                  </a:cubicBezTo>
                  <a:lnTo>
                    <a:pt x="101600" y="132688"/>
                  </a:lnTo>
                  <a:lnTo>
                    <a:pt x="101663" y="134593"/>
                  </a:lnTo>
                  <a:cubicBezTo>
                    <a:pt x="102391" y="144260"/>
                    <a:pt x="108558" y="152670"/>
                    <a:pt x="117559" y="156270"/>
                  </a:cubicBezTo>
                  <a:cubicBezTo>
                    <a:pt x="126559" y="159870"/>
                    <a:pt x="136825" y="158033"/>
                    <a:pt x="144018" y="151535"/>
                  </a:cubicBezTo>
                  <a:cubicBezTo>
                    <a:pt x="151212" y="145036"/>
                    <a:pt x="154079" y="135010"/>
                    <a:pt x="151409" y="125691"/>
                  </a:cubicBezTo>
                  <a:cubicBezTo>
                    <a:pt x="152314" y="125156"/>
                    <a:pt x="153146" y="124507"/>
                    <a:pt x="153886" y="123760"/>
                  </a:cubicBezTo>
                  <a:lnTo>
                    <a:pt x="186778" y="90867"/>
                  </a:lnTo>
                  <a:lnTo>
                    <a:pt x="187833" y="89674"/>
                  </a:lnTo>
                  <a:cubicBezTo>
                    <a:pt x="191754" y="84618"/>
                    <a:pt x="191303" y="77434"/>
                    <a:pt x="186778" y="72910"/>
                  </a:cubicBezTo>
                  <a:close/>
                  <a:moveTo>
                    <a:pt x="127000" y="56489"/>
                  </a:moveTo>
                  <a:cubicBezTo>
                    <a:pt x="106790" y="56489"/>
                    <a:pt x="87409" y="64517"/>
                    <a:pt x="73118" y="78807"/>
                  </a:cubicBezTo>
                  <a:cubicBezTo>
                    <a:pt x="58828" y="93097"/>
                    <a:pt x="50800" y="112479"/>
                    <a:pt x="50800" y="132688"/>
                  </a:cubicBezTo>
                  <a:cubicBezTo>
                    <a:pt x="50800" y="139702"/>
                    <a:pt x="56486" y="145388"/>
                    <a:pt x="63500" y="145388"/>
                  </a:cubicBezTo>
                  <a:cubicBezTo>
                    <a:pt x="70514" y="145388"/>
                    <a:pt x="76200" y="139702"/>
                    <a:pt x="76200" y="132688"/>
                  </a:cubicBezTo>
                  <a:cubicBezTo>
                    <a:pt x="76200" y="104632"/>
                    <a:pt x="98944" y="81889"/>
                    <a:pt x="127000" y="81889"/>
                  </a:cubicBezTo>
                  <a:cubicBezTo>
                    <a:pt x="134014" y="81889"/>
                    <a:pt x="139700" y="76203"/>
                    <a:pt x="139700" y="69189"/>
                  </a:cubicBezTo>
                  <a:cubicBezTo>
                    <a:pt x="139700" y="62175"/>
                    <a:pt x="134014" y="56489"/>
                    <a:pt x="127000" y="56489"/>
                  </a:cubicBezTo>
                  <a:close/>
                </a:path>
              </a:pathLst>
            </a:custGeom>
            <a:solidFill>
              <a:srgbClr val="FFFFFF"/>
            </a:solidFill>
            <a:ln>
              <a:noFill/>
            </a:ln>
          </p:spPr>
        </p:sp>
        <p:sp>
          <p:nvSpPr>
            <p:cNvPr id="23" name="Freeform 23"/>
            <p:cNvSpPr/>
            <p:nvPr/>
          </p:nvSpPr>
          <p:spPr>
            <a:xfrm>
              <a:off x="3752850" y="3810000"/>
              <a:ext cx="228604" cy="241942"/>
            </a:xfrm>
            <a:custGeom>
              <a:avLst/>
              <a:gdLst/>
              <a:ahLst/>
              <a:cxnLst/>
              <a:rect l="l" t="t" r="r" b="b"/>
              <a:pathLst>
                <a:path w="228604" h="241942">
                  <a:moveTo>
                    <a:pt x="215899" y="0"/>
                  </a:moveTo>
                  <a:lnTo>
                    <a:pt x="12700" y="0"/>
                  </a:lnTo>
                  <a:cubicBezTo>
                    <a:pt x="5686" y="0"/>
                    <a:pt x="0" y="5686"/>
                    <a:pt x="0" y="12700"/>
                  </a:cubicBezTo>
                  <a:lnTo>
                    <a:pt x="0" y="40983"/>
                  </a:lnTo>
                  <a:lnTo>
                    <a:pt x="102" y="43815"/>
                  </a:lnTo>
                  <a:cubicBezTo>
                    <a:pt x="734" y="52295"/>
                    <a:pt x="4185" y="60320"/>
                    <a:pt x="9906" y="66611"/>
                  </a:cubicBezTo>
                  <a:lnTo>
                    <a:pt x="63500" y="125552"/>
                  </a:lnTo>
                  <a:lnTo>
                    <a:pt x="63500" y="228599"/>
                  </a:lnTo>
                  <a:cubicBezTo>
                    <a:pt x="63499" y="232682"/>
                    <a:pt x="65460" y="236516"/>
                    <a:pt x="68772" y="238903"/>
                  </a:cubicBezTo>
                  <a:cubicBezTo>
                    <a:pt x="72083" y="241291"/>
                    <a:pt x="76340" y="241942"/>
                    <a:pt x="80213" y="240652"/>
                  </a:cubicBezTo>
                  <a:lnTo>
                    <a:pt x="156413" y="215252"/>
                  </a:lnTo>
                  <a:lnTo>
                    <a:pt x="157784" y="214706"/>
                  </a:lnTo>
                  <a:cubicBezTo>
                    <a:pt x="162249" y="212615"/>
                    <a:pt x="165101" y="208130"/>
                    <a:pt x="165100" y="203199"/>
                  </a:cubicBezTo>
                  <a:lnTo>
                    <a:pt x="165100" y="119558"/>
                  </a:lnTo>
                  <a:lnTo>
                    <a:pt x="217436" y="67234"/>
                  </a:lnTo>
                  <a:cubicBezTo>
                    <a:pt x="224588" y="60084"/>
                    <a:pt x="228604" y="50384"/>
                    <a:pt x="228599" y="40272"/>
                  </a:cubicBezTo>
                  <a:lnTo>
                    <a:pt x="228599" y="12700"/>
                  </a:lnTo>
                  <a:cubicBezTo>
                    <a:pt x="228599" y="5686"/>
                    <a:pt x="222913" y="0"/>
                    <a:pt x="215899" y="0"/>
                  </a:cubicBezTo>
                  <a:close/>
                </a:path>
              </a:pathLst>
            </a:custGeom>
            <a:solidFill>
              <a:srgbClr val="FFFFFF"/>
            </a:solidFill>
            <a:ln>
              <a:noFill/>
            </a:ln>
          </p:spPr>
        </p:sp>
        <p:sp>
          <p:nvSpPr>
            <p:cNvPr id="24" name="Freeform 24"/>
            <p:cNvSpPr/>
            <p:nvPr/>
          </p:nvSpPr>
          <p:spPr>
            <a:xfrm>
              <a:off x="5951748" y="3810000"/>
              <a:ext cx="231774" cy="229039"/>
            </a:xfrm>
            <a:custGeom>
              <a:avLst/>
              <a:gdLst/>
              <a:ahLst/>
              <a:cxnLst/>
              <a:rect l="l" t="t" r="r" b="b"/>
              <a:pathLst>
                <a:path w="231774" h="229039">
                  <a:moveTo>
                    <a:pt x="228630" y="159423"/>
                  </a:moveTo>
                  <a:cubicBezTo>
                    <a:pt x="231761" y="165693"/>
                    <a:pt x="229221" y="173316"/>
                    <a:pt x="222953" y="176453"/>
                  </a:cubicBezTo>
                  <a:lnTo>
                    <a:pt x="121353" y="227253"/>
                  </a:lnTo>
                  <a:cubicBezTo>
                    <a:pt x="117779" y="229039"/>
                    <a:pt x="113573" y="229039"/>
                    <a:pt x="109999" y="227253"/>
                  </a:cubicBezTo>
                  <a:lnTo>
                    <a:pt x="8400" y="176453"/>
                  </a:lnTo>
                  <a:cubicBezTo>
                    <a:pt x="2361" y="173197"/>
                    <a:pt x="0" y="165732"/>
                    <a:pt x="3068" y="159596"/>
                  </a:cubicBezTo>
                  <a:cubicBezTo>
                    <a:pt x="6137" y="153459"/>
                    <a:pt x="13525" y="150869"/>
                    <a:pt x="19753" y="153746"/>
                  </a:cubicBezTo>
                  <a:lnTo>
                    <a:pt x="115676" y="201675"/>
                  </a:lnTo>
                  <a:lnTo>
                    <a:pt x="211612" y="153733"/>
                  </a:lnTo>
                  <a:cubicBezTo>
                    <a:pt x="217883" y="150601"/>
                    <a:pt x="225505" y="153142"/>
                    <a:pt x="228643" y="159410"/>
                  </a:cubicBezTo>
                  <a:moveTo>
                    <a:pt x="228643" y="108610"/>
                  </a:moveTo>
                  <a:cubicBezTo>
                    <a:pt x="231774" y="114881"/>
                    <a:pt x="229233" y="122503"/>
                    <a:pt x="222966" y="125641"/>
                  </a:cubicBezTo>
                  <a:lnTo>
                    <a:pt x="121366" y="176441"/>
                  </a:lnTo>
                  <a:cubicBezTo>
                    <a:pt x="117792" y="178227"/>
                    <a:pt x="113586" y="178227"/>
                    <a:pt x="110012" y="176441"/>
                  </a:cubicBezTo>
                  <a:lnTo>
                    <a:pt x="8412" y="125641"/>
                  </a:lnTo>
                  <a:cubicBezTo>
                    <a:pt x="2373" y="122384"/>
                    <a:pt x="13" y="114920"/>
                    <a:pt x="3081" y="108783"/>
                  </a:cubicBezTo>
                  <a:cubicBezTo>
                    <a:pt x="6150" y="102646"/>
                    <a:pt x="13537" y="100056"/>
                    <a:pt x="19766" y="102933"/>
                  </a:cubicBezTo>
                  <a:lnTo>
                    <a:pt x="115676" y="150876"/>
                  </a:lnTo>
                  <a:lnTo>
                    <a:pt x="211612" y="102933"/>
                  </a:lnTo>
                  <a:cubicBezTo>
                    <a:pt x="217883" y="99802"/>
                    <a:pt x="225505" y="102342"/>
                    <a:pt x="228643" y="108610"/>
                  </a:cubicBezTo>
                  <a:moveTo>
                    <a:pt x="115778" y="0"/>
                  </a:moveTo>
                  <a:cubicBezTo>
                    <a:pt x="116252" y="0"/>
                    <a:pt x="116722" y="30"/>
                    <a:pt x="117188" y="89"/>
                  </a:cubicBezTo>
                  <a:lnTo>
                    <a:pt x="118597" y="343"/>
                  </a:lnTo>
                  <a:lnTo>
                    <a:pt x="119690" y="648"/>
                  </a:lnTo>
                  <a:lnTo>
                    <a:pt x="119842" y="724"/>
                  </a:lnTo>
                  <a:lnTo>
                    <a:pt x="119994" y="749"/>
                  </a:lnTo>
                  <a:lnTo>
                    <a:pt x="120363" y="927"/>
                  </a:lnTo>
                  <a:lnTo>
                    <a:pt x="120998" y="1168"/>
                  </a:lnTo>
                  <a:lnTo>
                    <a:pt x="121201" y="1283"/>
                  </a:lnTo>
                  <a:lnTo>
                    <a:pt x="121353" y="1346"/>
                  </a:lnTo>
                  <a:lnTo>
                    <a:pt x="222953" y="52146"/>
                  </a:lnTo>
                  <a:cubicBezTo>
                    <a:pt x="227250" y="54299"/>
                    <a:pt x="229962" y="58694"/>
                    <a:pt x="229962" y="63500"/>
                  </a:cubicBezTo>
                  <a:cubicBezTo>
                    <a:pt x="229962" y="68306"/>
                    <a:pt x="227250" y="72700"/>
                    <a:pt x="222953" y="74854"/>
                  </a:cubicBezTo>
                  <a:lnTo>
                    <a:pt x="121353" y="125653"/>
                  </a:lnTo>
                  <a:cubicBezTo>
                    <a:pt x="117779" y="127439"/>
                    <a:pt x="113573" y="127439"/>
                    <a:pt x="109999" y="125653"/>
                  </a:cubicBezTo>
                  <a:lnTo>
                    <a:pt x="8400" y="74854"/>
                  </a:lnTo>
                  <a:cubicBezTo>
                    <a:pt x="4103" y="72700"/>
                    <a:pt x="1390" y="68306"/>
                    <a:pt x="1390" y="63500"/>
                  </a:cubicBezTo>
                  <a:cubicBezTo>
                    <a:pt x="1390" y="58694"/>
                    <a:pt x="4103" y="54299"/>
                    <a:pt x="8400" y="52146"/>
                  </a:cubicBezTo>
                  <a:lnTo>
                    <a:pt x="109999" y="1346"/>
                  </a:lnTo>
                  <a:lnTo>
                    <a:pt x="110139" y="1283"/>
                  </a:lnTo>
                  <a:lnTo>
                    <a:pt x="110368" y="1156"/>
                  </a:lnTo>
                  <a:lnTo>
                    <a:pt x="111358" y="749"/>
                  </a:lnTo>
                  <a:lnTo>
                    <a:pt x="111498" y="724"/>
                  </a:lnTo>
                  <a:lnTo>
                    <a:pt x="111663" y="648"/>
                  </a:lnTo>
                  <a:lnTo>
                    <a:pt x="112755" y="343"/>
                  </a:lnTo>
                  <a:lnTo>
                    <a:pt x="114152" y="89"/>
                  </a:lnTo>
                  <a:lnTo>
                    <a:pt x="114864" y="25"/>
                  </a:lnTo>
                  <a:close/>
                </a:path>
              </a:pathLst>
            </a:custGeom>
            <a:solidFill>
              <a:srgbClr val="FFFFFF"/>
            </a:solidFill>
            <a:ln>
              <a:noFill/>
            </a:ln>
          </p:spPr>
        </p:sp>
        <p:sp>
          <p:nvSpPr>
            <p:cNvPr id="25" name="Freeform 25"/>
            <p:cNvSpPr/>
            <p:nvPr/>
          </p:nvSpPr>
          <p:spPr>
            <a:xfrm>
              <a:off x="8118475" y="3792703"/>
              <a:ext cx="279399" cy="258597"/>
            </a:xfrm>
            <a:custGeom>
              <a:avLst/>
              <a:gdLst/>
              <a:ahLst/>
              <a:cxnLst/>
              <a:rect l="l" t="t" r="r" b="b"/>
              <a:pathLst>
                <a:path w="279399" h="258597">
                  <a:moveTo>
                    <a:pt x="101600" y="233197"/>
                  </a:moveTo>
                  <a:cubicBezTo>
                    <a:pt x="101600" y="247225"/>
                    <a:pt x="90228" y="258597"/>
                    <a:pt x="76200" y="258597"/>
                  </a:cubicBezTo>
                  <a:lnTo>
                    <a:pt x="25400" y="258597"/>
                  </a:lnTo>
                  <a:cubicBezTo>
                    <a:pt x="18386" y="258597"/>
                    <a:pt x="12700" y="252911"/>
                    <a:pt x="12700" y="245897"/>
                  </a:cubicBezTo>
                  <a:cubicBezTo>
                    <a:pt x="12700" y="238883"/>
                    <a:pt x="18386" y="233197"/>
                    <a:pt x="25400" y="233197"/>
                  </a:cubicBezTo>
                  <a:lnTo>
                    <a:pt x="76200" y="233197"/>
                  </a:lnTo>
                  <a:lnTo>
                    <a:pt x="76200" y="195135"/>
                  </a:lnTo>
                  <a:lnTo>
                    <a:pt x="71844" y="195148"/>
                  </a:lnTo>
                  <a:cubicBezTo>
                    <a:pt x="71347" y="195147"/>
                    <a:pt x="70851" y="195117"/>
                    <a:pt x="70358" y="195059"/>
                  </a:cubicBezTo>
                  <a:lnTo>
                    <a:pt x="69024" y="195046"/>
                  </a:lnTo>
                  <a:cubicBezTo>
                    <a:pt x="31686" y="193649"/>
                    <a:pt x="1499" y="164579"/>
                    <a:pt x="63" y="128206"/>
                  </a:cubicBezTo>
                  <a:lnTo>
                    <a:pt x="0" y="125463"/>
                  </a:lnTo>
                  <a:cubicBezTo>
                    <a:pt x="0" y="90576"/>
                    <a:pt x="26416" y="61836"/>
                    <a:pt x="60757" y="56667"/>
                  </a:cubicBezTo>
                  <a:lnTo>
                    <a:pt x="62204" y="56464"/>
                  </a:lnTo>
                  <a:lnTo>
                    <a:pt x="63093" y="54165"/>
                  </a:lnTo>
                  <a:cubicBezTo>
                    <a:pt x="71514" y="33591"/>
                    <a:pt x="89205" y="17259"/>
                    <a:pt x="111722" y="9487"/>
                  </a:cubicBezTo>
                  <a:lnTo>
                    <a:pt x="114820" y="8471"/>
                  </a:lnTo>
                  <a:cubicBezTo>
                    <a:pt x="142684" y="0"/>
                    <a:pt x="173418" y="5626"/>
                    <a:pt x="195592" y="23406"/>
                  </a:cubicBezTo>
                  <a:cubicBezTo>
                    <a:pt x="213182" y="37478"/>
                    <a:pt x="223367" y="57518"/>
                    <a:pt x="224167" y="78524"/>
                  </a:cubicBezTo>
                  <a:lnTo>
                    <a:pt x="224218" y="81216"/>
                  </a:lnTo>
                  <a:lnTo>
                    <a:pt x="225374" y="81254"/>
                  </a:lnTo>
                  <a:cubicBezTo>
                    <a:pt x="254584" y="82613"/>
                    <a:pt x="277990" y="106159"/>
                    <a:pt x="279349" y="135483"/>
                  </a:cubicBezTo>
                  <a:lnTo>
                    <a:pt x="279399" y="138163"/>
                  </a:lnTo>
                  <a:cubicBezTo>
                    <a:pt x="279399" y="169633"/>
                    <a:pt x="254037" y="195148"/>
                    <a:pt x="222694" y="195148"/>
                  </a:cubicBezTo>
                  <a:lnTo>
                    <a:pt x="203199" y="195148"/>
                  </a:lnTo>
                  <a:lnTo>
                    <a:pt x="203199" y="233197"/>
                  </a:lnTo>
                  <a:lnTo>
                    <a:pt x="253999" y="233197"/>
                  </a:lnTo>
                  <a:cubicBezTo>
                    <a:pt x="261013" y="233197"/>
                    <a:pt x="266699" y="238883"/>
                    <a:pt x="266699" y="245897"/>
                  </a:cubicBezTo>
                  <a:cubicBezTo>
                    <a:pt x="266699" y="252911"/>
                    <a:pt x="261013" y="258597"/>
                    <a:pt x="253999" y="258597"/>
                  </a:cubicBezTo>
                  <a:lnTo>
                    <a:pt x="203199" y="258597"/>
                  </a:lnTo>
                  <a:cubicBezTo>
                    <a:pt x="189171" y="258597"/>
                    <a:pt x="177800" y="247225"/>
                    <a:pt x="177800" y="233197"/>
                  </a:cubicBezTo>
                  <a:lnTo>
                    <a:pt x="177800" y="195135"/>
                  </a:lnTo>
                  <a:lnTo>
                    <a:pt x="152400" y="195135"/>
                  </a:lnTo>
                  <a:lnTo>
                    <a:pt x="152400" y="245897"/>
                  </a:lnTo>
                  <a:cubicBezTo>
                    <a:pt x="152400" y="252911"/>
                    <a:pt x="146714" y="258597"/>
                    <a:pt x="139700" y="258597"/>
                  </a:cubicBezTo>
                  <a:cubicBezTo>
                    <a:pt x="132686" y="258597"/>
                    <a:pt x="127000" y="252911"/>
                    <a:pt x="127000" y="245897"/>
                  </a:cubicBezTo>
                  <a:lnTo>
                    <a:pt x="127000" y="195135"/>
                  </a:lnTo>
                  <a:lnTo>
                    <a:pt x="101600" y="195135"/>
                  </a:lnTo>
                  <a:close/>
                </a:path>
              </a:pathLst>
            </a:custGeom>
            <a:solidFill>
              <a:srgbClr val="FFFFFF"/>
            </a:solidFill>
            <a:ln>
              <a:noFill/>
            </a:ln>
          </p:spPr>
        </p:sp>
        <p:grpSp>
          <p:nvGrpSpPr>
            <p:cNvPr id="30" name="Group 30"/>
            <p:cNvGrpSpPr/>
            <p:nvPr/>
          </p:nvGrpSpPr>
          <p:grpSpPr>
            <a:xfrm>
              <a:off x="10359189" y="3795810"/>
              <a:ext cx="255576" cy="255501"/>
              <a:chOff x="10359189" y="3795810"/>
              <a:chExt cx="255576" cy="255501"/>
            </a:xfrm>
          </p:grpSpPr>
          <p:sp>
            <p:nvSpPr>
              <p:cNvPr id="26" name="Freeform 26"/>
              <p:cNvSpPr/>
              <p:nvPr/>
            </p:nvSpPr>
            <p:spPr>
              <a:xfrm>
                <a:off x="10551661" y="3795818"/>
                <a:ext cx="63104" cy="74587"/>
              </a:xfrm>
              <a:custGeom>
                <a:avLst/>
                <a:gdLst/>
                <a:ahLst/>
                <a:cxnLst/>
                <a:rect l="l" t="t" r="r" b="b"/>
                <a:pathLst>
                  <a:path w="63104" h="74587">
                    <a:moveTo>
                      <a:pt x="4591" y="5851"/>
                    </a:moveTo>
                    <a:cubicBezTo>
                      <a:pt x="9190" y="563"/>
                      <a:pt x="17204" y="0"/>
                      <a:pt x="22498" y="4594"/>
                    </a:cubicBezTo>
                    <a:cubicBezTo>
                      <a:pt x="38922" y="18852"/>
                      <a:pt x="52118" y="36447"/>
                      <a:pt x="61207" y="56207"/>
                    </a:cubicBezTo>
                    <a:cubicBezTo>
                      <a:pt x="63104" y="60331"/>
                      <a:pt x="62656" y="65154"/>
                      <a:pt x="60032" y="68858"/>
                    </a:cubicBezTo>
                    <a:cubicBezTo>
                      <a:pt x="57409" y="72563"/>
                      <a:pt x="53008" y="74587"/>
                      <a:pt x="48488" y="74167"/>
                    </a:cubicBezTo>
                    <a:cubicBezTo>
                      <a:pt x="43968" y="73747"/>
                      <a:pt x="40015" y="70948"/>
                      <a:pt x="38119" y="66824"/>
                    </a:cubicBezTo>
                    <a:cubicBezTo>
                      <a:pt x="30547" y="50344"/>
                      <a:pt x="19550" y="35667"/>
                      <a:pt x="5861" y="23771"/>
                    </a:cubicBezTo>
                    <a:cubicBezTo>
                      <a:pt x="568" y="19175"/>
                      <a:pt x="0" y="11161"/>
                      <a:pt x="4591" y="5864"/>
                    </a:cubicBezTo>
                    <a:close/>
                  </a:path>
                </a:pathLst>
              </a:custGeom>
              <a:solidFill>
                <a:srgbClr val="FFFFFF"/>
              </a:solidFill>
              <a:ln>
                <a:noFill/>
              </a:ln>
            </p:spPr>
          </p:sp>
          <p:sp>
            <p:nvSpPr>
              <p:cNvPr id="27" name="Freeform 27"/>
              <p:cNvSpPr/>
              <p:nvPr/>
            </p:nvSpPr>
            <p:spPr>
              <a:xfrm>
                <a:off x="10359189" y="3795810"/>
                <a:ext cx="63184" cy="74827"/>
              </a:xfrm>
              <a:custGeom>
                <a:avLst/>
                <a:gdLst/>
                <a:ahLst/>
                <a:cxnLst/>
                <a:rect l="l" t="t" r="r" b="b"/>
                <a:pathLst>
                  <a:path w="63184" h="74827">
                    <a:moveTo>
                      <a:pt x="40663" y="4601"/>
                    </a:moveTo>
                    <a:cubicBezTo>
                      <a:pt x="45959" y="0"/>
                      <a:pt x="53982" y="563"/>
                      <a:pt x="58583" y="5858"/>
                    </a:cubicBezTo>
                    <a:cubicBezTo>
                      <a:pt x="63184" y="11154"/>
                      <a:pt x="62621" y="19177"/>
                      <a:pt x="57326" y="23778"/>
                    </a:cubicBezTo>
                    <a:cubicBezTo>
                      <a:pt x="43636" y="35674"/>
                      <a:pt x="32639" y="50351"/>
                      <a:pt x="25068" y="66831"/>
                    </a:cubicBezTo>
                    <a:cubicBezTo>
                      <a:pt x="23225" y="71037"/>
                      <a:pt x="19257" y="73921"/>
                      <a:pt x="14687" y="74374"/>
                    </a:cubicBezTo>
                    <a:cubicBezTo>
                      <a:pt x="10118" y="74827"/>
                      <a:pt x="5660" y="72778"/>
                      <a:pt x="3028" y="69016"/>
                    </a:cubicBezTo>
                    <a:cubicBezTo>
                      <a:pt x="396" y="65254"/>
                      <a:pt x="0" y="60364"/>
                      <a:pt x="1992" y="56227"/>
                    </a:cubicBezTo>
                    <a:cubicBezTo>
                      <a:pt x="11068" y="36466"/>
                      <a:pt x="24251" y="18867"/>
                      <a:pt x="40663" y="4601"/>
                    </a:cubicBezTo>
                    <a:close/>
                  </a:path>
                </a:pathLst>
              </a:custGeom>
              <a:solidFill>
                <a:srgbClr val="FFFFFF"/>
              </a:solidFill>
              <a:ln>
                <a:noFill/>
              </a:ln>
            </p:spPr>
          </p:sp>
          <p:sp>
            <p:nvSpPr>
              <p:cNvPr id="28" name="Freeform 28"/>
              <p:cNvSpPr/>
              <p:nvPr/>
            </p:nvSpPr>
            <p:spPr>
              <a:xfrm>
                <a:off x="10442168" y="4013199"/>
                <a:ext cx="90030" cy="38112"/>
              </a:xfrm>
              <a:custGeom>
                <a:avLst/>
                <a:gdLst/>
                <a:ahLst/>
                <a:cxnLst/>
                <a:rect l="l" t="t" r="r" b="b"/>
                <a:pathLst>
                  <a:path w="90030" h="38112">
                    <a:moveTo>
                      <a:pt x="73241" y="0"/>
                    </a:moveTo>
                    <a:cubicBezTo>
                      <a:pt x="84226" y="0"/>
                      <a:pt x="90030" y="13005"/>
                      <a:pt x="82702" y="21184"/>
                    </a:cubicBezTo>
                    <a:cubicBezTo>
                      <a:pt x="73074" y="31958"/>
                      <a:pt x="59306" y="38112"/>
                      <a:pt x="44856" y="38100"/>
                    </a:cubicBezTo>
                    <a:cubicBezTo>
                      <a:pt x="30407" y="38112"/>
                      <a:pt x="16639" y="31958"/>
                      <a:pt x="7010" y="21184"/>
                    </a:cubicBezTo>
                    <a:cubicBezTo>
                      <a:pt x="0" y="13360"/>
                      <a:pt x="5004" y="1130"/>
                      <a:pt x="15062" y="89"/>
                    </a:cubicBezTo>
                    <a:lnTo>
                      <a:pt x="16459" y="13"/>
                    </a:lnTo>
                    <a:lnTo>
                      <a:pt x="73241" y="13"/>
                    </a:lnTo>
                    <a:close/>
                  </a:path>
                </a:pathLst>
              </a:custGeom>
              <a:solidFill>
                <a:srgbClr val="FFFFFF"/>
              </a:solidFill>
              <a:ln>
                <a:noFill/>
              </a:ln>
            </p:spPr>
          </p:sp>
          <p:sp>
            <p:nvSpPr>
              <p:cNvPr id="29" name="Freeform 29"/>
              <p:cNvSpPr/>
              <p:nvPr/>
            </p:nvSpPr>
            <p:spPr>
              <a:xfrm>
                <a:off x="10367810" y="3797300"/>
                <a:ext cx="237997" cy="203199"/>
              </a:xfrm>
              <a:custGeom>
                <a:avLst/>
                <a:gdLst/>
                <a:ahLst/>
                <a:cxnLst/>
                <a:rect l="l" t="t" r="r" b="b"/>
                <a:pathLst>
                  <a:path w="237997" h="203199">
                    <a:moveTo>
                      <a:pt x="119215" y="0"/>
                    </a:moveTo>
                    <a:cubicBezTo>
                      <a:pt x="136461" y="0"/>
                      <a:pt x="151041" y="11468"/>
                      <a:pt x="155727" y="27191"/>
                    </a:cubicBezTo>
                    <a:lnTo>
                      <a:pt x="156311" y="29362"/>
                    </a:lnTo>
                    <a:lnTo>
                      <a:pt x="156413" y="29908"/>
                    </a:lnTo>
                    <a:cubicBezTo>
                      <a:pt x="184812" y="45930"/>
                      <a:pt x="203814" y="74589"/>
                      <a:pt x="207517" y="106985"/>
                    </a:cubicBezTo>
                    <a:lnTo>
                      <a:pt x="207873" y="110629"/>
                    </a:lnTo>
                    <a:lnTo>
                      <a:pt x="208114" y="114300"/>
                    </a:lnTo>
                    <a:lnTo>
                      <a:pt x="208114" y="151523"/>
                    </a:lnTo>
                    <a:lnTo>
                      <a:pt x="208381" y="153251"/>
                    </a:lnTo>
                    <a:cubicBezTo>
                      <a:pt x="210120" y="162608"/>
                      <a:pt x="215298" y="170976"/>
                      <a:pt x="222897" y="176707"/>
                    </a:cubicBezTo>
                    <a:lnTo>
                      <a:pt x="225018" y="178193"/>
                    </a:lnTo>
                    <a:lnTo>
                      <a:pt x="227075" y="179451"/>
                    </a:lnTo>
                    <a:cubicBezTo>
                      <a:pt x="237997" y="185635"/>
                      <a:pt x="234187" y="201879"/>
                      <a:pt x="222288" y="203123"/>
                    </a:cubicBezTo>
                    <a:lnTo>
                      <a:pt x="220814" y="203199"/>
                    </a:lnTo>
                    <a:lnTo>
                      <a:pt x="17615" y="203199"/>
                    </a:lnTo>
                    <a:cubicBezTo>
                      <a:pt x="4559" y="203199"/>
                      <a:pt x="0" y="185877"/>
                      <a:pt x="11354" y="179451"/>
                    </a:cubicBezTo>
                    <a:cubicBezTo>
                      <a:pt x="21149" y="173907"/>
                      <a:pt x="27992" y="164316"/>
                      <a:pt x="30048" y="153251"/>
                    </a:cubicBezTo>
                    <a:lnTo>
                      <a:pt x="30315" y="151434"/>
                    </a:lnTo>
                    <a:lnTo>
                      <a:pt x="30328" y="113716"/>
                    </a:lnTo>
                    <a:cubicBezTo>
                      <a:pt x="31900" y="80034"/>
                      <a:pt x="50080" y="49327"/>
                      <a:pt x="78854" y="31750"/>
                    </a:cubicBezTo>
                    <a:lnTo>
                      <a:pt x="82004" y="29896"/>
                    </a:lnTo>
                    <a:lnTo>
                      <a:pt x="82131" y="29350"/>
                    </a:lnTo>
                    <a:cubicBezTo>
                      <a:pt x="85810" y="13795"/>
                      <a:pt x="98799" y="2185"/>
                      <a:pt x="114668" y="267"/>
                    </a:cubicBezTo>
                    <a:lnTo>
                      <a:pt x="116979" y="51"/>
                    </a:lnTo>
                    <a:lnTo>
                      <a:pt x="119215" y="0"/>
                    </a:lnTo>
                    <a:close/>
                  </a:path>
                </a:pathLst>
              </a:custGeom>
              <a:solidFill>
                <a:srgbClr val="FFFFFF"/>
              </a:solidFill>
              <a:ln>
                <a:noFill/>
              </a:ln>
            </p:spPr>
          </p:sp>
        </p:grpSp>
      </p:grpSp>
      <p:grpSp>
        <p:nvGrpSpPr>
          <p:cNvPr id="34" name="step-sensors"/>
          <p:cNvGrpSpPr/>
          <p:nvPr/>
        </p:nvGrpSpPr>
        <p:grpSpPr>
          <a:xfrm>
            <a:off x="959568" y="4343400"/>
            <a:ext cx="1433665" cy="826770"/>
            <a:chOff x="959568" y="4343400"/>
            <a:chExt cx="1433665" cy="826770"/>
          </a:xfrm>
        </p:grpSpPr>
        <p:sp>
          <p:nvSpPr>
            <p:cNvPr id="32" name="TextBox 32"/>
            <p:cNvSpPr txBox="1"/>
            <p:nvPr/>
          </p:nvSpPr>
          <p:spPr>
            <a:xfrm>
              <a:off x="1027077" y="4343400"/>
              <a:ext cx="1298646" cy="293370"/>
            </a:xfrm>
            <a:prstGeom prst="rect">
              <a:avLst/>
            </a:prstGeom>
            <a:noFill/>
            <a:ln>
              <a:noFill/>
            </a:ln>
          </p:spPr>
          <p:txBody>
            <a:bodyPr wrap="square" lIns="0" tIns="0" rIns="0" bIns="0" anchor="t" anchorCtr="0">
              <a:spAutoFit/>
            </a:bodyPr>
            <a:lstStyle/>
            <a:p>
              <a:pPr algn="ctr"/>
              <a:r>
                <a:rPr lang="ru" sz="1500" b="1" dirty="0">
                  <a:solidFill>
                    <a:srgbClr val="17212B"/>
                  </a:solidFill>
                  <a:latin typeface="+mn-lt"/>
                  <a:ea typeface="+mn-ea"/>
                  <a:cs typeface="+mn-cs"/>
                </a:rPr>
                <a:t>1. Датчики</a:t>
              </a:r>
            </a:p>
          </p:txBody>
        </p:sp>
        <p:sp>
          <p:nvSpPr>
            <p:cNvPr id="33" name="TextBox 33"/>
            <p:cNvSpPr txBox="1"/>
            <p:nvPr/>
          </p:nvSpPr>
          <p:spPr>
            <a:xfrm>
              <a:off x="801865" y="4629150"/>
              <a:ext cx="1749071" cy="541020"/>
            </a:xfrm>
            <a:prstGeom prst="rect">
              <a:avLst/>
            </a:prstGeom>
            <a:noFill/>
            <a:ln>
              <a:noFill/>
            </a:ln>
          </p:spPr>
          <p:txBody>
            <a:bodyPr wrap="square" lIns="0" tIns="0" rIns="0" bIns="0" anchor="t" anchorCtr="0">
              <a:spAutoFit/>
            </a:bodyPr>
            <a:lstStyle/>
            <a:p>
              <a:pPr algn="ctr">
                <a:lnSpc>
                  <a:spcPts val="1950"/>
                </a:lnSpc>
              </a:pPr>
              <a:r>
                <a:rPr lang="ru" sz="1500" dirty="0">
                  <a:solidFill>
                    <a:srgbClr val="4A5663"/>
                  </a:solidFill>
                  <a:latin typeface="+mn-lt"/>
                  <a:ea typeface="+mn-ea"/>
                  <a:cs typeface="+mn-cs"/>
                </a:rPr>
                <a:t>200 датчиков</a:t>
              </a:r>
              <a:br>
                <a:rPr lang="ru" sz="1500" dirty="0">
                  <a:solidFill>
                    <a:srgbClr val="4A5663"/>
                  </a:solidFill>
                  <a:latin typeface="+mn-lt"/>
                  <a:ea typeface="+mn-ea"/>
                  <a:cs typeface="+mn-cs"/>
                </a:rPr>
              </a:br>
              <a:r>
                <a:rPr lang="ru" sz="1500" dirty="0">
                  <a:solidFill>
                    <a:srgbClr val="4A5663"/>
                  </a:solidFill>
                  <a:latin typeface="+mn-lt"/>
                  <a:ea typeface="+mn-ea"/>
                  <a:cs typeface="+mn-cs"/>
                </a:rPr>
                <a:t>по 10 замеров/с</a:t>
              </a:r>
            </a:p>
          </p:txBody>
        </p:sp>
      </p:grpSp>
      <p:grpSp>
        <p:nvGrpSpPr>
          <p:cNvPr id="37" name="step-gateway"/>
          <p:cNvGrpSpPr/>
          <p:nvPr/>
        </p:nvGrpSpPr>
        <p:grpSpPr>
          <a:xfrm>
            <a:off x="2994870" y="4343400"/>
            <a:ext cx="1744561" cy="826770"/>
            <a:chOff x="2994870" y="4343400"/>
            <a:chExt cx="1744561" cy="826770"/>
          </a:xfrm>
        </p:grpSpPr>
        <p:sp>
          <p:nvSpPr>
            <p:cNvPr id="35" name="TextBox 35"/>
            <p:cNvSpPr txBox="1"/>
            <p:nvPr/>
          </p:nvSpPr>
          <p:spPr>
            <a:xfrm>
              <a:off x="3394859" y="4343400"/>
              <a:ext cx="944582" cy="293370"/>
            </a:xfrm>
            <a:prstGeom prst="rect">
              <a:avLst/>
            </a:prstGeom>
            <a:noFill/>
            <a:ln>
              <a:noFill/>
            </a:ln>
          </p:spPr>
          <p:txBody>
            <a:bodyPr wrap="square" lIns="0" tIns="0" rIns="0" bIns="0" anchor="t" anchorCtr="0">
              <a:spAutoFit/>
            </a:bodyPr>
            <a:lstStyle/>
            <a:p>
              <a:pPr algn="ctr"/>
              <a:r>
                <a:rPr lang="ru" sz="1500" b="1" dirty="0">
                  <a:solidFill>
                    <a:srgbClr val="17212B"/>
                  </a:solidFill>
                  <a:latin typeface="+mn-lt"/>
                  <a:ea typeface="+mn-ea"/>
                  <a:cs typeface="+mn-cs"/>
                </a:rPr>
                <a:t>2. Шлюз</a:t>
              </a:r>
            </a:p>
          </p:txBody>
        </p:sp>
        <p:sp>
          <p:nvSpPr>
            <p:cNvPr id="36" name="TextBox 36"/>
            <p:cNvSpPr txBox="1"/>
            <p:nvPr/>
          </p:nvSpPr>
          <p:spPr>
            <a:xfrm>
              <a:off x="2802969" y="4629150"/>
              <a:ext cx="2128364" cy="541020"/>
            </a:xfrm>
            <a:prstGeom prst="rect">
              <a:avLst/>
            </a:prstGeom>
            <a:noFill/>
            <a:ln>
              <a:noFill/>
            </a:ln>
          </p:spPr>
          <p:txBody>
            <a:bodyPr wrap="square" lIns="0" tIns="0" rIns="0" bIns="0" anchor="t" anchorCtr="0">
              <a:spAutoFit/>
            </a:bodyPr>
            <a:lstStyle/>
            <a:p>
              <a:pPr algn="ctr">
                <a:lnSpc>
                  <a:spcPts val="1950"/>
                </a:lnSpc>
              </a:pPr>
              <a:r>
                <a:rPr lang="ru" sz="1500" dirty="0">
                  <a:solidFill>
                    <a:srgbClr val="4A5663"/>
                  </a:solidFill>
                  <a:latin typeface="+mn-lt"/>
                  <a:ea typeface="+mn-ea"/>
                  <a:cs typeface="+mn-cs"/>
                </a:rPr>
                <a:t>убирает ошибочные</a:t>
              </a:r>
              <a:br>
                <a:rPr lang="ru" sz="1500" dirty="0">
                  <a:solidFill>
                    <a:srgbClr val="4A5663"/>
                  </a:solidFill>
                  <a:latin typeface="+mn-lt"/>
                  <a:ea typeface="+mn-ea"/>
                  <a:cs typeface="+mn-cs"/>
                </a:rPr>
              </a:br>
              <a:r>
                <a:rPr lang="ru" sz="1500" dirty="0">
                  <a:solidFill>
                    <a:srgbClr val="4A5663"/>
                  </a:solidFill>
                  <a:latin typeface="+mn-lt"/>
                  <a:ea typeface="+mn-ea"/>
                  <a:cs typeface="+mn-cs"/>
                </a:rPr>
                <a:t>значения</a:t>
              </a:r>
            </a:p>
          </p:txBody>
        </p:sp>
      </p:grpSp>
      <p:grpSp>
        <p:nvGrpSpPr>
          <p:cNvPr id="40" name="step-kafka"/>
          <p:cNvGrpSpPr/>
          <p:nvPr/>
        </p:nvGrpSpPr>
        <p:grpSpPr>
          <a:xfrm>
            <a:off x="5168684" y="4343400"/>
            <a:ext cx="1797482" cy="826770"/>
            <a:chOff x="5168684" y="4343400"/>
            <a:chExt cx="1797482" cy="826770"/>
          </a:xfrm>
        </p:grpSpPr>
        <p:sp>
          <p:nvSpPr>
            <p:cNvPr id="38" name="TextBox 38"/>
            <p:cNvSpPr txBox="1"/>
            <p:nvPr/>
          </p:nvSpPr>
          <p:spPr>
            <a:xfrm>
              <a:off x="5553860" y="4343400"/>
              <a:ext cx="1027131" cy="293370"/>
            </a:xfrm>
            <a:prstGeom prst="rect">
              <a:avLst/>
            </a:prstGeom>
            <a:noFill/>
            <a:ln>
              <a:noFill/>
            </a:ln>
          </p:spPr>
          <p:txBody>
            <a:bodyPr wrap="square" lIns="0" tIns="0" rIns="0" bIns="0" anchor="t" anchorCtr="0">
              <a:spAutoFit/>
            </a:bodyPr>
            <a:lstStyle/>
            <a:p>
              <a:pPr algn="ctr"/>
              <a:r>
                <a:rPr lang="en-US" sz="1500" b="1" dirty="0">
                  <a:solidFill>
                    <a:srgbClr val="17212B"/>
                  </a:solidFill>
                  <a:latin typeface="+mn-lt"/>
                  <a:ea typeface="+mn-ea"/>
                  <a:cs typeface="+mn-cs"/>
                </a:rPr>
                <a:t>3. Kafka</a:t>
              </a:r>
            </a:p>
          </p:txBody>
        </p:sp>
        <p:sp>
          <p:nvSpPr>
            <p:cNvPr id="39" name="TextBox 39"/>
            <p:cNvSpPr txBox="1"/>
            <p:nvPr/>
          </p:nvSpPr>
          <p:spPr>
            <a:xfrm>
              <a:off x="4970961" y="4629150"/>
              <a:ext cx="2192928" cy="541020"/>
            </a:xfrm>
            <a:prstGeom prst="rect">
              <a:avLst/>
            </a:prstGeom>
            <a:noFill/>
            <a:ln>
              <a:noFill/>
            </a:ln>
          </p:spPr>
          <p:txBody>
            <a:bodyPr wrap="square" lIns="0" tIns="0" rIns="0" bIns="0" anchor="t" anchorCtr="0">
              <a:spAutoFit/>
            </a:bodyPr>
            <a:lstStyle/>
            <a:p>
              <a:pPr algn="ctr">
                <a:lnSpc>
                  <a:spcPts val="1950"/>
                </a:lnSpc>
              </a:pPr>
              <a:r>
                <a:rPr lang="ru" sz="1500" dirty="0">
                  <a:solidFill>
                    <a:srgbClr val="4A5663"/>
                  </a:solidFill>
                  <a:latin typeface="+mn-lt"/>
                  <a:ea typeface="+mn-ea"/>
                  <a:cs typeface="+mn-cs"/>
                </a:rPr>
                <a:t>принимает и хранит</a:t>
              </a:r>
              <a:br>
                <a:rPr lang="ru" sz="1500" dirty="0">
                  <a:solidFill>
                    <a:srgbClr val="4A5663"/>
                  </a:solidFill>
                  <a:latin typeface="+mn-lt"/>
                  <a:ea typeface="+mn-ea"/>
                  <a:cs typeface="+mn-cs"/>
                </a:rPr>
              </a:br>
              <a:r>
                <a:rPr lang="ru" sz="1500" dirty="0">
                  <a:solidFill>
                    <a:srgbClr val="4A5663"/>
                  </a:solidFill>
                  <a:latin typeface="+mn-lt"/>
                  <a:ea typeface="+mn-ea"/>
                  <a:cs typeface="+mn-cs"/>
                </a:rPr>
                <a:t>события</a:t>
              </a:r>
            </a:p>
          </p:txBody>
        </p:sp>
      </p:grpSp>
      <p:grpSp>
        <p:nvGrpSpPr>
          <p:cNvPr id="43" name="step-engine"/>
          <p:cNvGrpSpPr/>
          <p:nvPr/>
        </p:nvGrpSpPr>
        <p:grpSpPr>
          <a:xfrm>
            <a:off x="7359434" y="4343400"/>
            <a:ext cx="1797482" cy="1074420"/>
            <a:chOff x="7359434" y="4343400"/>
            <a:chExt cx="1797482" cy="1074420"/>
          </a:xfrm>
        </p:grpSpPr>
        <p:sp>
          <p:nvSpPr>
            <p:cNvPr id="41" name="TextBox 41"/>
            <p:cNvSpPr txBox="1"/>
            <p:nvPr/>
          </p:nvSpPr>
          <p:spPr>
            <a:xfrm>
              <a:off x="7466829" y="4343400"/>
              <a:ext cx="1582693" cy="293370"/>
            </a:xfrm>
            <a:prstGeom prst="rect">
              <a:avLst/>
            </a:prstGeom>
            <a:noFill/>
            <a:ln>
              <a:noFill/>
            </a:ln>
          </p:spPr>
          <p:txBody>
            <a:bodyPr wrap="square" lIns="0" tIns="0" rIns="0" bIns="0" anchor="t" anchorCtr="0">
              <a:spAutoFit/>
            </a:bodyPr>
            <a:lstStyle/>
            <a:p>
              <a:pPr algn="ctr"/>
              <a:r>
                <a:rPr lang="ru" sz="1500" b="1" dirty="0">
                  <a:solidFill>
                    <a:srgbClr val="17212B"/>
                  </a:solidFill>
                  <a:latin typeface="+mn-lt"/>
                  <a:ea typeface="+mn-ea"/>
                  <a:cs typeface="+mn-cs"/>
                </a:rPr>
                <a:t>4. Обработка</a:t>
              </a:r>
            </a:p>
          </p:txBody>
        </p:sp>
        <p:sp>
          <p:nvSpPr>
            <p:cNvPr id="42" name="TextBox 42"/>
            <p:cNvSpPr txBox="1"/>
            <p:nvPr/>
          </p:nvSpPr>
          <p:spPr>
            <a:xfrm>
              <a:off x="7161711" y="4629150"/>
              <a:ext cx="2192928" cy="788670"/>
            </a:xfrm>
            <a:prstGeom prst="rect">
              <a:avLst/>
            </a:prstGeom>
            <a:noFill/>
            <a:ln>
              <a:noFill/>
            </a:ln>
          </p:spPr>
          <p:txBody>
            <a:bodyPr wrap="square" lIns="0" tIns="0" rIns="0" bIns="0" anchor="t" anchorCtr="0">
              <a:spAutoFit/>
            </a:bodyPr>
            <a:lstStyle/>
            <a:p>
              <a:pPr algn="ctr">
                <a:lnSpc>
                  <a:spcPts val="1950"/>
                </a:lnSpc>
              </a:pPr>
              <a:r>
                <a:rPr lang="ru" sz="1500" dirty="0">
                  <a:solidFill>
                    <a:srgbClr val="4A5663"/>
                  </a:solidFill>
                  <a:latin typeface="+mn-lt"/>
                  <a:ea typeface="+mn-ea"/>
                  <a:cs typeface="+mn-cs"/>
                </a:rPr>
                <a:t>окно 1 мин:</a:t>
              </a:r>
              <a:br>
                <a:rPr lang="ru" sz="1500" dirty="0">
                  <a:solidFill>
                    <a:srgbClr val="4A5663"/>
                  </a:solidFill>
                  <a:latin typeface="+mn-lt"/>
                  <a:ea typeface="+mn-ea"/>
                  <a:cs typeface="+mn-cs"/>
                </a:rPr>
              </a:br>
              <a:r>
                <a:rPr lang="ru" sz="1500" dirty="0">
                  <a:solidFill>
                    <a:srgbClr val="4A5663"/>
                  </a:solidFill>
                  <a:latin typeface="+mn-lt"/>
                  <a:ea typeface="+mn-ea"/>
                  <a:cs typeface="+mn-cs"/>
                </a:rPr>
                <a:t>среднее и максимум</a:t>
              </a:r>
              <a:br>
                <a:rPr lang="ru" sz="1500" dirty="0">
                  <a:solidFill>
                    <a:srgbClr val="4A5663"/>
                  </a:solidFill>
                  <a:latin typeface="+mn-lt"/>
                  <a:ea typeface="+mn-ea"/>
                  <a:cs typeface="+mn-cs"/>
                </a:rPr>
              </a:br>
              <a:r>
                <a:rPr lang="ru" sz="1500" dirty="0">
                  <a:solidFill>
                    <a:srgbClr val="4A5663"/>
                  </a:solidFill>
                  <a:latin typeface="+mn-lt"/>
                  <a:ea typeface="+mn-ea"/>
                  <a:cs typeface="+mn-cs"/>
                </a:rPr>
                <a:t>по каждому насосу</a:t>
              </a:r>
            </a:p>
          </p:txBody>
        </p:sp>
      </p:grpSp>
      <p:grpSp>
        <p:nvGrpSpPr>
          <p:cNvPr id="49" name="step-result"/>
          <p:cNvGrpSpPr/>
          <p:nvPr/>
        </p:nvGrpSpPr>
        <p:grpSpPr>
          <a:xfrm>
            <a:off x="9448800" y="4343400"/>
            <a:ext cx="2076450" cy="1428750"/>
            <a:chOff x="9448800" y="4343400"/>
            <a:chExt cx="2076450" cy="1428750"/>
          </a:xfrm>
        </p:grpSpPr>
        <p:sp>
          <p:nvSpPr>
            <p:cNvPr id="44" name="TextBox 44"/>
            <p:cNvSpPr txBox="1"/>
            <p:nvPr/>
          </p:nvSpPr>
          <p:spPr>
            <a:xfrm>
              <a:off x="9695679" y="4343400"/>
              <a:ext cx="1582693" cy="293370"/>
            </a:xfrm>
            <a:prstGeom prst="rect">
              <a:avLst/>
            </a:prstGeom>
            <a:noFill/>
            <a:ln>
              <a:noFill/>
            </a:ln>
          </p:spPr>
          <p:txBody>
            <a:bodyPr wrap="square" lIns="0" tIns="0" rIns="0" bIns="0" anchor="t" anchorCtr="0">
              <a:spAutoFit/>
            </a:bodyPr>
            <a:lstStyle/>
            <a:p>
              <a:pPr algn="ctr"/>
              <a:r>
                <a:rPr lang="ru" sz="1500" b="1" dirty="0">
                  <a:solidFill>
                    <a:srgbClr val="17212B"/>
                  </a:solidFill>
                  <a:latin typeface="+mn-lt"/>
                  <a:ea typeface="+mn-ea"/>
                  <a:cs typeface="+mn-cs"/>
                </a:rPr>
                <a:t>5. Результат</a:t>
              </a:r>
            </a:p>
          </p:txBody>
        </p:sp>
        <p:sp>
          <p:nvSpPr>
            <p:cNvPr id="45" name="Rectangle 45"/>
            <p:cNvSpPr/>
            <p:nvPr/>
          </p:nvSpPr>
          <p:spPr>
            <a:xfrm>
              <a:off x="9448800" y="4667250"/>
              <a:ext cx="2076450" cy="514350"/>
            </a:xfrm>
            <a:prstGeom prst="rect">
              <a:avLst/>
            </a:prstGeom>
            <a:solidFill>
              <a:srgbClr val="FBF3EC"/>
            </a:solidFill>
            <a:ln w="14288">
              <a:solidFill>
                <a:srgbClr val="B35A12"/>
              </a:solidFill>
            </a:ln>
          </p:spPr>
        </p:sp>
        <p:sp>
          <p:nvSpPr>
            <p:cNvPr id="46" name="TextBox 46"/>
            <p:cNvSpPr txBox="1"/>
            <p:nvPr/>
          </p:nvSpPr>
          <p:spPr>
            <a:xfrm>
              <a:off x="9380029" y="4737100"/>
              <a:ext cx="2213993" cy="425196"/>
            </a:xfrm>
            <a:prstGeom prst="rect">
              <a:avLst/>
            </a:prstGeom>
            <a:noFill/>
            <a:ln>
              <a:noFill/>
            </a:ln>
          </p:spPr>
          <p:txBody>
            <a:bodyPr wrap="square" lIns="0" tIns="0" rIns="0" bIns="0" anchor="t" anchorCtr="0">
              <a:spAutoFit/>
            </a:bodyPr>
            <a:lstStyle/>
            <a:p>
              <a:pPr algn="ctr">
                <a:lnSpc>
                  <a:spcPts val="1500"/>
                </a:lnSpc>
              </a:pPr>
              <a:r>
                <a:rPr lang="ru" sz="1200" b="1" dirty="0">
                  <a:solidFill>
                    <a:srgbClr val="B35A12"/>
                  </a:solidFill>
                  <a:latin typeface="+mn-lt"/>
                  <a:ea typeface="+mn-ea"/>
                  <a:cs typeface="+mn-cs"/>
                </a:rPr>
                <a:t>порог превышен:</a:t>
              </a:r>
              <a:br>
                <a:rPr lang="ru" sz="1200" b="1" dirty="0">
                  <a:solidFill>
                    <a:srgbClr val="B35A12"/>
                  </a:solidFill>
                  <a:latin typeface="+mn-lt"/>
                  <a:ea typeface="+mn-ea"/>
                  <a:cs typeface="+mn-cs"/>
                </a:rPr>
              </a:br>
              <a:r>
                <a:rPr lang="ru" sz="1200" b="1" dirty="0">
                  <a:solidFill>
                    <a:srgbClr val="B35A12"/>
                  </a:solidFill>
                  <a:latin typeface="+mn-lt"/>
                  <a:ea typeface="+mn-ea"/>
                  <a:cs typeface="+mn-cs"/>
                </a:rPr>
                <a:t>оповещение диспетчеру</a:t>
              </a:r>
            </a:p>
          </p:txBody>
        </p:sp>
        <p:sp>
          <p:nvSpPr>
            <p:cNvPr id="47" name="Rectangle 47"/>
            <p:cNvSpPr/>
            <p:nvPr/>
          </p:nvSpPr>
          <p:spPr>
            <a:xfrm>
              <a:off x="9448800" y="5257800"/>
              <a:ext cx="2076450" cy="514350"/>
            </a:xfrm>
            <a:prstGeom prst="rect">
              <a:avLst/>
            </a:prstGeom>
            <a:solidFill>
              <a:srgbClr val="F3F5F7"/>
            </a:solidFill>
            <a:ln>
              <a:noFill/>
            </a:ln>
          </p:spPr>
        </p:sp>
        <p:sp>
          <p:nvSpPr>
            <p:cNvPr id="48" name="TextBox 48"/>
            <p:cNvSpPr txBox="1"/>
            <p:nvPr/>
          </p:nvSpPr>
          <p:spPr>
            <a:xfrm>
              <a:off x="9568950" y="5327650"/>
              <a:ext cx="1836150" cy="425196"/>
            </a:xfrm>
            <a:prstGeom prst="rect">
              <a:avLst/>
            </a:prstGeom>
            <a:noFill/>
            <a:ln>
              <a:noFill/>
            </a:ln>
          </p:spPr>
          <p:txBody>
            <a:bodyPr wrap="square" lIns="0" tIns="0" rIns="0" bIns="0" anchor="t" anchorCtr="0">
              <a:spAutoFit/>
            </a:bodyPr>
            <a:lstStyle/>
            <a:p>
              <a:pPr algn="ctr">
                <a:lnSpc>
                  <a:spcPts val="1500"/>
                </a:lnSpc>
              </a:pPr>
              <a:r>
                <a:rPr lang="ru" sz="1200" b="1" dirty="0">
                  <a:solidFill>
                    <a:srgbClr val="17212B"/>
                  </a:solidFill>
                  <a:latin typeface="+mn-lt"/>
                  <a:ea typeface="+mn-ea"/>
                  <a:cs typeface="+mn-cs"/>
                </a:rPr>
                <a:t>агрегаты:</a:t>
              </a:r>
              <a:br>
                <a:rPr lang="ru" sz="1200" b="1" dirty="0">
                  <a:solidFill>
                    <a:srgbClr val="17212B"/>
                  </a:solidFill>
                  <a:latin typeface="+mn-lt"/>
                  <a:ea typeface="+mn-ea"/>
                  <a:cs typeface="+mn-cs"/>
                </a:rPr>
              </a:br>
              <a:r>
                <a:rPr lang="ru" sz="1200" b="1" dirty="0">
                  <a:solidFill>
                    <a:srgbClr val="17212B"/>
                  </a:solidFill>
                  <a:latin typeface="+mn-lt"/>
                  <a:ea typeface="+mn-ea"/>
                  <a:cs typeface="+mn-cs"/>
                </a:rPr>
                <a:t>хранилище и отчёты</a:t>
              </a:r>
            </a:p>
          </p:txBody>
        </p:sp>
      </p:grpSp>
      <p:grpSp>
        <p:nvGrpSpPr>
          <p:cNvPr id="53" name="footer"/>
          <p:cNvGrpSpPr/>
          <p:nvPr/>
        </p:nvGrpSpPr>
        <p:grpSpPr>
          <a:xfrm>
            <a:off x="603504" y="6400800"/>
            <a:ext cx="10984992" cy="348996"/>
            <a:chOff x="603504" y="6400800"/>
            <a:chExt cx="10984992" cy="348996"/>
          </a:xfrm>
        </p:grpSpPr>
        <p:sp>
          <p:nvSpPr>
            <p:cNvPr id="50" name="Line 50"/>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51" name="TextBox 51"/>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52" name="TextBox 52"/>
            <p:cNvSpPr txBox="1"/>
            <p:nvPr/>
          </p:nvSpPr>
          <p:spPr>
            <a:xfrm>
              <a:off x="10853670" y="6515100"/>
              <a:ext cx="734826"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10 / 12</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1028353" cy="714629"/>
            <a:chOff x="596646" y="381000"/>
            <a:chExt cx="1028353" cy="71462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596900"/>
              <a:ext cx="1256953" cy="498729"/>
            </a:xfrm>
            <a:prstGeom prst="rect">
              <a:avLst/>
            </a:prstGeom>
            <a:noFill/>
            <a:ln>
              <a:noFill/>
            </a:ln>
          </p:spPr>
          <p:txBody>
            <a:bodyPr wrap="square" lIns="0" tIns="0" rIns="0" bIns="0" anchor="t" anchorCtr="0">
              <a:spAutoFit/>
            </a:bodyPr>
            <a:lstStyle/>
            <a:p>
              <a:pPr algn="l"/>
              <a:r>
                <a:rPr lang="ru" sz="2550" b="1" dirty="0">
                  <a:solidFill>
                    <a:srgbClr val="17212B"/>
                  </a:solidFill>
                  <a:latin typeface="+mn-lt"/>
                  <a:ea typeface="+mn-ea"/>
                  <a:cs typeface="+mn-cs"/>
                </a:rPr>
                <a:t>Вывод</a:t>
              </a:r>
            </a:p>
          </p:txBody>
        </p:sp>
      </p:grpSp>
      <p:grpSp>
        <p:nvGrpSpPr>
          <p:cNvPr id="7" name="conclusion-1"/>
          <p:cNvGrpSpPr/>
          <p:nvPr/>
        </p:nvGrpSpPr>
        <p:grpSpPr>
          <a:xfrm>
            <a:off x="594360" y="1822450"/>
            <a:ext cx="6032784" cy="1063244"/>
            <a:chOff x="594360" y="1822450"/>
            <a:chExt cx="6032784" cy="1063244"/>
          </a:xfrm>
        </p:grpSpPr>
        <p:sp>
          <p:nvSpPr>
            <p:cNvPr id="5" name="TextBox 5"/>
            <p:cNvSpPr txBox="1"/>
            <p:nvPr/>
          </p:nvSpPr>
          <p:spPr>
            <a:xfrm>
              <a:off x="594360" y="1822450"/>
              <a:ext cx="708334" cy="586740"/>
            </a:xfrm>
            <a:prstGeom prst="rect">
              <a:avLst/>
            </a:prstGeom>
            <a:noFill/>
            <a:ln>
              <a:noFill/>
            </a:ln>
          </p:spPr>
          <p:txBody>
            <a:bodyPr wrap="square" lIns="0" tIns="0" rIns="0" bIns="0" anchor="t" anchorCtr="0">
              <a:spAutoFit/>
            </a:bodyPr>
            <a:lstStyle/>
            <a:p>
              <a:pPr algn="l"/>
              <a:r>
                <a:rPr lang="ru" sz="3000" b="1" dirty="0">
                  <a:solidFill>
                    <a:srgbClr val="0E6680"/>
                  </a:solidFill>
                  <a:latin typeface="+mn-lt"/>
                  <a:ea typeface="+mn-ea"/>
                  <a:cs typeface="+mn-cs"/>
                </a:rPr>
                <a:t>01</a:t>
              </a:r>
            </a:p>
          </p:txBody>
        </p:sp>
        <p:sp>
          <p:nvSpPr>
            <p:cNvPr id="6" name="TextBox 6"/>
            <p:cNvSpPr txBox="1"/>
            <p:nvPr/>
          </p:nvSpPr>
          <p:spPr>
            <a:xfrm>
              <a:off x="1324356" y="1924050"/>
              <a:ext cx="6469401" cy="961644"/>
            </a:xfrm>
            <a:prstGeom prst="rect">
              <a:avLst/>
            </a:prstGeom>
            <a:noFill/>
            <a:ln>
              <a:noFill/>
            </a:ln>
          </p:spPr>
          <p:txBody>
            <a:bodyPr wrap="square" lIns="0" tIns="0" rIns="0" bIns="0" anchor="t" anchorCtr="0">
              <a:spAutoFit/>
            </a:bodyPr>
            <a:lstStyle/>
            <a:p>
              <a:pPr algn="l">
                <a:lnSpc>
                  <a:spcPts val="2400"/>
                </a:lnSpc>
              </a:pPr>
              <a:r>
                <a:rPr lang="ru" sz="1800" dirty="0">
                  <a:solidFill>
                    <a:srgbClr val="17212B"/>
                  </a:solidFill>
                  <a:latin typeface="+mn-lt"/>
                  <a:ea typeface="+mn-ea"/>
                  <a:cs typeface="+mn-cs"/>
                </a:rPr>
                <a:t>В мире работает более 20 млрд подключённых</a:t>
              </a:r>
              <a:br>
                <a:rPr lang="ru" sz="1800" dirty="0">
                  <a:solidFill>
                    <a:srgbClr val="17212B"/>
                  </a:solidFill>
                  <a:latin typeface="+mn-lt"/>
                  <a:ea typeface="+mn-ea"/>
                  <a:cs typeface="+mn-cs"/>
                </a:rPr>
              </a:br>
              <a:r>
                <a:rPr lang="ru" sz="1800" dirty="0">
                  <a:solidFill>
                    <a:srgbClr val="17212B"/>
                  </a:solidFill>
                  <a:latin typeface="+mn-lt"/>
                  <a:ea typeface="+mn-ea"/>
                  <a:cs typeface="+mn-cs"/>
                </a:rPr>
                <a:t>устройств, и они непрерывно производят данные</a:t>
              </a:r>
              <a:br>
                <a:rPr lang="ru" sz="1800" dirty="0">
                  <a:solidFill>
                    <a:srgbClr val="17212B"/>
                  </a:solidFill>
                  <a:latin typeface="+mn-lt"/>
                  <a:ea typeface="+mn-ea"/>
                  <a:cs typeface="+mn-cs"/>
                </a:rPr>
              </a:br>
              <a:r>
                <a:rPr lang="ru" sz="1800" dirty="0">
                  <a:solidFill>
                    <a:srgbClr val="17212B"/>
                  </a:solidFill>
                  <a:latin typeface="+mn-lt"/>
                  <a:ea typeface="+mn-ea"/>
                  <a:cs typeface="+mn-cs"/>
                </a:rPr>
                <a:t>с метками времени.</a:t>
              </a:r>
            </a:p>
          </p:txBody>
        </p:sp>
      </p:grpSp>
      <p:grpSp>
        <p:nvGrpSpPr>
          <p:cNvPr id="10" name="conclusion-2"/>
          <p:cNvGrpSpPr/>
          <p:nvPr/>
        </p:nvGrpSpPr>
        <p:grpSpPr>
          <a:xfrm>
            <a:off x="594360" y="3022600"/>
            <a:ext cx="6161075" cy="758444"/>
            <a:chOff x="594360" y="3022600"/>
            <a:chExt cx="6161075" cy="758444"/>
          </a:xfrm>
        </p:grpSpPr>
        <p:sp>
          <p:nvSpPr>
            <p:cNvPr id="8" name="TextBox 8"/>
            <p:cNvSpPr txBox="1"/>
            <p:nvPr/>
          </p:nvSpPr>
          <p:spPr>
            <a:xfrm>
              <a:off x="594360" y="3022600"/>
              <a:ext cx="708334" cy="586740"/>
            </a:xfrm>
            <a:prstGeom prst="rect">
              <a:avLst/>
            </a:prstGeom>
            <a:noFill/>
            <a:ln>
              <a:noFill/>
            </a:ln>
          </p:spPr>
          <p:txBody>
            <a:bodyPr wrap="square" lIns="0" tIns="0" rIns="0" bIns="0" anchor="t" anchorCtr="0">
              <a:spAutoFit/>
            </a:bodyPr>
            <a:lstStyle/>
            <a:p>
              <a:pPr algn="l"/>
              <a:r>
                <a:rPr lang="ru" sz="3000" b="1" dirty="0">
                  <a:solidFill>
                    <a:srgbClr val="0E6680"/>
                  </a:solidFill>
                  <a:latin typeface="+mn-lt"/>
                  <a:ea typeface="+mn-ea"/>
                  <a:cs typeface="+mn-cs"/>
                </a:rPr>
                <a:t>02</a:t>
              </a:r>
            </a:p>
          </p:txBody>
        </p:sp>
        <p:sp>
          <p:nvSpPr>
            <p:cNvPr id="9" name="TextBox 9"/>
            <p:cNvSpPr txBox="1"/>
            <p:nvPr/>
          </p:nvSpPr>
          <p:spPr>
            <a:xfrm>
              <a:off x="1324356" y="3124200"/>
              <a:ext cx="6625916" cy="656844"/>
            </a:xfrm>
            <a:prstGeom prst="rect">
              <a:avLst/>
            </a:prstGeom>
            <a:noFill/>
            <a:ln>
              <a:noFill/>
            </a:ln>
          </p:spPr>
          <p:txBody>
            <a:bodyPr wrap="square" lIns="0" tIns="0" rIns="0" bIns="0" anchor="t" anchorCtr="0">
              <a:spAutoFit/>
            </a:bodyPr>
            <a:lstStyle/>
            <a:p>
              <a:pPr algn="l">
                <a:lnSpc>
                  <a:spcPts val="2400"/>
                </a:lnSpc>
              </a:pPr>
              <a:r>
                <a:rPr lang="ru" sz="1800" dirty="0">
                  <a:solidFill>
                    <a:srgbClr val="17212B"/>
                  </a:solidFill>
                  <a:latin typeface="+mn-lt"/>
                  <a:ea typeface="+mn-ea"/>
                  <a:cs typeface="+mn-cs"/>
                </a:rPr>
                <a:t>Такие данные анализируют в потоковом режиме</a:t>
              </a:r>
              <a:br>
                <a:rPr lang="ru" sz="1800" dirty="0">
                  <a:solidFill>
                    <a:srgbClr val="17212B"/>
                  </a:solidFill>
                  <a:latin typeface="+mn-lt"/>
                  <a:ea typeface="+mn-ea"/>
                  <a:cs typeface="+mn-cs"/>
                </a:rPr>
              </a:br>
              <a:r>
                <a:rPr lang="ru" sz="1800" dirty="0">
                  <a:solidFill>
                    <a:srgbClr val="17212B"/>
                  </a:solidFill>
                  <a:latin typeface="+mn-lt"/>
                  <a:ea typeface="+mn-ea"/>
                  <a:cs typeface="+mn-cs"/>
                </a:rPr>
                <a:t>с опорой на время события, водяные знаки и окна.</a:t>
              </a:r>
            </a:p>
          </p:txBody>
        </p:sp>
      </p:grpSp>
      <p:grpSp>
        <p:nvGrpSpPr>
          <p:cNvPr id="13" name="conclusion-3"/>
          <p:cNvGrpSpPr/>
          <p:nvPr/>
        </p:nvGrpSpPr>
        <p:grpSpPr>
          <a:xfrm>
            <a:off x="594360" y="3917950"/>
            <a:ext cx="5970560" cy="758444"/>
            <a:chOff x="594360" y="3917950"/>
            <a:chExt cx="5970560" cy="758444"/>
          </a:xfrm>
        </p:grpSpPr>
        <p:sp>
          <p:nvSpPr>
            <p:cNvPr id="11" name="TextBox 11"/>
            <p:cNvSpPr txBox="1"/>
            <p:nvPr/>
          </p:nvSpPr>
          <p:spPr>
            <a:xfrm>
              <a:off x="594360" y="3917950"/>
              <a:ext cx="708334" cy="586740"/>
            </a:xfrm>
            <a:prstGeom prst="rect">
              <a:avLst/>
            </a:prstGeom>
            <a:noFill/>
            <a:ln>
              <a:noFill/>
            </a:ln>
          </p:spPr>
          <p:txBody>
            <a:bodyPr wrap="square" lIns="0" tIns="0" rIns="0" bIns="0" anchor="t" anchorCtr="0">
              <a:spAutoFit/>
            </a:bodyPr>
            <a:lstStyle/>
            <a:p>
              <a:pPr algn="l"/>
              <a:r>
                <a:rPr lang="ru" sz="3000" b="1" dirty="0">
                  <a:solidFill>
                    <a:srgbClr val="0E6680"/>
                  </a:solidFill>
                  <a:latin typeface="+mn-lt"/>
                  <a:ea typeface="+mn-ea"/>
                  <a:cs typeface="+mn-cs"/>
                </a:rPr>
                <a:t>03</a:t>
              </a:r>
            </a:p>
          </p:txBody>
        </p:sp>
        <p:sp>
          <p:nvSpPr>
            <p:cNvPr id="12" name="TextBox 12"/>
            <p:cNvSpPr txBox="1"/>
            <p:nvPr/>
          </p:nvSpPr>
          <p:spPr>
            <a:xfrm>
              <a:off x="1324356" y="4019550"/>
              <a:ext cx="6393488" cy="656844"/>
            </a:xfrm>
            <a:prstGeom prst="rect">
              <a:avLst/>
            </a:prstGeom>
            <a:noFill/>
            <a:ln>
              <a:noFill/>
            </a:ln>
          </p:spPr>
          <p:txBody>
            <a:bodyPr wrap="square" lIns="0" tIns="0" rIns="0" bIns="0" anchor="t" anchorCtr="0">
              <a:spAutoFit/>
            </a:bodyPr>
            <a:lstStyle/>
            <a:p>
              <a:pPr algn="l">
                <a:lnSpc>
                  <a:spcPts val="2400"/>
                </a:lnSpc>
              </a:pPr>
              <a:r>
                <a:rPr lang="ru" sz="1800" dirty="0">
                  <a:solidFill>
                    <a:srgbClr val="17212B"/>
                  </a:solidFill>
                  <a:latin typeface="+mn-lt"/>
                  <a:ea typeface="+mn-ea"/>
                  <a:cs typeface="+mn-cs"/>
                </a:rPr>
                <a:t>Системы строят из брокера сообщений и движка</a:t>
              </a:r>
              <a:br>
                <a:rPr lang="ru" sz="1800" dirty="0">
                  <a:solidFill>
                    <a:srgbClr val="17212B"/>
                  </a:solidFill>
                  <a:latin typeface="+mn-lt"/>
                  <a:ea typeface="+mn-ea"/>
                  <a:cs typeface="+mn-cs"/>
                </a:rPr>
              </a:br>
              <a:r>
                <a:rPr lang="ru" sz="1800" dirty="0">
                  <a:solidFill>
                    <a:srgbClr val="17212B"/>
                  </a:solidFill>
                  <a:latin typeface="+mn-lt"/>
                  <a:ea typeface="+mn-ea"/>
                  <a:cs typeface="+mn-cs"/>
                </a:rPr>
                <a:t>обработки, а пакетная обработка дополняет их.</a:t>
              </a:r>
            </a:p>
          </p:txBody>
        </p:sp>
      </p:grpSp>
      <p:grpSp>
        <p:nvGrpSpPr>
          <p:cNvPr id="17" name="limitations"/>
          <p:cNvGrpSpPr/>
          <p:nvPr/>
        </p:nvGrpSpPr>
        <p:grpSpPr>
          <a:xfrm>
            <a:off x="601980" y="5086350"/>
            <a:ext cx="6446520" cy="985520"/>
            <a:chOff x="601980" y="5086350"/>
            <a:chExt cx="6446520" cy="985520"/>
          </a:xfrm>
        </p:grpSpPr>
        <p:sp>
          <p:nvSpPr>
            <p:cNvPr id="14" name="Line 14"/>
            <p:cNvSpPr/>
            <p:nvPr/>
          </p:nvSpPr>
          <p:spPr>
            <a:xfrm>
              <a:off x="609600" y="5086350"/>
              <a:ext cx="6438900" cy="9525"/>
            </a:xfrm>
            <a:custGeom>
              <a:avLst/>
              <a:gdLst/>
              <a:ahLst/>
              <a:cxnLst/>
              <a:rect l="l" t="t" r="r" b="b"/>
              <a:pathLst>
                <a:path w="6438900" h="9525">
                  <a:moveTo>
                    <a:pt x="0" y="0"/>
                  </a:moveTo>
                  <a:lnTo>
                    <a:pt x="6438900" y="0"/>
                  </a:lnTo>
                </a:path>
              </a:pathLst>
            </a:custGeom>
            <a:noFill/>
            <a:ln w="9525">
              <a:solidFill>
                <a:srgbClr val="D3DBE1"/>
              </a:solidFill>
            </a:ln>
          </p:spPr>
        </p:sp>
        <p:sp>
          <p:nvSpPr>
            <p:cNvPr id="15" name="TextBox 15"/>
            <p:cNvSpPr txBox="1"/>
            <p:nvPr/>
          </p:nvSpPr>
          <p:spPr>
            <a:xfrm>
              <a:off x="603504" y="5276850"/>
              <a:ext cx="2124924" cy="234696"/>
            </a:xfrm>
            <a:prstGeom prst="rect">
              <a:avLst/>
            </a:prstGeom>
            <a:noFill/>
            <a:ln>
              <a:noFill/>
            </a:ln>
          </p:spPr>
          <p:txBody>
            <a:bodyPr wrap="square" lIns="0" tIns="0" rIns="0" bIns="0" anchor="t" anchorCtr="0">
              <a:spAutoFit/>
            </a:bodyPr>
            <a:lstStyle/>
            <a:p>
              <a:pPr algn="l"/>
              <a:r>
                <a:rPr lang="ru" sz="1200" b="1" dirty="0">
                  <a:solidFill>
                    <a:srgbClr val="B35A12"/>
                  </a:solidFill>
                  <a:latin typeface="+mn-lt"/>
                  <a:ea typeface="+mn-ea"/>
                  <a:cs typeface="+mn-cs"/>
                </a:rPr>
                <a:t>Ограничения подхода</a:t>
              </a:r>
            </a:p>
          </p:txBody>
        </p:sp>
        <p:sp>
          <p:nvSpPr>
            <p:cNvPr id="16" name="TextBox 16"/>
            <p:cNvSpPr txBox="1"/>
            <p:nvPr/>
          </p:nvSpPr>
          <p:spPr>
            <a:xfrm>
              <a:off x="601980" y="5511800"/>
              <a:ext cx="6094858" cy="560070"/>
            </a:xfrm>
            <a:prstGeom prst="rect">
              <a:avLst/>
            </a:prstGeom>
            <a:noFill/>
            <a:ln>
              <a:noFill/>
            </a:ln>
          </p:spPr>
          <p:txBody>
            <a:bodyPr wrap="square" lIns="0" tIns="0" rIns="0" bIns="0" anchor="t" anchorCtr="0">
              <a:spAutoFit/>
            </a:bodyPr>
            <a:lstStyle/>
            <a:p>
              <a:pPr algn="l">
                <a:lnSpc>
                  <a:spcPts val="2100"/>
                </a:lnSpc>
              </a:pPr>
              <a:r>
                <a:rPr lang="ru" sz="1500" dirty="0">
                  <a:solidFill>
                    <a:srgbClr val="4A5663"/>
                  </a:solidFill>
                  <a:latin typeface="+mn-lt"/>
                  <a:ea typeface="+mn-ea"/>
                  <a:cs typeface="+mn-cs"/>
                </a:rPr>
                <a:t>опоздавшие данные, защита большого числа устройств,</a:t>
              </a:r>
              <a:br>
                <a:rPr lang="ru" sz="1500" dirty="0">
                  <a:solidFill>
                    <a:srgbClr val="4A5663"/>
                  </a:solidFill>
                  <a:latin typeface="+mn-lt"/>
                  <a:ea typeface="+mn-ea"/>
                  <a:cs typeface="+mn-cs"/>
                </a:rPr>
              </a:br>
              <a:r>
                <a:rPr lang="ru" sz="1500" dirty="0">
                  <a:solidFill>
                    <a:srgbClr val="4A5663"/>
                  </a:solidFill>
                  <a:latin typeface="+mn-lt"/>
                  <a:ea typeface="+mn-ea"/>
                  <a:cs typeface="+mn-cs"/>
                </a:rPr>
                <a:t>стоимость хранения и качество измерений</a:t>
              </a:r>
            </a:p>
          </p:txBody>
        </p:sp>
      </p:grpSp>
      <p:grpSp>
        <p:nvGrpSpPr>
          <p:cNvPr id="21" name="core-message"/>
          <p:cNvGrpSpPr/>
          <p:nvPr/>
        </p:nvGrpSpPr>
        <p:grpSpPr>
          <a:xfrm>
            <a:off x="7429500" y="1752600"/>
            <a:ext cx="4152900" cy="4343400"/>
            <a:chOff x="7429500" y="1752600"/>
            <a:chExt cx="4152900" cy="4343400"/>
          </a:xfrm>
        </p:grpSpPr>
        <p:sp>
          <p:nvSpPr>
            <p:cNvPr id="18" name="Rectangle 18"/>
            <p:cNvSpPr/>
            <p:nvPr/>
          </p:nvSpPr>
          <p:spPr>
            <a:xfrm>
              <a:off x="7429500" y="1752600"/>
              <a:ext cx="4152900" cy="4343400"/>
            </a:xfrm>
            <a:prstGeom prst="rect">
              <a:avLst/>
            </a:prstGeom>
            <a:solidFill>
              <a:srgbClr val="0E6680"/>
            </a:solidFill>
            <a:ln>
              <a:noFill/>
            </a:ln>
          </p:spPr>
        </p:sp>
        <p:sp>
          <p:nvSpPr>
            <p:cNvPr id="19" name="TextBox 19"/>
            <p:cNvSpPr txBox="1"/>
            <p:nvPr/>
          </p:nvSpPr>
          <p:spPr>
            <a:xfrm>
              <a:off x="7728204" y="2705100"/>
              <a:ext cx="1442114" cy="234696"/>
            </a:xfrm>
            <a:prstGeom prst="rect">
              <a:avLst/>
            </a:prstGeom>
            <a:noFill/>
            <a:ln>
              <a:noFill/>
            </a:ln>
          </p:spPr>
          <p:txBody>
            <a:bodyPr wrap="square" lIns="0" tIns="0" rIns="0" bIns="0" anchor="t" anchorCtr="0">
              <a:spAutoFit/>
            </a:bodyPr>
            <a:lstStyle/>
            <a:p>
              <a:pPr algn="l"/>
              <a:r>
                <a:rPr lang="ru" sz="1200" b="1" dirty="0">
                  <a:solidFill>
                    <a:srgbClr val="CFE3EA"/>
                  </a:solidFill>
                  <a:latin typeface="+mn-lt"/>
                  <a:ea typeface="+mn-ea"/>
                  <a:cs typeface="+mn-cs"/>
                </a:rPr>
                <a:t>Главная мысль</a:t>
              </a:r>
            </a:p>
          </p:txBody>
        </p:sp>
        <p:sp>
          <p:nvSpPr>
            <p:cNvPr id="20" name="TextBox 20"/>
            <p:cNvSpPr txBox="1"/>
            <p:nvPr/>
          </p:nvSpPr>
          <p:spPr>
            <a:xfrm>
              <a:off x="7722870" y="3136900"/>
              <a:ext cx="3644107" cy="1964055"/>
            </a:xfrm>
            <a:prstGeom prst="rect">
              <a:avLst/>
            </a:prstGeom>
            <a:noFill/>
            <a:ln>
              <a:noFill/>
            </a:ln>
          </p:spPr>
          <p:txBody>
            <a:bodyPr wrap="square" lIns="0" tIns="0" rIns="0" bIns="0" anchor="t" anchorCtr="0">
              <a:spAutoFit/>
            </a:bodyPr>
            <a:lstStyle/>
            <a:p>
              <a:pPr algn="l">
                <a:lnSpc>
                  <a:spcPts val="3000"/>
                </a:lnSpc>
              </a:pPr>
              <a:r>
                <a:rPr lang="ru" sz="2250" b="1" dirty="0">
                  <a:solidFill>
                    <a:srgbClr val="FFFFFF"/>
                  </a:solidFill>
                  <a:latin typeface="+mn-lt"/>
                  <a:ea typeface="+mn-ea"/>
                  <a:cs typeface="+mn-cs"/>
                </a:rPr>
                <a:t>Данные интернета</a:t>
              </a:r>
              <a:br>
                <a:rPr lang="ru" sz="2250" b="1" dirty="0">
                  <a:solidFill>
                    <a:srgbClr val="FFFFFF"/>
                  </a:solidFill>
                  <a:latin typeface="+mn-lt"/>
                  <a:ea typeface="+mn-ea"/>
                  <a:cs typeface="+mn-cs"/>
                </a:rPr>
              </a:br>
              <a:r>
                <a:rPr lang="ru" sz="2250" b="1" dirty="0">
                  <a:solidFill>
                    <a:srgbClr val="FFFFFF"/>
                  </a:solidFill>
                  <a:latin typeface="+mn-lt"/>
                  <a:ea typeface="+mn-ea"/>
                  <a:cs typeface="+mn-cs"/>
                </a:rPr>
                <a:t>вещей поступают</a:t>
              </a:r>
              <a:br>
                <a:rPr lang="ru" sz="2250" b="1" dirty="0">
                  <a:solidFill>
                    <a:srgbClr val="FFFFFF"/>
                  </a:solidFill>
                  <a:latin typeface="+mn-lt"/>
                  <a:ea typeface="+mn-ea"/>
                  <a:cs typeface="+mn-cs"/>
                </a:rPr>
              </a:br>
              <a:r>
                <a:rPr lang="ru" sz="2250" b="1" dirty="0">
                  <a:solidFill>
                    <a:srgbClr val="FFFFFF"/>
                  </a:solidFill>
                  <a:latin typeface="+mn-lt"/>
                  <a:ea typeface="+mn-ea"/>
                  <a:cs typeface="+mn-cs"/>
                </a:rPr>
                <a:t>непрерывно, поэтому</a:t>
              </a:r>
              <a:br>
                <a:rPr lang="ru" sz="2250" b="1" dirty="0">
                  <a:solidFill>
                    <a:srgbClr val="FFFFFF"/>
                  </a:solidFill>
                  <a:latin typeface="+mn-lt"/>
                  <a:ea typeface="+mn-ea"/>
                  <a:cs typeface="+mn-cs"/>
                </a:rPr>
              </a:br>
              <a:r>
                <a:rPr lang="ru" sz="2250" b="1" dirty="0">
                  <a:solidFill>
                    <a:srgbClr val="FFFFFF"/>
                  </a:solidFill>
                  <a:latin typeface="+mn-lt"/>
                  <a:ea typeface="+mn-ea"/>
                  <a:cs typeface="+mn-cs"/>
                </a:rPr>
                <a:t>их анализируют как</a:t>
              </a:r>
              <a:br>
                <a:rPr lang="ru" sz="2250" b="1" dirty="0">
                  <a:solidFill>
                    <a:srgbClr val="FFFFFF"/>
                  </a:solidFill>
                  <a:latin typeface="+mn-lt"/>
                  <a:ea typeface="+mn-ea"/>
                  <a:cs typeface="+mn-cs"/>
                </a:rPr>
              </a:br>
              <a:r>
                <a:rPr lang="ru" sz="2250" b="1" dirty="0">
                  <a:solidFill>
                    <a:srgbClr val="FFFFFF"/>
                  </a:solidFill>
                  <a:latin typeface="+mn-lt"/>
                  <a:ea typeface="+mn-ea"/>
                  <a:cs typeface="+mn-cs"/>
                </a:rPr>
                <a:t>поток, а не пакетами</a:t>
              </a:r>
            </a:p>
          </p:txBody>
        </p:sp>
      </p:grpSp>
      <p:grpSp>
        <p:nvGrpSpPr>
          <p:cNvPr id="25" name="footer"/>
          <p:cNvGrpSpPr/>
          <p:nvPr/>
        </p:nvGrpSpPr>
        <p:grpSpPr>
          <a:xfrm>
            <a:off x="603504" y="6400800"/>
            <a:ext cx="10984992" cy="348996"/>
            <a:chOff x="603504" y="6400800"/>
            <a:chExt cx="10984992" cy="348996"/>
          </a:xfrm>
        </p:grpSpPr>
        <p:sp>
          <p:nvSpPr>
            <p:cNvPr id="22" name="Line 22"/>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23" name="TextBox 23"/>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24" name="TextBox 24"/>
            <p:cNvSpPr txBox="1"/>
            <p:nvPr/>
          </p:nvSpPr>
          <p:spPr>
            <a:xfrm>
              <a:off x="10853670" y="6515100"/>
              <a:ext cx="734826"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11 / 12</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 name="title"/>
          <p:cNvGrpSpPr/>
          <p:nvPr/>
        </p:nvGrpSpPr>
        <p:grpSpPr>
          <a:xfrm>
            <a:off x="596646" y="381000"/>
            <a:ext cx="1821332" cy="714629"/>
            <a:chOff x="596646" y="381000"/>
            <a:chExt cx="1821332" cy="714629"/>
          </a:xfrm>
        </p:grpSpPr>
        <p:sp>
          <p:nvSpPr>
            <p:cNvPr id="2" name="Rectangle 2"/>
            <p:cNvSpPr/>
            <p:nvPr/>
          </p:nvSpPr>
          <p:spPr>
            <a:xfrm>
              <a:off x="609600" y="381000"/>
              <a:ext cx="381000" cy="47625"/>
            </a:xfrm>
            <a:prstGeom prst="rect">
              <a:avLst/>
            </a:prstGeom>
            <a:solidFill>
              <a:srgbClr val="0E6680"/>
            </a:solidFill>
            <a:ln>
              <a:noFill/>
            </a:ln>
          </p:spPr>
        </p:sp>
        <p:sp>
          <p:nvSpPr>
            <p:cNvPr id="3" name="TextBox 3"/>
            <p:cNvSpPr txBox="1"/>
            <p:nvPr/>
          </p:nvSpPr>
          <p:spPr>
            <a:xfrm>
              <a:off x="596646" y="596900"/>
              <a:ext cx="2222025" cy="498729"/>
            </a:xfrm>
            <a:prstGeom prst="rect">
              <a:avLst/>
            </a:prstGeom>
            <a:noFill/>
            <a:ln>
              <a:noFill/>
            </a:ln>
          </p:spPr>
          <p:txBody>
            <a:bodyPr wrap="square" lIns="0" tIns="0" rIns="0" bIns="0" anchor="t" anchorCtr="0">
              <a:spAutoFit/>
            </a:bodyPr>
            <a:lstStyle/>
            <a:p>
              <a:pPr algn="l"/>
              <a:r>
                <a:rPr lang="ru" sz="2550" b="1" dirty="0">
                  <a:solidFill>
                    <a:srgbClr val="17212B"/>
                  </a:solidFill>
                  <a:latin typeface="+mn-lt"/>
                  <a:ea typeface="+mn-ea"/>
                  <a:cs typeface="+mn-cs"/>
                </a:rPr>
                <a:t>Источники</a:t>
              </a:r>
            </a:p>
          </p:txBody>
        </p:sp>
      </p:grpSp>
      <p:grpSp>
        <p:nvGrpSpPr>
          <p:cNvPr id="27" name="source-list"/>
          <p:cNvGrpSpPr/>
          <p:nvPr/>
        </p:nvGrpSpPr>
        <p:grpSpPr>
          <a:xfrm>
            <a:off x="654891" y="1739900"/>
            <a:ext cx="9972803" cy="4035933"/>
            <a:chOff x="654891" y="1739900"/>
            <a:chExt cx="9972803" cy="4035933"/>
          </a:xfrm>
        </p:grpSpPr>
        <p:grpSp>
          <p:nvGrpSpPr>
            <p:cNvPr id="15" name="source-numbers"/>
            <p:cNvGrpSpPr/>
            <p:nvPr/>
          </p:nvGrpSpPr>
          <p:grpSpPr>
            <a:xfrm>
              <a:off x="654891" y="1739900"/>
              <a:ext cx="266367" cy="4035933"/>
              <a:chOff x="654891" y="1739900"/>
              <a:chExt cx="266367" cy="4035933"/>
            </a:xfrm>
          </p:grpSpPr>
          <p:sp>
            <p:nvSpPr>
              <p:cNvPr id="5" name="TextBox 5"/>
              <p:cNvSpPr txBox="1"/>
              <p:nvPr/>
            </p:nvSpPr>
            <p:spPr>
              <a:xfrm>
                <a:off x="527373" y="1739900"/>
                <a:ext cx="393885"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1.</a:t>
                </a:r>
              </a:p>
            </p:txBody>
          </p:sp>
          <p:sp>
            <p:nvSpPr>
              <p:cNvPr id="6" name="TextBox 6"/>
              <p:cNvSpPr txBox="1"/>
              <p:nvPr/>
            </p:nvSpPr>
            <p:spPr>
              <a:xfrm>
                <a:off x="527373" y="2159000"/>
                <a:ext cx="393885"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2.</a:t>
                </a:r>
              </a:p>
            </p:txBody>
          </p:sp>
          <p:sp>
            <p:nvSpPr>
              <p:cNvPr id="7" name="TextBox 7"/>
              <p:cNvSpPr txBox="1"/>
              <p:nvPr/>
            </p:nvSpPr>
            <p:spPr>
              <a:xfrm>
                <a:off x="527373" y="2578100"/>
                <a:ext cx="393885"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3.</a:t>
                </a:r>
              </a:p>
            </p:txBody>
          </p:sp>
          <p:sp>
            <p:nvSpPr>
              <p:cNvPr id="8" name="TextBox 8"/>
              <p:cNvSpPr txBox="1"/>
              <p:nvPr/>
            </p:nvSpPr>
            <p:spPr>
              <a:xfrm>
                <a:off x="527373" y="2997200"/>
                <a:ext cx="393885"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4.</a:t>
                </a:r>
              </a:p>
            </p:txBody>
          </p:sp>
          <p:sp>
            <p:nvSpPr>
              <p:cNvPr id="9" name="TextBox 9"/>
              <p:cNvSpPr txBox="1"/>
              <p:nvPr/>
            </p:nvSpPr>
            <p:spPr>
              <a:xfrm>
                <a:off x="527373" y="3416300"/>
                <a:ext cx="393885"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5.</a:t>
                </a:r>
              </a:p>
            </p:txBody>
          </p:sp>
          <p:sp>
            <p:nvSpPr>
              <p:cNvPr id="10" name="TextBox 10"/>
              <p:cNvSpPr txBox="1"/>
              <p:nvPr/>
            </p:nvSpPr>
            <p:spPr>
              <a:xfrm>
                <a:off x="527373" y="3835400"/>
                <a:ext cx="393885"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6.</a:t>
                </a:r>
              </a:p>
            </p:txBody>
          </p:sp>
          <p:sp>
            <p:nvSpPr>
              <p:cNvPr id="11" name="TextBox 11"/>
              <p:cNvSpPr txBox="1"/>
              <p:nvPr/>
            </p:nvSpPr>
            <p:spPr>
              <a:xfrm>
                <a:off x="527373" y="4254500"/>
                <a:ext cx="393885"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7.</a:t>
                </a:r>
              </a:p>
            </p:txBody>
          </p:sp>
          <p:sp>
            <p:nvSpPr>
              <p:cNvPr id="12" name="TextBox 12"/>
              <p:cNvSpPr txBox="1"/>
              <p:nvPr/>
            </p:nvSpPr>
            <p:spPr>
              <a:xfrm>
                <a:off x="527373" y="4673600"/>
                <a:ext cx="393885"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8.</a:t>
                </a:r>
              </a:p>
            </p:txBody>
          </p:sp>
          <p:sp>
            <p:nvSpPr>
              <p:cNvPr id="13" name="TextBox 13"/>
              <p:cNvSpPr txBox="1"/>
              <p:nvPr/>
            </p:nvSpPr>
            <p:spPr>
              <a:xfrm>
                <a:off x="527373" y="5092700"/>
                <a:ext cx="393885"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9.</a:t>
                </a:r>
              </a:p>
            </p:txBody>
          </p:sp>
          <p:sp>
            <p:nvSpPr>
              <p:cNvPr id="14" name="TextBox 14"/>
              <p:cNvSpPr txBox="1"/>
              <p:nvPr/>
            </p:nvSpPr>
            <p:spPr>
              <a:xfrm>
                <a:off x="426291" y="5511800"/>
                <a:ext cx="494967" cy="264033"/>
              </a:xfrm>
              <a:prstGeom prst="rect">
                <a:avLst/>
              </a:prstGeom>
              <a:noFill/>
              <a:ln>
                <a:noFill/>
              </a:ln>
            </p:spPr>
            <p:txBody>
              <a:bodyPr wrap="square" lIns="0" tIns="0" rIns="0" bIns="0" anchor="t" anchorCtr="0">
                <a:spAutoFit/>
              </a:bodyPr>
              <a:lstStyle/>
              <a:p>
                <a:pPr algn="r"/>
                <a:r>
                  <a:rPr lang="ru" sz="1350" b="1" dirty="0">
                    <a:solidFill>
                      <a:srgbClr val="0E6680"/>
                    </a:solidFill>
                    <a:latin typeface="+mn-lt"/>
                    <a:ea typeface="+mn-ea"/>
                    <a:cs typeface="+mn-cs"/>
                  </a:rPr>
                  <a:t>10.</a:t>
                </a:r>
              </a:p>
            </p:txBody>
          </p:sp>
        </p:grpSp>
        <p:grpSp>
          <p:nvGrpSpPr>
            <p:cNvPr id="26" name="source-entries"/>
            <p:cNvGrpSpPr/>
            <p:nvPr/>
          </p:nvGrpSpPr>
          <p:grpSpPr>
            <a:xfrm>
              <a:off x="1059942" y="1739900"/>
              <a:ext cx="9567752" cy="4035933"/>
              <a:chOff x="1059942" y="1739900"/>
              <a:chExt cx="9567752" cy="4035933"/>
            </a:xfrm>
          </p:grpSpPr>
          <p:sp>
            <p:nvSpPr>
              <p:cNvPr id="16" name="TextBox 16"/>
              <p:cNvSpPr txBox="1"/>
              <p:nvPr/>
            </p:nvSpPr>
            <p:spPr>
              <a:xfrm>
                <a:off x="1059942" y="1739900"/>
                <a:ext cx="6355386"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Ashton K. That “Internet of Things” Thing // RFID Journal. 2009.</a:t>
                </a:r>
              </a:p>
            </p:txBody>
          </p:sp>
          <p:sp>
            <p:nvSpPr>
              <p:cNvPr id="17" name="TextBox 17"/>
              <p:cNvSpPr txBox="1"/>
              <p:nvPr/>
            </p:nvSpPr>
            <p:spPr>
              <a:xfrm>
                <a:off x="1059942" y="2159000"/>
                <a:ext cx="10826847"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IoT Analytics. State of IoT 2025: Number of connected IoT devices growing 14% to 21.1 billion globally. 2025.</a:t>
                </a:r>
              </a:p>
            </p:txBody>
          </p:sp>
          <p:sp>
            <p:nvSpPr>
              <p:cNvPr id="18" name="TextBox 18"/>
              <p:cNvSpPr txBox="1"/>
              <p:nvPr/>
            </p:nvSpPr>
            <p:spPr>
              <a:xfrm>
                <a:off x="1059942" y="2578100"/>
                <a:ext cx="5227103"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OASIS. MQTT Version 5.0. OASIS Standard. 2019.</a:t>
                </a:r>
              </a:p>
            </p:txBody>
          </p:sp>
          <p:sp>
            <p:nvSpPr>
              <p:cNvPr id="19" name="TextBox 19"/>
              <p:cNvSpPr txBox="1"/>
              <p:nvPr/>
            </p:nvSpPr>
            <p:spPr>
              <a:xfrm>
                <a:off x="1059942" y="2997200"/>
                <a:ext cx="9758475"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Akidau T. et al. The Dataflow Model // Proceedings of the VLDB Endowment. 2015. Vol. 8, No. 12.</a:t>
                </a:r>
              </a:p>
            </p:txBody>
          </p:sp>
          <p:sp>
            <p:nvSpPr>
              <p:cNvPr id="20" name="TextBox 20"/>
              <p:cNvSpPr txBox="1"/>
              <p:nvPr/>
            </p:nvSpPr>
            <p:spPr>
              <a:xfrm>
                <a:off x="1059942" y="3416300"/>
                <a:ext cx="10941558"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Akidau T., Fernández-Moctezuma R., Lax R., Mills S. The Dataflow Model Revisited // PVLDB. 2026. Vol. 19, No. 12.</a:t>
                </a:r>
              </a:p>
            </p:txBody>
          </p:sp>
          <p:sp>
            <p:nvSpPr>
              <p:cNvPr id="21" name="TextBox 21"/>
              <p:cNvSpPr txBox="1"/>
              <p:nvPr/>
            </p:nvSpPr>
            <p:spPr>
              <a:xfrm>
                <a:off x="1059942" y="3835400"/>
                <a:ext cx="10503125"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Kreps J., Narkhede N., Rao J. Kafka: a Distributed Messaging System for Log Processing // NetDB. 2011.</a:t>
                </a:r>
              </a:p>
            </p:txBody>
          </p:sp>
          <p:sp>
            <p:nvSpPr>
              <p:cNvPr id="22" name="TextBox 22"/>
              <p:cNvSpPr txBox="1"/>
              <p:nvPr/>
            </p:nvSpPr>
            <p:spPr>
              <a:xfrm>
                <a:off x="1059942" y="4254500"/>
                <a:ext cx="4534060"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Marz N. How to beat the CAP theorem. 2011.</a:t>
                </a:r>
              </a:p>
            </p:txBody>
          </p:sp>
          <p:sp>
            <p:nvSpPr>
              <p:cNvPr id="23" name="TextBox 23"/>
              <p:cNvSpPr txBox="1"/>
              <p:nvPr/>
            </p:nvSpPr>
            <p:spPr>
              <a:xfrm>
                <a:off x="1059942" y="4673600"/>
                <a:ext cx="6968428"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Kreps J. Questioning the Lambda Architecture // O’Reilly Radar. 2014.</a:t>
                </a:r>
              </a:p>
            </p:txBody>
          </p:sp>
          <p:sp>
            <p:nvSpPr>
              <p:cNvPr id="24" name="TextBox 24"/>
              <p:cNvSpPr txBox="1"/>
              <p:nvPr/>
            </p:nvSpPr>
            <p:spPr>
              <a:xfrm>
                <a:off x="1059942" y="5092700"/>
                <a:ext cx="6758019"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Apache Flink. Documentation: Windows; Timely Stream Processing.</a:t>
                </a:r>
              </a:p>
            </p:txBody>
          </p:sp>
          <p:sp>
            <p:nvSpPr>
              <p:cNvPr id="25" name="TextBox 25"/>
              <p:cNvSpPr txBox="1"/>
              <p:nvPr/>
            </p:nvSpPr>
            <p:spPr>
              <a:xfrm>
                <a:off x="1059942" y="5511800"/>
                <a:ext cx="5777266" cy="264033"/>
              </a:xfrm>
              <a:prstGeom prst="rect">
                <a:avLst/>
              </a:prstGeom>
              <a:noFill/>
              <a:ln>
                <a:noFill/>
              </a:ln>
            </p:spPr>
            <p:txBody>
              <a:bodyPr wrap="square" lIns="0" tIns="0" rIns="0" bIns="0" anchor="t" anchorCtr="0">
                <a:spAutoFit/>
              </a:bodyPr>
              <a:lstStyle/>
              <a:p>
                <a:pPr algn="l"/>
                <a:r>
                  <a:rPr lang="en-US" sz="1350" dirty="0">
                    <a:solidFill>
                      <a:srgbClr val="17212B"/>
                    </a:solidFill>
                    <a:latin typeface="+mn-lt"/>
                    <a:ea typeface="+mn-ea"/>
                    <a:cs typeface="+mn-cs"/>
                  </a:rPr>
                  <a:t>Apache Spark. Structured Streaming Programming Guide.</a:t>
                </a:r>
              </a:p>
            </p:txBody>
          </p:sp>
        </p:grpSp>
      </p:grpSp>
      <p:grpSp>
        <p:nvGrpSpPr>
          <p:cNvPr id="31" name="footer"/>
          <p:cNvGrpSpPr/>
          <p:nvPr/>
        </p:nvGrpSpPr>
        <p:grpSpPr>
          <a:xfrm>
            <a:off x="603504" y="6400800"/>
            <a:ext cx="10984992" cy="348996"/>
            <a:chOff x="603504" y="6400800"/>
            <a:chExt cx="10984992" cy="348996"/>
          </a:xfrm>
        </p:grpSpPr>
        <p:sp>
          <p:nvSpPr>
            <p:cNvPr id="28" name="Line 28"/>
            <p:cNvSpPr/>
            <p:nvPr/>
          </p:nvSpPr>
          <p:spPr>
            <a:xfrm>
              <a:off x="609600" y="6400800"/>
              <a:ext cx="10972800" cy="9525"/>
            </a:xfrm>
            <a:custGeom>
              <a:avLst/>
              <a:gdLst/>
              <a:ahLst/>
              <a:cxnLst/>
              <a:rect l="l" t="t" r="r" b="b"/>
              <a:pathLst>
                <a:path w="10972800" h="9525">
                  <a:moveTo>
                    <a:pt x="0" y="0"/>
                  </a:moveTo>
                  <a:lnTo>
                    <a:pt x="10972800" y="0"/>
                  </a:lnTo>
                </a:path>
              </a:pathLst>
            </a:custGeom>
            <a:noFill/>
            <a:ln w="9525">
              <a:solidFill>
                <a:srgbClr val="D3DBE1"/>
              </a:solidFill>
            </a:ln>
          </p:spPr>
        </p:sp>
        <p:sp>
          <p:nvSpPr>
            <p:cNvPr id="29" name="TextBox 29"/>
            <p:cNvSpPr txBox="1"/>
            <p:nvPr/>
          </p:nvSpPr>
          <p:spPr>
            <a:xfrm>
              <a:off x="603504" y="6515100"/>
              <a:ext cx="5237930" cy="234696"/>
            </a:xfrm>
            <a:prstGeom prst="rect">
              <a:avLst/>
            </a:prstGeom>
            <a:noFill/>
            <a:ln>
              <a:noFill/>
            </a:ln>
          </p:spPr>
          <p:txBody>
            <a:bodyPr wrap="square" lIns="0" tIns="0" rIns="0" bIns="0" anchor="t" anchorCtr="0">
              <a:spAutoFit/>
            </a:bodyPr>
            <a:lstStyle/>
            <a:p>
              <a:pPr algn="l"/>
              <a:r>
                <a:rPr lang="ru" sz="1200" dirty="0">
                  <a:solidFill>
                    <a:srgbClr val="5F6B76"/>
                  </a:solidFill>
                  <a:latin typeface="+mn-lt"/>
                  <a:ea typeface="+mn-ea"/>
                  <a:cs typeface="+mn-cs"/>
                </a:rPr>
                <a:t>Интернет вещей и анализ потоковых данных · МГУ, БИ-02</a:t>
              </a:r>
            </a:p>
          </p:txBody>
        </p:sp>
        <p:sp>
          <p:nvSpPr>
            <p:cNvPr id="30" name="TextBox 30"/>
            <p:cNvSpPr txBox="1"/>
            <p:nvPr/>
          </p:nvSpPr>
          <p:spPr>
            <a:xfrm>
              <a:off x="10853670" y="6515100"/>
              <a:ext cx="734826" cy="234696"/>
            </a:xfrm>
            <a:prstGeom prst="rect">
              <a:avLst/>
            </a:prstGeom>
            <a:noFill/>
            <a:ln>
              <a:noFill/>
            </a:ln>
          </p:spPr>
          <p:txBody>
            <a:bodyPr wrap="square" lIns="0" tIns="0" rIns="0" bIns="0" anchor="t" anchorCtr="0">
              <a:spAutoFit/>
            </a:bodyPr>
            <a:lstStyle/>
            <a:p>
              <a:pPr algn="r"/>
              <a:r>
                <a:rPr lang="ru" sz="1200" dirty="0">
                  <a:solidFill>
                    <a:srgbClr val="5F6B76"/>
                  </a:solidFill>
                  <a:latin typeface="+mn-lt"/>
                  <a:ea typeface="+mn-ea"/>
                  <a:cs typeface="+mn-cs"/>
                </a:rPr>
                <a:t>12 / 12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iot-streaming">
  <a:themeElements>
    <a:clrScheme name="iot-streamin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ot-streaming">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t-stream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iot-streaming">
  <a:themeElements>
    <a:clrScheme name="iot-streaming">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ot-streaming">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t-stream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ru</dc:language>
  <cp:lastModifiedBy/>
  <cp:revision>1</cp:revision>
  <dcterms:created xsi:type="dcterms:W3CDTF">2026-10-23T13:29:38Z</dcterms:created>
  <dcterms:modified xsi:type="dcterms:W3CDTF">2026-10-23T13:29:38Z</dcterms:modified>
  <cp:category/>
  <cp:contentStatus/>
</cp:coreProperties>
</file>
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16x9"/>
  <p:notesSz cx="6858000" cy="9144000"/>
  <p:defaultTextStyle>
    <a:defPPr>
      <a:defRPr lang="ru"/>
    </a:defPPr>
    <a:lvl1pPr marL="0" algn="l" defTabSz="457200" rtl="0" eaLnBrk="1" latinLnBrk="0" hangingPunct="1">
      <a:defRPr sz="1800" kern="1200" lang="ru">
        <a:solidFill>
          <a:schemeClr val="tx1"/>
        </a:solidFill>
        <a:latin typeface="+mn-lt"/>
        <a:ea typeface="+mn-ea"/>
        <a:cs typeface="+mn-cs"/>
      </a:defRPr>
    </a:lvl1pPr>
    <a:lvl2pPr marL="457200" algn="l" defTabSz="457200" rtl="0" eaLnBrk="1" latinLnBrk="0" hangingPunct="1">
      <a:defRPr sz="1800" kern="1200" lang="ru">
        <a:solidFill>
          <a:schemeClr val="tx1"/>
        </a:solidFill>
        <a:latin typeface="+mn-lt"/>
        <a:ea typeface="+mn-ea"/>
        <a:cs typeface="+mn-cs"/>
      </a:defRPr>
    </a:lvl2pPr>
    <a:lvl3pPr marL="914400" algn="l" defTabSz="457200" rtl="0" eaLnBrk="1" latinLnBrk="0" hangingPunct="1">
      <a:defRPr sz="1800" kern="1200" lang="ru">
        <a:solidFill>
          <a:schemeClr val="tx1"/>
        </a:solidFill>
        <a:latin typeface="+mn-lt"/>
        <a:ea typeface="+mn-ea"/>
        <a:cs typeface="+mn-cs"/>
      </a:defRPr>
    </a:lvl3pPr>
    <a:lvl4pPr marL="1371600" algn="l" defTabSz="457200" rtl="0" eaLnBrk="1" latinLnBrk="0" hangingPunct="1">
      <a:defRPr sz="1800" kern="1200" lang="ru">
        <a:solidFill>
          <a:schemeClr val="tx1"/>
        </a:solidFill>
        <a:latin typeface="+mn-lt"/>
        <a:ea typeface="+mn-ea"/>
        <a:cs typeface="+mn-cs"/>
      </a:defRPr>
    </a:lvl4pPr>
    <a:lvl5pPr marL="1828800" algn="l" defTabSz="457200" rtl="0" eaLnBrk="1" latinLnBrk="0" hangingPunct="1">
      <a:defRPr sz="1800" kern="1200" lang="ru">
        <a:solidFill>
          <a:schemeClr val="tx1"/>
        </a:solidFill>
        <a:latin typeface="+mn-lt"/>
        <a:ea typeface="+mn-ea"/>
        <a:cs typeface="+mn-cs"/>
      </a:defRPr>
    </a:lvl5pPr>
    <a:lvl6pPr marL="2286000" algn="l" defTabSz="457200" rtl="0" eaLnBrk="1" latinLnBrk="0" hangingPunct="1">
      <a:defRPr sz="1800" kern="1200" lang="ru">
        <a:solidFill>
          <a:schemeClr val="tx1"/>
        </a:solidFill>
        <a:latin typeface="+mn-lt"/>
        <a:ea typeface="+mn-ea"/>
        <a:cs typeface="+mn-cs"/>
      </a:defRPr>
    </a:lvl6pPr>
    <a:lvl7pPr marL="2743200" algn="l" defTabSz="457200" rtl="0" eaLnBrk="1" latinLnBrk="0" hangingPunct="1">
      <a:defRPr sz="1800" kern="1200" lang="ru">
        <a:solidFill>
          <a:schemeClr val="tx1"/>
        </a:solidFill>
        <a:latin typeface="+mn-lt"/>
        <a:ea typeface="+mn-ea"/>
        <a:cs typeface="+mn-cs"/>
      </a:defRPr>
    </a:lvl7pPr>
    <a:lvl8pPr marL="3200400" algn="l" defTabSz="457200" rtl="0" eaLnBrk="1" latinLnBrk="0" hangingPunct="1">
      <a:defRPr sz="1800" kern="1200" lang="ru">
        <a:solidFill>
          <a:schemeClr val="tx1"/>
        </a:solidFill>
        <a:latin typeface="+mn-lt"/>
        <a:ea typeface="+mn-ea"/>
        <a:cs typeface="+mn-cs"/>
      </a:defRPr>
    </a:lvl8pPr>
    <a:lvl9pPr marL="3657600" algn="l" defTabSz="457200" rtl="0" eaLnBrk="1" latinLnBrk="0" hangingPunct="1">
      <a:defRPr sz="1800" kern="1200" lang="ru">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ru"/>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ru"/>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ru"/>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ru"/>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ru"/>
          </a:p>
        </p:txBody>
      </p:sp>
    </p:spTree>
  </p:cSld>
  <p:clrMap bg1="lt1" tx1="dk1" bg2="lt2" tx2="dk2" accent1="accent1" accent2="accent2" accent3="accent3" accent4="accent4" accent5="accent5" accent6="accent6" hlink="hlink" folHlink="folHlink"/>
  <p:hf/>
  <p:notesStyle>
    <a:lvl1pPr marL="0" algn="l">
      <a:defRPr sz="1200" lang="ru"/>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Добрый день. Мы, Илья Давиденко и Дарья Данилова, студенты первого курса магистратуры, группа БИ-02. Тема нашего доклада: «Интернет вещей и анализ потоковых данных».</a:t>
            </a:r>
          </a:p>
          <a:p>
            <a:pPr/>
            <a:endParaRPr lang="ru" dirty="0"/>
          </a:p>
          <a:p>
            <a:pPr/>
            <a:r>
              <a:rPr lang="ru" dirty="0"/>
              <a:t>Основная мысль доклада такая: данные интернета вещей поступают непрерывно, поэтому их анализируют прежде всего как поток, а пакетная обработка дополняет потоковую.</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Доклад состоит из пяти частей. Сначала мы определим, что такое интернет вещей, и приведём оценки его масштаба. Затем опишем, как устроена система интернета вещей и какими свойствами обладают её данные.</a:t>
            </a:r>
          </a:p>
          <a:p>
            <a:pPr/>
            <a:endParaRPr lang="ru" dirty="0"/>
          </a:p>
          <a:p>
            <a:pPr/>
            <a:r>
              <a:rPr lang="ru" dirty="0"/>
              <a:t>В третьей части сравним пакетную и потоковую обработку. В четвёртой разберём основные понятия потокового анализа и инструменты, на которых он строится. В завершение рассмотрим пример и сформулируем выводы.</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Интернетом вещей называют сеть физических устройств, которые оснащены датчиками, подключены к сети и обмениваются данными без постоянного участия человека. Это промышленные датчики, счётчики, медицинские приборы, транспорт, элементы умного дома.</a:t>
            </a:r>
          </a:p>
          <a:p>
            <a:pPr/>
            <a:endParaRPr lang="ru" dirty="0"/>
          </a:p>
          <a:p>
            <a:pPr/>
            <a:r>
              <a:rPr lang="ru" dirty="0"/>
              <a:t>По словам Кевина Эштона, он предложил этот термин в 1999 году. Так называлась его презентация для компании Procter &amp; Gamble о радиочастотных метках в цепочке поставок.</a:t>
            </a:r>
          </a:p>
          <a:p>
            <a:pPr/>
            <a:endParaRPr lang="ru" dirty="0"/>
          </a:p>
          <a:p>
            <a:pPr/>
            <a:r>
              <a:rPr lang="ru" dirty="0"/>
              <a:t>Масштаб технологии показывают оценки аналитической компании IoT Analytics. В 2024 году в мире было около 18,5 миллиарда устройств интернета вещей. Смартфоны, компьютеры и планшеты в этот подсчёт не входят. По оценке на конец 2025 года, число устройств выросло на 14 процентов, до 21,1 миллиарда. К 2030 году компания прогнозирует около 39 миллиардов, то есть рост примерно на 13 процентов в год. Другие аналитические компании считают устройства по своей методике, поэтому их оценки отличаются.</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Чтобы понять, откуда берётся поток данных, рассмотрим устройство системы. Эталонная модель Международного союза электросвязи, рекомендация Y.2060, выделяет четыре уровня. На слайде она показана в упрощённом виде.</a:t>
            </a:r>
          </a:p>
          <a:p>
            <a:pPr/>
            <a:endParaRPr lang="ru" dirty="0"/>
          </a:p>
          <a:p>
            <a:pPr/>
            <a:r>
              <a:rPr lang="ru" dirty="0"/>
              <a:t>Первый уровень: устройства и шлюзы. Датчики измеряют температуру, давление, вибрацию, координаты. Шлюз собирает данные от ближайших устройств, фильтрует их и передаёт дальше. Такие расчёты рядом с источником называют граничными вычислениями.</a:t>
            </a:r>
          </a:p>
          <a:p>
            <a:pPr/>
            <a:endParaRPr lang="ru" dirty="0"/>
          </a:p>
          <a:p>
            <a:pPr/>
            <a:r>
              <a:rPr lang="ru" dirty="0"/>
              <a:t>Второй уровень: сеть. Она доставляет сообщения от устройств к платформе. Для этого часто используют MQTT, облегчённый протокол обмена сообщениями по схеме публикации и подписки.</a:t>
            </a:r>
          </a:p>
          <a:p>
            <a:pPr/>
            <a:endParaRPr lang="ru" dirty="0"/>
          </a:p>
          <a:p>
            <a:pPr/>
            <a:r>
              <a:rPr lang="ru" dirty="0"/>
              <a:t>Третий уровень: платформа. Здесь работают общие для всех приложений функции: приём сообщений, обработка и хранение данных.</a:t>
            </a:r>
          </a:p>
          <a:p>
            <a:pPr/>
            <a:endParaRPr lang="ru" dirty="0"/>
          </a:p>
          <a:p>
            <a:pPr/>
            <a:r>
              <a:rPr lang="ru" dirty="0"/>
              <a:t>Четвёртый уровень: приложения. Они превращают данные в отчёты, оповещения и управляющие команды, которые возвращаются к устройствам.</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Данные, которые производят такие системы, обладают четырьмя особенностями.</a:t>
            </a:r>
          </a:p>
          <a:p>
            <a:pPr/>
            <a:endParaRPr lang="ru" dirty="0"/>
          </a:p>
          <a:p>
            <a:pPr/>
            <a:r>
              <a:rPr lang="ru" dirty="0"/>
              <a:t>Во-первых, они поступают непрерывно. Датчик не прекращает работу после одного замера, поэтому у набора данных нет заранее известного конца.</a:t>
            </a:r>
          </a:p>
          <a:p>
            <a:pPr/>
            <a:endParaRPr lang="ru" dirty="0"/>
          </a:p>
          <a:p>
            <a:pPr/>
            <a:r>
              <a:rPr lang="ru" dirty="0"/>
              <a:t>Во-вторых, каждое измерение привязано ко времени. Важен не только результат замера, но и момент, когда его сделали.</a:t>
            </a:r>
          </a:p>
          <a:p>
            <a:pPr/>
            <a:endParaRPr lang="ru" dirty="0"/>
          </a:p>
          <a:p>
            <a:pPr/>
            <a:r>
              <a:rPr lang="ru" dirty="0"/>
              <a:t>В-третьих, данные приходят с задержками и не всегда по порядку. Устройство может временно потерять связь, а затем передать накопленные записи.</a:t>
            </a:r>
          </a:p>
          <a:p>
            <a:pPr/>
            <a:endParaRPr lang="ru" dirty="0"/>
          </a:p>
          <a:p>
            <a:pPr/>
            <a:r>
              <a:rPr lang="ru" dirty="0"/>
              <a:t>В-четвёртых, объём и скорость поступления велики. При тысячах датчиков счёт идёт на тысячи измерений в секунду.</a:t>
            </a:r>
          </a:p>
          <a:p>
            <a:pPr/>
            <a:endParaRPr lang="ru" dirty="0"/>
          </a:p>
          <a:p>
            <a:pPr/>
            <a:r>
              <a:rPr lang="ru" dirty="0"/>
              <a:t>Из этих свойств следует, что данные интернета вещей удобно рассматривать как поток событий.</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Такие данные можно обрабатывать двумя способами. Главное различие между ними в том, когда появляется результат.</a:t>
            </a:r>
          </a:p>
          <a:p>
            <a:pPr/>
            <a:endParaRPr lang="ru" dirty="0"/>
          </a:p>
          <a:p>
            <a:pPr/>
            <a:r>
              <a:rPr lang="ru" dirty="0"/>
              <a:t>Пакетная обработка ждёт, пока данные накопятся, и считает их целиком по расписанию. Потоковая обработка обновляет результат с каждым новым событием. Если результат считают по окнам, он появляется после закрытия окна.</a:t>
            </a:r>
          </a:p>
          <a:p>
            <a:pPr/>
            <a:endParaRPr lang="ru" dirty="0"/>
          </a:p>
          <a:p>
            <a:pPr/>
            <a:r>
              <a:rPr lang="ru" dirty="0"/>
              <a:t>Поэтому быстрая реакция, например на аварию, требует потоковой обработки, а отчёты и обучение моделей на истории удобнее строить пакетно. На практике два подхода дополняют друг друга.</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Перейдём к основным понятиям потокового анализа. Их систематизировала модель Dataflow, которую предложили инженеры Google в 2015 году.</a:t>
            </a:r>
          </a:p>
          <a:p>
            <a:pPr/>
            <a:endParaRPr lang="ru" dirty="0"/>
          </a:p>
          <a:p>
            <a:pPr/>
            <a:r>
              <a:rPr lang="ru" dirty="0"/>
              <a:t>Время события: это момент, когда измерение произошло на устройстве. Время обработки: это момент, когда событие дошло до системы. На схеме событие 3 произошло раньше события 4, но пришло позже него. Если считать по времени поступления, замер попадёт не в тот интервал, и средние значения исказятся. Поэтому расчёты опираются на время события.</a:t>
            </a:r>
          </a:p>
          <a:p>
            <a:pPr/>
            <a:endParaRPr lang="ru" dirty="0"/>
          </a:p>
          <a:p>
            <a:pPr/>
            <a:r>
              <a:rPr lang="ru" dirty="0"/>
              <a:t>Системе при этом нужно решить, когда данные за период можно считать полными. Для этого служит водяной знак. Система вычисляет его по меткам времени уже пришедших событий с запасом на задержку. Здесь водяной знак равен 4 секундам: события, произошедшие раньше 4-й секунды, считаются полученными. Событие 3 пришло позже и стало опоздавшим. Если водяной знак ставить слишком рано, опоздавших событий будет много, если слишком поздно, результат задержится. Опоздавшие события отбрасывают, сохраняют отдельно или пересчитывают с ними результат окна.</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Поток не имеет конца, поэтому получить окончательное среднее по нему нельзя. Для расчётов поток делят на окна, то есть на конечные интервалы времени. Рассмотрим три основных типа окон. Все они есть, например, в Apache Flink.</a:t>
            </a:r>
          </a:p>
          <a:p>
            <a:pPr/>
            <a:endParaRPr lang="ru" dirty="0"/>
          </a:p>
          <a:p>
            <a:pPr/>
            <a:r>
              <a:rPr lang="ru" dirty="0"/>
              <a:t>Фиксированные окна имеют одинаковую длину и не пересекаются. Например, система считает среднюю температуру за каждую минуту.</a:t>
            </a:r>
          </a:p>
          <a:p>
            <a:pPr/>
            <a:endParaRPr lang="ru" dirty="0"/>
          </a:p>
          <a:p>
            <a:pPr/>
            <a:r>
              <a:rPr lang="ru" dirty="0"/>
              <a:t>Скользящие окна тоже имеют фиксированную длину, но сдвигаются с шагом меньше своей длины и поэтому пересекаются. Например, окно длиной пять минут пересчитывается каждую минуту. Так получается сглаженная картина.</a:t>
            </a:r>
          </a:p>
          <a:p>
            <a:pPr/>
            <a:endParaRPr lang="ru" dirty="0"/>
          </a:p>
          <a:p>
            <a:pPr/>
            <a:r>
              <a:rPr lang="ru" dirty="0"/>
              <a:t>Сессионные окна не имеют фиксированной длины. Окно закрывается, когда от источника какое-то время не поступает событий. Их используют для анализа периодов активности устройства.</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Теперь об инструментах. Типичная потоковая система состоит из двух компонентов.</a:t>
            </a:r>
          </a:p>
          <a:p>
            <a:pPr/>
            <a:endParaRPr lang="ru" dirty="0"/>
          </a:p>
          <a:p>
            <a:pPr/>
            <a:r>
              <a:rPr lang="ru" dirty="0"/>
              <a:t>Первый компонент: брокер сообщений, например Apache Kafka. Он принимает события от устройств и шлюзов и записывает их в журнал. Журнал хранит события долго, его можно перечитать. Брокер MQTT и Kafka относятся к разным системам, данные между ними передаёт шлюз или коннектор.</a:t>
            </a:r>
          </a:p>
          <a:p>
            <a:pPr/>
            <a:endParaRPr lang="ru" dirty="0"/>
          </a:p>
          <a:p>
            <a:pPr/>
            <a:r>
              <a:rPr lang="ru" dirty="0"/>
              <a:t>Второй компонент: движок потоковой обработки, например Apache Flink или Spark Structured Streaming. Он применяет к потоку окна, агрегирует данные и отправляет результаты в хранилище и приложения. Spark по умолчанию работает микропакетами.</a:t>
            </a:r>
          </a:p>
          <a:p>
            <a:pPr/>
            <a:endParaRPr lang="ru" dirty="0"/>
          </a:p>
          <a:p>
            <a:pPr/>
            <a:r>
              <a:rPr lang="ru" dirty="0"/>
              <a:t>Компоненты объединяют по разным архитектурам. В архитектуре Lambda, которую описал Натан Марц, два контура. Пакетный точно пересчитывает всю историю, потоковый быстро даёт предварительный результат. Логику при этом поддерживают дважды. В архитектуре Kappa, которую предложил Джей Крепс, остаётся только потоковый контур, а историю пересчитывают повторным чтением журнала.</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Рассмотрим, как эти элементы работают вместе, на условном примере мониторинга насосной станции.</a:t>
            </a:r>
          </a:p>
          <a:p>
            <a:pPr/>
            <a:endParaRPr lang="ru" dirty="0"/>
          </a:p>
          <a:p>
            <a:pPr/>
            <a:r>
              <a:rPr lang="ru" dirty="0"/>
              <a:t>На станции установлено 200 датчиков вибрации. Каждый делает 10 замеров в секунду, то есть система получает 2 000 событий в секунду. Шлюз на станции отсеивает явно ошибочные значения и передаёт данные в Kafka.</a:t>
            </a:r>
          </a:p>
          <a:p>
            <a:pPr/>
            <a:endParaRPr lang="ru" dirty="0"/>
          </a:p>
          <a:p>
            <a:pPr/>
            <a:r>
              <a:rPr lang="ru" dirty="0"/>
              <a:t>Движок обработки группирует события каждого насоса в минутные окна по времени события. Для каждого окна он считает среднее и максимальное значение вибрации и сравнивает их с допустимым порогом.</a:t>
            </a:r>
          </a:p>
          <a:p>
            <a:pPr/>
            <a:endParaRPr lang="ru" dirty="0"/>
          </a:p>
          <a:p>
            <a:pPr/>
            <a:r>
              <a:rPr lang="ru" dirty="0"/>
              <a:t>Если порог превышен, диспетчер получает оповещение, когда водяной знак покажет, что окно закрыто. Поэтому задержку здесь задаёт длина окна, а не скорость обработки. Агрегаты сохраняются в хранилище, и по ним строятся пакетные отчёты. По устройству этот пример ближе к архитектуре Kappa.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Подведём итоги.</a:t>
            </a:r>
          </a:p>
          <a:p>
            <a:pPr/>
            <a:endParaRPr lang="ru" dirty="0"/>
          </a:p>
          <a:p>
            <a:pPr/>
            <a:r>
              <a:rPr lang="ru" dirty="0"/>
              <a:t>Первое: по оценке IoT Analytics, в мире уже около 21 миллиарда устройств интернета вещей, и они непрерывно производят данные с метками времени.</a:t>
            </a:r>
          </a:p>
          <a:p>
            <a:pPr/>
            <a:endParaRPr lang="ru" dirty="0"/>
          </a:p>
          <a:p>
            <a:pPr/>
            <a:r>
              <a:rPr lang="ru" dirty="0"/>
              <a:t>Второе: такие данные анализируют в потоковом режиме. Его основу составляют время события, водяные знаки и окна.</a:t>
            </a:r>
          </a:p>
          <a:p>
            <a:pPr/>
            <a:endParaRPr lang="ru" dirty="0"/>
          </a:p>
          <a:p>
            <a:pPr/>
            <a:r>
              <a:rPr lang="ru" dirty="0"/>
              <a:t>Третье: потоковые системы строят из брокера сообщений и движка обработки, а пакетная обработка дополняет их для отчётов и работы с историей.</a:t>
            </a:r>
          </a:p>
          <a:p>
            <a:pPr/>
            <a:endParaRPr lang="ru" dirty="0"/>
          </a:p>
          <a:p>
            <a:pPr/>
            <a:r>
              <a:rPr lang="ru" dirty="0"/>
              <a:t>Итак, главная мысль доклада: данные интернета вещей поступают непрерывно, поэтому их анализируют прежде всего как поток.</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Источники, на которые мы опирались, приведены на последнем слайде: отраслевой отчёт, стандарты, научные статьи и документация инструментов. Спасибо за внимание.</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iot-streaming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ru" smtClean="0"/>
              <a:t>1/27/13</a:t>
            </a:fld>
            <a:endParaRPr lang="ru"/>
          </a:p>
        </p:txBody>
      </p:sp>
      <p:sp>
        <p:nvSpPr>
          <p:cNvPr id="3" name="Footer Placeholder 2"/>
          <p:cNvSpPr>
            <a:spLocks noGrp="1"/>
          </p:cNvSpPr>
          <p:nvPr>
            <p:ph type="ftr" sz="quarter" idx="11"/>
          </p:nvPr>
        </p:nvSpPr>
        <p:spPr/>
        <p:txBody>
          <a:bodyPr/>
          <a:lstStyle/>
          <a:p>
            <a:endParaRPr lang="ru"/>
          </a:p>
        </p:txBody>
      </p:sp>
      <p:sp>
        <p:nvSpPr>
          <p:cNvPr id="4" name="Slide Number Placeholder 3"/>
          <p:cNvSpPr>
            <a:spLocks noGrp="1"/>
          </p:cNvSpPr>
          <p:nvPr>
            <p:ph type="sldNum" sz="quarter" idx="12"/>
          </p:nvPr>
        </p:nvSpPr>
        <p:spPr/>
        <p:txBody>
          <a:bodyPr/>
          <a:lstStyle/>
          <a:p>
            <a:fld id="{C1FF6DA9-008F-8B48-92A6-B652298478BF}" type="slidenum">
              <a:rPr lang="ru" smtClean="0"/>
              <a:t>‹#›</a:t>
            </a:fld>
            <a:endParaRPr lang="ru"/>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iot-streaming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ru">
                <a:solidFill>
                  <a:schemeClr val="tx1">
                    <a:tint val="75000"/>
                  </a:schemeClr>
                </a:solidFill>
              </a:defRPr>
            </a:lvl1pPr>
          </a:lstStyle>
          <a:p>
            <a:fld id="{5BCAD085-E8A6-8845-BD4E-CB4CCA059FC4}" type="datetimeFigureOut">
              <a:rPr lang="ru" smtClean="0"/>
              <a:t>1/27/13</a:t>
            </a:fld>
            <a:endParaRPr lang="ru"/>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ru">
                <a:solidFill>
                  <a:schemeClr val="tx1">
                    <a:tint val="75000"/>
                  </a:schemeClr>
                </a:solidFill>
              </a:defRPr>
            </a:lvl1pPr>
          </a:lstStyle>
          <a:p>
            <a:endParaRPr lang="ru"/>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ru">
                <a:solidFill>
                  <a:schemeClr val="tx1">
                    <a:tint val="75000"/>
                  </a:schemeClr>
                </a:solidFill>
              </a:defRPr>
            </a:lvl1pPr>
          </a:lstStyle>
          <a:p>
            <a:fld id="{C1FF6DA9-008F-8B48-92A6-B652298478BF}" type="slidenum">
              <a:rPr lang="ru" smtClean="0"/>
              <a:t>‹#›</a:t>
            </a:fld>
            <a:endParaRPr lang="ru"/>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ru">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ru">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ru">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ru">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9pPr>
    </p:bodyStyle>
    <p:otherStyle>
      <a:defPPr>
        <a:defRPr lang="ru"/>
      </a:defPPr>
      <a:lvl1pPr marL="0" algn="l" defTabSz="457200" rtl="0" eaLnBrk="1" latinLnBrk="0" hangingPunct="1">
        <a:defRPr sz="1800" kern="1200" lang="ru">
          <a:solidFill>
            <a:schemeClr val="tx1"/>
          </a:solidFill>
          <a:latin typeface="+mn-lt"/>
          <a:ea typeface="+mn-ea"/>
          <a:cs typeface="+mn-cs"/>
        </a:defRPr>
      </a:lvl1pPr>
      <a:lvl2pPr marL="457200" algn="l" defTabSz="457200" rtl="0" eaLnBrk="1" latinLnBrk="0" hangingPunct="1">
        <a:defRPr sz="1800" kern="1200" lang="ru">
          <a:solidFill>
            <a:schemeClr val="tx1"/>
          </a:solidFill>
          <a:latin typeface="+mn-lt"/>
          <a:ea typeface="+mn-ea"/>
          <a:cs typeface="+mn-cs"/>
        </a:defRPr>
      </a:lvl2pPr>
      <a:lvl3pPr marL="914400" algn="l" defTabSz="457200" rtl="0" eaLnBrk="1" latinLnBrk="0" hangingPunct="1">
        <a:defRPr sz="1800" kern="1200" lang="ru">
          <a:solidFill>
            <a:schemeClr val="tx1"/>
          </a:solidFill>
          <a:latin typeface="+mn-lt"/>
          <a:ea typeface="+mn-ea"/>
          <a:cs typeface="+mn-cs"/>
        </a:defRPr>
      </a:lvl3pPr>
      <a:lvl4pPr marL="1371600" algn="l" defTabSz="457200" rtl="0" eaLnBrk="1" latinLnBrk="0" hangingPunct="1">
        <a:defRPr sz="1800" kern="1200" lang="ru">
          <a:solidFill>
            <a:schemeClr val="tx1"/>
          </a:solidFill>
          <a:latin typeface="+mn-lt"/>
          <a:ea typeface="+mn-ea"/>
          <a:cs typeface="+mn-cs"/>
        </a:defRPr>
      </a:lvl4pPr>
      <a:lvl5pPr marL="1828800" algn="l" defTabSz="457200" rtl="0" eaLnBrk="1" latinLnBrk="0" hangingPunct="1">
        <a:defRPr sz="1800" kern="1200" lang="ru">
          <a:solidFill>
            <a:schemeClr val="tx1"/>
          </a:solidFill>
          <a:latin typeface="+mn-lt"/>
          <a:ea typeface="+mn-ea"/>
          <a:cs typeface="+mn-cs"/>
        </a:defRPr>
      </a:lvl5pPr>
      <a:lvl6pPr marL="2286000" algn="l" defTabSz="457200" rtl="0" eaLnBrk="1" latinLnBrk="0" hangingPunct="1">
        <a:defRPr sz="1800" kern="1200" lang="ru">
          <a:solidFill>
            <a:schemeClr val="tx1"/>
          </a:solidFill>
          <a:latin typeface="+mn-lt"/>
          <a:ea typeface="+mn-ea"/>
          <a:cs typeface="+mn-cs"/>
        </a:defRPr>
      </a:lvl6pPr>
      <a:lvl7pPr marL="2743200" algn="l" defTabSz="457200" rtl="0" eaLnBrk="1" latinLnBrk="0" hangingPunct="1">
        <a:defRPr sz="1800" kern="1200" lang="ru">
          <a:solidFill>
            <a:schemeClr val="tx1"/>
          </a:solidFill>
          <a:latin typeface="+mn-lt"/>
          <a:ea typeface="+mn-ea"/>
          <a:cs typeface="+mn-cs"/>
        </a:defRPr>
      </a:lvl7pPr>
      <a:lvl8pPr marL="3200400" algn="l" defTabSz="457200" rtl="0" eaLnBrk="1" latinLnBrk="0" hangingPunct="1">
        <a:defRPr sz="1800" kern="1200" lang="ru">
          <a:solidFill>
            <a:schemeClr val="tx1"/>
          </a:solidFill>
          <a:latin typeface="+mn-lt"/>
          <a:ea typeface="+mn-ea"/>
          <a:cs typeface="+mn-cs"/>
        </a:defRPr>
      </a:lvl8pPr>
      <a:lvl9pPr marL="3657600" algn="l" defTabSz="457200" rtl="0" eaLnBrk="1" latinLnBrk="0" hangingPunct="1">
        <a:defRPr sz="1800" kern="1200" lang="ru">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3" name="stream-field"/>
          <p:cNvGrpSpPr/>
          <p:nvPr/>
        </p:nvGrpSpPr>
        <p:grpSpPr>
          <a:xfrm>
            <a:off x="8382000" y="0"/>
            <a:ext cx="3810000" cy="6858000"/>
            <a:chOff x="8382000" y="0"/>
            <a:chExt cx="3810000" cy="6858000"/>
          </a:xfrm>
        </p:grpSpPr>
        <p:sp>
          <p:nvSpPr>
            <p:cNvPr id="2" name="Rectangle 2"/>
            <p:cNvSpPr/>
            <p:nvPr/>
          </p:nvSpPr>
          <p:spPr>
            <a:xfrm>
              <a:off x="8382000" y="0"/>
              <a:ext cx="3810000" cy="6858000"/>
            </a:xfrm>
            <a:prstGeom prst="rect">
              <a:avLst/>
            </a:prstGeom>
            <a:solidFill>
              <a:srgbClr val="0E6680"/>
            </a:solidFill>
            <a:ln>
              <a:noFill/>
            </a:ln>
          </p:spPr>
        </p:sp>
        <p:grpSp>
          <p:nvGrpSpPr>
            <p:cNvPr id="6" name="stream-lines"/>
            <p:cNvGrpSpPr/>
            <p:nvPr/>
          </p:nvGrpSpPr>
          <p:grpSpPr>
            <a:xfrm>
              <a:off x="8763000" y="2381250"/>
              <a:ext cx="3009900" cy="2095501"/>
              <a:chOff x="8763000" y="2381250"/>
              <a:chExt cx="3009900" cy="2095501"/>
            </a:xfrm>
          </p:grpSpPr>
          <p:sp>
            <p:nvSpPr>
              <p:cNvPr id="3" name="Line 3"/>
              <p:cNvSpPr/>
              <p:nvPr/>
            </p:nvSpPr>
            <p:spPr>
              <a:xfrm>
                <a:off x="8763000" y="2381250"/>
                <a:ext cx="3009900" cy="1"/>
              </a:xfrm>
              <a:prstGeom prst="line">
                <a:avLst/>
              </a:prstGeom>
              <a:noFill/>
              <a:ln w="19050">
                <a:solidFill>
                  <a:srgbClr val="7FB3C4"/>
                </a:solidFill>
                <a:tailEnd type="triangle" w="lg" len="lg"/>
              </a:ln>
            </p:spPr>
          </p:sp>
          <p:sp>
            <p:nvSpPr>
              <p:cNvPr id="4" name="Line 4"/>
              <p:cNvSpPr/>
              <p:nvPr/>
            </p:nvSpPr>
            <p:spPr>
              <a:xfrm>
                <a:off x="8763000" y="3429000"/>
                <a:ext cx="3009900" cy="1"/>
              </a:xfrm>
              <a:prstGeom prst="line">
                <a:avLst/>
              </a:prstGeom>
              <a:noFill/>
              <a:ln w="19050">
                <a:solidFill>
                  <a:srgbClr val="7FB3C4"/>
                </a:solidFill>
                <a:tailEnd type="triangle" w="lg" len="lg"/>
              </a:ln>
            </p:spPr>
          </p:sp>
          <p:sp>
            <p:nvSpPr>
              <p:cNvPr id="5" name="Line 5"/>
              <p:cNvSpPr/>
              <p:nvPr/>
            </p:nvSpPr>
            <p:spPr>
              <a:xfrm>
                <a:off x="8763000" y="4476750"/>
                <a:ext cx="3009900" cy="1"/>
              </a:xfrm>
              <a:prstGeom prst="line">
                <a:avLst/>
              </a:prstGeom>
              <a:noFill/>
              <a:ln w="19050">
                <a:solidFill>
                  <a:srgbClr val="7FB3C4"/>
                </a:solidFill>
                <a:tailEnd type="triangle" w="lg" len="lg"/>
              </a:ln>
            </p:spPr>
          </p:sp>
        </p:grpSp>
        <p:grpSp>
          <p:nvGrpSpPr>
            <p:cNvPr id="21" name="stream-events"/>
            <p:cNvGrpSpPr/>
            <p:nvPr/>
          </p:nvGrpSpPr>
          <p:grpSpPr>
            <a:xfrm>
              <a:off x="8877300" y="2305050"/>
              <a:ext cx="2590800" cy="2247900"/>
              <a:chOff x="8877300" y="2305050"/>
              <a:chExt cx="2590800" cy="2247900"/>
            </a:xfrm>
          </p:grpSpPr>
          <p:sp>
            <p:nvSpPr>
              <p:cNvPr id="7" name="Ellipse 7"/>
              <p:cNvSpPr/>
              <p:nvPr/>
            </p:nvSpPr>
            <p:spPr>
              <a:xfrm>
                <a:off x="8953500" y="2305050"/>
                <a:ext cx="152400" cy="152400"/>
              </a:xfrm>
              <a:prstGeom prst="ellipse">
                <a:avLst/>
              </a:prstGeom>
              <a:solidFill>
                <a:srgbClr val="FFFFFF"/>
              </a:solidFill>
              <a:ln>
                <a:noFill/>
              </a:ln>
            </p:spPr>
          </p:sp>
          <p:sp>
            <p:nvSpPr>
              <p:cNvPr id="8" name="Ellipse 8"/>
              <p:cNvSpPr/>
              <p:nvPr/>
            </p:nvSpPr>
            <p:spPr>
              <a:xfrm>
                <a:off x="9467850" y="2305050"/>
                <a:ext cx="152400" cy="152400"/>
              </a:xfrm>
              <a:prstGeom prst="ellipse">
                <a:avLst/>
              </a:prstGeom>
              <a:solidFill>
                <a:srgbClr val="FFFFFF"/>
              </a:solidFill>
              <a:ln>
                <a:noFill/>
              </a:ln>
            </p:spPr>
          </p:sp>
          <p:sp>
            <p:nvSpPr>
              <p:cNvPr id="9" name="Ellipse 9"/>
              <p:cNvSpPr/>
              <p:nvPr/>
            </p:nvSpPr>
            <p:spPr>
              <a:xfrm>
                <a:off x="9734550" y="2305050"/>
                <a:ext cx="152400" cy="152400"/>
              </a:xfrm>
              <a:prstGeom prst="ellipse">
                <a:avLst/>
              </a:prstGeom>
              <a:solidFill>
                <a:srgbClr val="FFFFFF"/>
              </a:solidFill>
              <a:ln>
                <a:noFill/>
              </a:ln>
            </p:spPr>
          </p:sp>
          <p:sp>
            <p:nvSpPr>
              <p:cNvPr id="10" name="Ellipse 10"/>
              <p:cNvSpPr/>
              <p:nvPr/>
            </p:nvSpPr>
            <p:spPr>
              <a:xfrm>
                <a:off x="10439400" y="2305050"/>
                <a:ext cx="152400" cy="152400"/>
              </a:xfrm>
              <a:prstGeom prst="ellipse">
                <a:avLst/>
              </a:prstGeom>
              <a:solidFill>
                <a:srgbClr val="FFFFFF"/>
              </a:solidFill>
              <a:ln>
                <a:noFill/>
              </a:ln>
            </p:spPr>
          </p:sp>
          <p:sp>
            <p:nvSpPr>
              <p:cNvPr id="11" name="Ellipse 11"/>
              <p:cNvSpPr/>
              <p:nvPr/>
            </p:nvSpPr>
            <p:spPr>
              <a:xfrm>
                <a:off x="11068050" y="2305050"/>
                <a:ext cx="152400" cy="152400"/>
              </a:xfrm>
              <a:prstGeom prst="ellipse">
                <a:avLst/>
              </a:prstGeom>
              <a:solidFill>
                <a:srgbClr val="FFFFFF"/>
              </a:solidFill>
              <a:ln>
                <a:noFill/>
              </a:ln>
            </p:spPr>
          </p:sp>
          <p:sp>
            <p:nvSpPr>
              <p:cNvPr id="12" name="Ellipse 12"/>
              <p:cNvSpPr/>
              <p:nvPr/>
            </p:nvSpPr>
            <p:spPr>
              <a:xfrm>
                <a:off x="9105900" y="3352800"/>
                <a:ext cx="152400" cy="152400"/>
              </a:xfrm>
              <a:prstGeom prst="ellipse">
                <a:avLst/>
              </a:prstGeom>
              <a:solidFill>
                <a:srgbClr val="FFFFFF"/>
              </a:solidFill>
              <a:ln>
                <a:noFill/>
              </a:ln>
            </p:spPr>
          </p:sp>
          <p:sp>
            <p:nvSpPr>
              <p:cNvPr id="13" name="Ellipse 13"/>
              <p:cNvSpPr/>
              <p:nvPr/>
            </p:nvSpPr>
            <p:spPr>
              <a:xfrm>
                <a:off x="9620250" y="3352800"/>
                <a:ext cx="152400" cy="152400"/>
              </a:xfrm>
              <a:prstGeom prst="ellipse">
                <a:avLst/>
              </a:prstGeom>
              <a:solidFill>
                <a:srgbClr val="FFFFFF"/>
              </a:solidFill>
              <a:ln>
                <a:noFill/>
              </a:ln>
            </p:spPr>
          </p:sp>
          <p:sp>
            <p:nvSpPr>
              <p:cNvPr id="14" name="Ellipse 14"/>
              <p:cNvSpPr/>
              <p:nvPr/>
            </p:nvSpPr>
            <p:spPr>
              <a:xfrm>
                <a:off x="10877550" y="3352800"/>
                <a:ext cx="152400" cy="152400"/>
              </a:xfrm>
              <a:prstGeom prst="ellipse">
                <a:avLst/>
              </a:prstGeom>
              <a:solidFill>
                <a:srgbClr val="FFFFFF"/>
              </a:solidFill>
              <a:ln>
                <a:noFill/>
              </a:ln>
            </p:spPr>
          </p:sp>
          <p:sp>
            <p:nvSpPr>
              <p:cNvPr id="15" name="Ellipse 15"/>
              <p:cNvSpPr/>
              <p:nvPr/>
            </p:nvSpPr>
            <p:spPr>
              <a:xfrm>
                <a:off x="11125200" y="3352800"/>
                <a:ext cx="152400" cy="152400"/>
              </a:xfrm>
              <a:prstGeom prst="ellipse">
                <a:avLst/>
              </a:prstGeom>
              <a:solidFill>
                <a:srgbClr val="FFFFFF"/>
              </a:solidFill>
              <a:ln>
                <a:noFill/>
              </a:ln>
            </p:spPr>
          </p:sp>
          <p:sp>
            <p:nvSpPr>
              <p:cNvPr id="16" name="Ellipse 16"/>
              <p:cNvSpPr/>
              <p:nvPr/>
            </p:nvSpPr>
            <p:spPr>
              <a:xfrm>
                <a:off x="8877300" y="4400550"/>
                <a:ext cx="152400" cy="152400"/>
              </a:xfrm>
              <a:prstGeom prst="ellipse">
                <a:avLst/>
              </a:prstGeom>
              <a:solidFill>
                <a:srgbClr val="FFFFFF"/>
              </a:solidFill>
              <a:ln>
                <a:noFill/>
              </a:ln>
            </p:spPr>
          </p:sp>
          <p:sp>
            <p:nvSpPr>
              <p:cNvPr id="17" name="Ellipse 17"/>
              <p:cNvSpPr/>
              <p:nvPr/>
            </p:nvSpPr>
            <p:spPr>
              <a:xfrm>
                <a:off x="10020300" y="4400550"/>
                <a:ext cx="152400" cy="152400"/>
              </a:xfrm>
              <a:prstGeom prst="ellipse">
                <a:avLst/>
              </a:prstGeom>
              <a:solidFill>
                <a:srgbClr val="FFFFFF"/>
              </a:solidFill>
              <a:ln>
                <a:noFill/>
              </a:ln>
            </p:spPr>
          </p:sp>
          <p:sp>
            <p:nvSpPr>
              <p:cNvPr id="18" name="Ellipse 18"/>
              <p:cNvSpPr/>
              <p:nvPr/>
            </p:nvSpPr>
            <p:spPr>
              <a:xfrm>
                <a:off x="10287000" y="4400550"/>
                <a:ext cx="152400" cy="152400"/>
              </a:xfrm>
              <a:prstGeom prst="ellipse">
                <a:avLst/>
              </a:prstGeom>
              <a:solidFill>
                <a:srgbClr val="FFFFFF"/>
              </a:solidFill>
              <a:ln>
                <a:noFill/>
              </a:ln>
            </p:spPr>
          </p:sp>
          <p:sp>
            <p:nvSpPr>
              <p:cNvPr id="19" name="Ellipse 19"/>
              <p:cNvSpPr/>
              <p:nvPr/>
            </p:nvSpPr>
            <p:spPr>
              <a:xfrm>
                <a:off x="10782300" y="4400550"/>
                <a:ext cx="152400" cy="152400"/>
              </a:xfrm>
              <a:prstGeom prst="ellipse">
                <a:avLst/>
              </a:prstGeom>
              <a:solidFill>
                <a:srgbClr val="FFFFFF"/>
              </a:solidFill>
              <a:ln>
                <a:noFill/>
              </a:ln>
            </p:spPr>
          </p:sp>
          <p:sp>
            <p:nvSpPr>
              <p:cNvPr id="20" name="Ellipse 20"/>
              <p:cNvSpPr/>
              <p:nvPr/>
            </p:nvSpPr>
            <p:spPr>
              <a:xfrm>
                <a:off x="11315700" y="4400550"/>
                <a:ext cx="152400" cy="152400"/>
              </a:xfrm>
              <a:prstGeom prst="ellipse">
                <a:avLst/>
              </a:prstGeom>
              <a:solidFill>
                <a:srgbClr val="FFFFFF"/>
              </a:solidFill>
              <a:ln>
                <a:noFill/>
              </a:ln>
            </p:spPr>
          </p:sp>
        </p:grpSp>
        <p:sp>
          <p:nvSpPr>
            <p:cNvPr id="22" name="Ellipse 22"/>
            <p:cNvSpPr/>
            <p:nvPr/>
          </p:nvSpPr>
          <p:spPr>
            <a:xfrm>
              <a:off x="10629900" y="3352800"/>
              <a:ext cx="152400" cy="152400"/>
            </a:xfrm>
            <a:prstGeom prst="ellipse">
              <a:avLst/>
            </a:prstGeom>
            <a:solidFill>
              <a:srgbClr val="F2B880"/>
            </a:solidFill>
            <a:ln>
              <a:noFill/>
            </a:ln>
          </p:spPr>
        </p:sp>
      </p:grpSp>
      <p:grpSp>
        <p:nvGrpSpPr>
          <p:cNvPr id="25" name="affiliation"/>
          <p:cNvGrpSpPr/>
          <p:nvPr/>
        </p:nvGrpSpPr>
        <p:grpSpPr>
          <a:xfrm>
            <a:off x="601218" y="863600"/>
            <a:ext cx="4551736" cy="322707"/>
            <a:chOff x="601218" y="863600"/>
            <a:chExt cx="4551736" cy="322707"/>
          </a:xfrm>
        </p:grpSpPr>
        <p:sp>
          <p:nvSpPr>
            <p:cNvPr id="24" name="TextBox 24"/>
            <p:cNvSpPr txBox="1"/>
            <p:nvPr/>
          </p:nvSpPr>
          <p:spPr>
            <a:xfrm>
              <a:off x="601218" y="863600"/>
              <a:ext cx="5553117" cy="322707"/>
            </a:xfrm>
            <a:prstGeom prst="rect">
              <a:avLst/>
            </a:prstGeom>
            <a:noFill/>
            <a:ln>
              <a:noFill/>
            </a:ln>
          </p:spPr>
          <p:txBody>
            <a:bodyPr wrap="square" lIns="0" tIns="0" rIns="0" bIns="0" anchor="t" anchorCtr="0">
              <a:spAutoFit/>
            </a:bodyPr>
            <a:lstStyle/>
            <a:p>
              <a:pPr algn="l"/>
              <a:r>
                <a:rPr lang="ru" sz="1650" b="1" dirty="0">
                  <a:solidFill>
                    <a:srgbClr val="0E6680"/>
                  </a:solidFill>
                  <a:latin typeface="+mn-lt"/>
                  <a:ea typeface="+mn-ea"/>
                  <a:cs typeface="+mn-cs"/>
                </a:rPr>
                <a:t>МГУ · 1 курс магистратуры · группа БИ-02</a:t>
              </a:r>
            </a:p>
          </p:txBody>
        </p:sp>
      </p:grpSp>
      <p:grpSp>
        <p:nvGrpSpPr>
          <p:cNvPr id="27" name="title"/>
          <p:cNvGrpSpPr/>
          <p:nvPr/>
        </p:nvGrpSpPr>
        <p:grpSpPr>
          <a:xfrm>
            <a:off x="590550" y="1752600"/>
            <a:ext cx="6171598" cy="1371600"/>
            <a:chOff x="590550" y="1752600"/>
            <a:chExt cx="6171598" cy="1371600"/>
          </a:xfrm>
        </p:grpSpPr>
        <p:sp>
          <p:nvSpPr>
            <p:cNvPr id="26" name="TextBox 26"/>
            <p:cNvSpPr txBox="1"/>
            <p:nvPr/>
          </p:nvSpPr>
          <p:spPr>
            <a:xfrm>
              <a:off x="590550" y="1752600"/>
              <a:ext cx="7529349" cy="1371600"/>
            </a:xfrm>
            <a:prstGeom prst="rect">
              <a:avLst/>
            </a:prstGeom>
            <a:noFill/>
            <a:ln>
              <a:noFill/>
            </a:ln>
          </p:spPr>
          <p:txBody>
            <a:bodyPr wrap="square" lIns="0" tIns="0" rIns="0" bIns="0" anchor="t" anchorCtr="0">
              <a:spAutoFit/>
            </a:bodyPr>
            <a:lstStyle/>
            <a:p>
              <a:pPr algn="l">
                <a:lnSpc>
                  <a:spcPts val="4800"/>
                </a:lnSpc>
              </a:pPr>
              <a:r>
                <a:rPr lang="ru" sz="3900" b="1" dirty="0">
                  <a:solidFill>
                    <a:srgbClr val="17212B"/>
                  </a:solidFill>
                  <a:latin typeface="+mn-lt"/>
                  <a:ea typeface="+mn-ea"/>
                  <a:cs typeface="+mn-cs"/>
                </a:rPr>
                <a:t>Интернет вещей и анализ</a:t>
              </a:r>
              <a:br>
                <a:rPr lang="ru" sz="3900" b="1" dirty="0">
                  <a:solidFill>
                    <a:srgbClr val="17212B"/>
                  </a:solidFill>
                  <a:latin typeface="+mn-lt"/>
                  <a:ea typeface="+mn-ea"/>
                  <a:cs typeface="+mn-cs"/>
                </a:rPr>
              </a:br>
              <a:r>
                <a:rPr lang="ru" sz="3900" b="1" dirty="0">
                  <a:solidFill>
                    <a:srgbClr val="17212B"/>
                  </a:solidFill>
                  <a:latin typeface="+mn-lt"/>
                  <a:ea typeface="+mn-ea"/>
                  <a:cs typeface="+mn-cs"/>
                </a:rPr>
                <a:t>потоковых данных</a:t>
              </a:r>
            </a:p>
          </p:txBody>
        </p:sp>
      </p:grpSp>
      <p:grpSp>
        <p:nvGrpSpPr>
          <p:cNvPr id="30" name="core-message"/>
          <p:cNvGrpSpPr/>
          <p:nvPr/>
        </p:nvGrpSpPr>
        <p:grpSpPr>
          <a:xfrm>
            <a:off x="600456" y="3143250"/>
            <a:ext cx="6561369" cy="1336294"/>
            <a:chOff x="600456" y="3143250"/>
            <a:chExt cx="6561369" cy="1336294"/>
          </a:xfrm>
        </p:grpSpPr>
        <p:sp>
          <p:nvSpPr>
            <p:cNvPr id="28" name="Rectangle 28"/>
            <p:cNvSpPr/>
            <p:nvPr/>
          </p:nvSpPr>
          <p:spPr>
            <a:xfrm>
              <a:off x="609600" y="3143250"/>
              <a:ext cx="762000" cy="57150"/>
            </a:xfrm>
            <a:prstGeom prst="rect">
              <a:avLst/>
            </a:prstGeom>
            <a:solidFill>
              <a:srgbClr val="0E6680"/>
            </a:solidFill>
            <a:ln>
              <a:noFill/>
            </a:ln>
          </p:spPr>
        </p:sp>
        <p:sp>
          <p:nvSpPr>
            <p:cNvPr id="29" name="TextBox 29"/>
            <p:cNvSpPr txBox="1"/>
            <p:nvPr/>
          </p:nvSpPr>
          <p:spPr>
            <a:xfrm>
              <a:off x="600456" y="3479800"/>
              <a:ext cx="8004870" cy="999744"/>
            </a:xfrm>
            <a:prstGeom prst="rect">
              <a:avLst/>
            </a:prstGeom>
            <a:noFill/>
            <a:ln>
              <a:noFill/>
            </a:ln>
          </p:spPr>
          <p:txBody>
            <a:bodyPr wrap="square" lIns="0" tIns="0" rIns="0" bIns="0" anchor="t" anchorCtr="0">
              <a:spAutoFit/>
            </a:bodyPr>
            <a:lstStyle/>
            <a:p>
              <a:pPr algn="l">
                <a:lnSpc>
                  <a:spcPts val="2550"/>
                </a:lnSpc>
              </a:pPr>
              <a:r>
                <a:rPr lang="ru" sz="1800" dirty="0">
                  <a:solidFill>
                    <a:srgbClr val="4A5663"/>
                  </a:solidFill>
                  <a:latin typeface="+mn-lt"/>
                  <a:ea typeface="+mn-ea"/>
                  <a:cs typeface="+mn-cs"/>
                </a:rPr>
                <a:t>Данные интернета вещей поступают непрерывно, поэтому их</a:t>
              </a:r>
              <a:br>
                <a:rPr lang="ru" sz="1800" dirty="0">
                  <a:solidFill>
                    <a:srgbClr val="4A5663"/>
                  </a:solidFill>
                  <a:latin typeface="+mn-lt"/>
                  <a:ea typeface="+mn-ea"/>
                  <a:cs typeface="+mn-cs"/>
                </a:rPr>
              </a:br>
              <a:r>
                <a:rPr lang="ru" sz="1800" dirty="0">
                  <a:solidFill>
                    <a:srgbClr val="4A5663"/>
                  </a:solidFill>
                  <a:latin typeface="+mn-lt"/>
                  <a:ea typeface="+mn-ea"/>
                  <a:cs typeface="+mn-cs"/>
                </a:rPr>
                <a:t>анализируют прежде всего как поток, а пакетная обработка</a:t>
              </a:r>
              <a:br>
                <a:rPr lang="ru" sz="1800" dirty="0">
                  <a:solidFill>
                    <a:srgbClr val="4A5663"/>
                  </a:solidFill>
                  <a:latin typeface="+mn-lt"/>
                  <a:ea typeface="+mn-ea"/>
                  <a:cs typeface="+mn-cs"/>
                </a:rPr>
              </a:br>
              <a:r>
                <a:rPr lang="ru" sz="1800" dirty="0">
                  <a:solidFill>
                    <a:srgbClr val="4A5663"/>
                  </a:solidFill>
                  <a:latin typeface="+mn-lt"/>
                  <a:ea typeface="+mn-ea"/>
                  <a:cs typeface="+mn-cs"/>
                </a:rPr>
                <a:t>дополняет потоковую</a:t>
              </a:r>
            </a:p>
          </p:txBody>
        </p:sp>
      </p:grpSp>
      <p:grpSp>
        <p:nvGrpSpPr>
          <p:cNvPr id="34" name="authors"/>
          <p:cNvGrpSpPr/>
          <p:nvPr/>
        </p:nvGrpSpPr>
        <p:grpSpPr>
          <a:xfrm>
            <a:off x="600456" y="4978400"/>
            <a:ext cx="3181678" cy="1292733"/>
            <a:chOff x="600456" y="4978400"/>
            <a:chExt cx="3181678" cy="1292733"/>
          </a:xfrm>
        </p:grpSpPr>
        <p:sp>
          <p:nvSpPr>
            <p:cNvPr id="31" name="TextBox 31"/>
            <p:cNvSpPr txBox="1"/>
            <p:nvPr/>
          </p:nvSpPr>
          <p:spPr>
            <a:xfrm>
              <a:off x="602742" y="4978400"/>
              <a:ext cx="847706"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Авторы</a:t>
              </a:r>
            </a:p>
          </p:txBody>
        </p:sp>
        <p:sp>
          <p:nvSpPr>
            <p:cNvPr id="32" name="TextBox 32"/>
            <p:cNvSpPr txBox="1"/>
            <p:nvPr/>
          </p:nvSpPr>
          <p:spPr>
            <a:xfrm>
              <a:off x="600456" y="5251450"/>
              <a:ext cx="3881647" cy="675894"/>
            </a:xfrm>
            <a:prstGeom prst="rect">
              <a:avLst/>
            </a:prstGeom>
            <a:noFill/>
            <a:ln>
              <a:noFill/>
            </a:ln>
          </p:spPr>
          <p:txBody>
            <a:bodyPr wrap="square" lIns="0" tIns="0" rIns="0" bIns="0" anchor="t" anchorCtr="0">
              <a:spAutoFit/>
            </a:bodyPr>
            <a:lstStyle/>
            <a:p>
              <a:pPr algn="l">
                <a:lnSpc>
                  <a:spcPts val="2550"/>
                </a:lnSpc>
              </a:pPr>
              <a:r>
                <a:rPr lang="ru" sz="1800" b="1" dirty="0">
                  <a:solidFill>
                    <a:srgbClr val="17212B"/>
                  </a:solidFill>
                  <a:latin typeface="+mn-lt"/>
                  <a:ea typeface="+mn-ea"/>
                  <a:cs typeface="+mn-cs"/>
                </a:rPr>
                <a:t>Давиденко Илья Николаевич</a:t>
              </a:r>
              <a:br>
                <a:rPr lang="ru" sz="1800" b="1" dirty="0">
                  <a:solidFill>
                    <a:srgbClr val="17212B"/>
                  </a:solidFill>
                  <a:latin typeface="+mn-lt"/>
                  <a:ea typeface="+mn-ea"/>
                  <a:cs typeface="+mn-cs"/>
                </a:rPr>
              </a:br>
              <a:r>
                <a:rPr lang="ru" sz="1800" b="1" dirty="0">
                  <a:solidFill>
                    <a:srgbClr val="17212B"/>
                  </a:solidFill>
                  <a:latin typeface="+mn-lt"/>
                  <a:ea typeface="+mn-ea"/>
                  <a:cs typeface="+mn-cs"/>
                </a:rPr>
                <a:t>Данилова Дарья Олеговна</a:t>
              </a:r>
            </a:p>
          </p:txBody>
        </p:sp>
        <p:sp>
          <p:nvSpPr>
            <p:cNvPr id="33" name="TextBox 33"/>
            <p:cNvSpPr txBox="1"/>
            <p:nvPr/>
          </p:nvSpPr>
          <p:spPr>
            <a:xfrm>
              <a:off x="602742" y="6007100"/>
              <a:ext cx="137759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Москва, 2026</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830109" cy="714629"/>
            <a:chOff x="596646" y="381000"/>
            <a:chExt cx="830109" cy="71462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596900"/>
              <a:ext cx="1058709"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План</a:t>
              </a:r>
            </a:p>
          </p:txBody>
        </p:sp>
      </p:grpSp>
      <p:grpSp>
        <p:nvGrpSpPr>
          <p:cNvPr id="30" name="plan-list"/>
          <p:cNvGrpSpPr/>
          <p:nvPr/>
        </p:nvGrpSpPr>
        <p:grpSpPr>
          <a:xfrm>
            <a:off x="594360" y="1733550"/>
            <a:ext cx="10994898" cy="4295775"/>
            <a:chOff x="594360" y="1733550"/>
            <a:chExt cx="10994898" cy="4295775"/>
          </a:xfrm>
        </p:grpSpPr>
        <p:grpSp>
          <p:nvGrpSpPr>
            <p:cNvPr id="11" name="plan-rules"/>
            <p:cNvGrpSpPr/>
            <p:nvPr/>
          </p:nvGrpSpPr>
          <p:grpSpPr>
            <a:xfrm>
              <a:off x="609600" y="1733550"/>
              <a:ext cx="10972800" cy="4295775"/>
              <a:chOff x="609600" y="1733550"/>
              <a:chExt cx="10972800" cy="4295775"/>
            </a:xfrm>
          </p:grpSpPr>
          <p:sp>
            <p:nvSpPr>
              <p:cNvPr id="5" name="Line 5"/>
              <p:cNvSpPr/>
              <p:nvPr/>
            </p:nvSpPr>
            <p:spPr>
              <a:xfrm>
                <a:off x="609600" y="173355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6" name="Line 6"/>
              <p:cNvSpPr/>
              <p:nvPr/>
            </p:nvSpPr>
            <p:spPr>
              <a:xfrm>
                <a:off x="609600" y="259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7" name="Line 7"/>
              <p:cNvSpPr/>
              <p:nvPr/>
            </p:nvSpPr>
            <p:spPr>
              <a:xfrm>
                <a:off x="609600" y="344805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8" name="Line 8"/>
              <p:cNvSpPr/>
              <p:nvPr/>
            </p:nvSpPr>
            <p:spPr>
              <a:xfrm>
                <a:off x="609600" y="43053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9" name="Line 9"/>
              <p:cNvSpPr/>
              <p:nvPr/>
            </p:nvSpPr>
            <p:spPr>
              <a:xfrm>
                <a:off x="609600" y="516255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0" name="Line 10"/>
              <p:cNvSpPr/>
              <p:nvPr/>
            </p:nvSpPr>
            <p:spPr>
              <a:xfrm>
                <a:off x="609600" y="6019800"/>
                <a:ext cx="10972800" cy="9525"/>
              </a:xfrm>
              <a:custGeom>
                <a:avLst/>
                <a:gdLst/>
                <a:ahLst/>
                <a:cxnLst/>
                <a:rect l="l" t="t" r="r" b="b"/>
                <a:pathLst>
                  <a:path w="10972800" h="9525">
                    <a:moveTo>
                      <a:pt x="0" y="0"/>
                    </a:moveTo>
                    <a:lnTo>
                      <a:pt x="10972800" y="0"/>
                    </a:lnTo>
                  </a:path>
                </a:pathLst>
              </a:custGeom>
              <a:noFill/>
              <a:ln w="9525">
                <a:solidFill>
                  <a:srgbClr val="D3DBE1"/>
                </a:solidFill>
              </a:ln>
            </p:spPr>
          </p:sp>
        </p:grpSp>
        <p:grpSp>
          <p:nvGrpSpPr>
            <p:cNvPr id="17" name="plan-numbers"/>
            <p:cNvGrpSpPr/>
            <p:nvPr/>
          </p:nvGrpSpPr>
          <p:grpSpPr>
            <a:xfrm>
              <a:off x="594360" y="1927225"/>
              <a:ext cx="479734" cy="4015740"/>
              <a:chOff x="594360" y="1927225"/>
              <a:chExt cx="479734" cy="4015740"/>
            </a:xfrm>
          </p:grpSpPr>
          <p:sp>
            <p:nvSpPr>
              <p:cNvPr id="12" name="TextBox 12"/>
              <p:cNvSpPr txBox="1"/>
              <p:nvPr/>
            </p:nvSpPr>
            <p:spPr>
              <a:xfrm>
                <a:off x="594360" y="192722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01</a:t>
                </a:r>
              </a:p>
            </p:txBody>
          </p:sp>
          <p:sp>
            <p:nvSpPr>
              <p:cNvPr id="13" name="TextBox 13"/>
              <p:cNvSpPr txBox="1"/>
              <p:nvPr/>
            </p:nvSpPr>
            <p:spPr>
              <a:xfrm>
                <a:off x="594360" y="278447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02</a:t>
                </a:r>
              </a:p>
            </p:txBody>
          </p:sp>
          <p:sp>
            <p:nvSpPr>
              <p:cNvPr id="14" name="TextBox 14"/>
              <p:cNvSpPr txBox="1"/>
              <p:nvPr/>
            </p:nvSpPr>
            <p:spPr>
              <a:xfrm>
                <a:off x="594360" y="364172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03</a:t>
                </a:r>
              </a:p>
            </p:txBody>
          </p:sp>
          <p:sp>
            <p:nvSpPr>
              <p:cNvPr id="15" name="TextBox 15"/>
              <p:cNvSpPr txBox="1"/>
              <p:nvPr/>
            </p:nvSpPr>
            <p:spPr>
              <a:xfrm>
                <a:off x="594360" y="449897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04</a:t>
                </a:r>
              </a:p>
            </p:txBody>
          </p:sp>
          <p:sp>
            <p:nvSpPr>
              <p:cNvPr id="16" name="TextBox 16"/>
              <p:cNvSpPr txBox="1"/>
              <p:nvPr/>
            </p:nvSpPr>
            <p:spPr>
              <a:xfrm>
                <a:off x="594360" y="535622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05</a:t>
                </a:r>
              </a:p>
            </p:txBody>
          </p:sp>
        </p:grpSp>
        <p:grpSp>
          <p:nvGrpSpPr>
            <p:cNvPr id="23" name="plan-items"/>
            <p:cNvGrpSpPr/>
            <p:nvPr/>
          </p:nvGrpSpPr>
          <p:grpSpPr>
            <a:xfrm>
              <a:off x="1591056" y="2019300"/>
              <a:ext cx="5093374" cy="3781044"/>
              <a:chOff x="1591056" y="2019300"/>
              <a:chExt cx="5093374" cy="3781044"/>
            </a:xfrm>
          </p:grpSpPr>
          <p:sp>
            <p:nvSpPr>
              <p:cNvPr id="18" name="TextBox 18"/>
              <p:cNvSpPr txBox="1"/>
              <p:nvPr/>
            </p:nvSpPr>
            <p:spPr>
              <a:xfrm>
                <a:off x="1591056" y="2019300"/>
                <a:ext cx="4263046"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Интернет вещей и его масштаб</a:t>
                </a:r>
              </a:p>
            </p:txBody>
          </p:sp>
          <p:sp>
            <p:nvSpPr>
              <p:cNvPr id="19" name="TextBox 19"/>
              <p:cNvSpPr txBox="1"/>
              <p:nvPr/>
            </p:nvSpPr>
            <p:spPr>
              <a:xfrm>
                <a:off x="1591056" y="2876550"/>
                <a:ext cx="5971019"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Устройство системы и свойства её данных</a:t>
                </a:r>
              </a:p>
            </p:txBody>
          </p:sp>
          <p:sp>
            <p:nvSpPr>
              <p:cNvPr id="20" name="TextBox 20"/>
              <p:cNvSpPr txBox="1"/>
              <p:nvPr/>
            </p:nvSpPr>
            <p:spPr>
              <a:xfrm>
                <a:off x="1591056" y="3733800"/>
                <a:ext cx="4668444"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Пакетная и потоковая обработка</a:t>
                </a:r>
              </a:p>
            </p:txBody>
          </p:sp>
          <p:sp>
            <p:nvSpPr>
              <p:cNvPr id="21" name="TextBox 21"/>
              <p:cNvSpPr txBox="1"/>
              <p:nvPr/>
            </p:nvSpPr>
            <p:spPr>
              <a:xfrm>
                <a:off x="1591056" y="4591050"/>
                <a:ext cx="6213916"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Понятия и инструменты потокового анализа</a:t>
                </a:r>
              </a:p>
            </p:txBody>
          </p:sp>
          <p:sp>
            <p:nvSpPr>
              <p:cNvPr id="22" name="TextBox 22"/>
              <p:cNvSpPr txBox="1"/>
              <p:nvPr/>
            </p:nvSpPr>
            <p:spPr>
              <a:xfrm>
                <a:off x="1591056" y="5448300"/>
                <a:ext cx="2310201"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Пример и выводы</a:t>
                </a:r>
              </a:p>
            </p:txBody>
          </p:sp>
        </p:grpSp>
        <p:grpSp>
          <p:nvGrpSpPr>
            <p:cNvPr id="29" name="plan-slides"/>
            <p:cNvGrpSpPr/>
            <p:nvPr/>
          </p:nvGrpSpPr>
          <p:grpSpPr>
            <a:xfrm>
              <a:off x="10419913" y="2063750"/>
              <a:ext cx="1169345" cy="3693033"/>
              <a:chOff x="10419913" y="2063750"/>
              <a:chExt cx="1169345" cy="3693033"/>
            </a:xfrm>
          </p:grpSpPr>
          <p:sp>
            <p:nvSpPr>
              <p:cNvPr id="24" name="TextBox 24"/>
              <p:cNvSpPr txBox="1"/>
              <p:nvPr/>
            </p:nvSpPr>
            <p:spPr>
              <a:xfrm>
                <a:off x="10695597" y="2063750"/>
                <a:ext cx="89366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 3</a:t>
                </a:r>
              </a:p>
            </p:txBody>
          </p:sp>
          <p:sp>
            <p:nvSpPr>
              <p:cNvPr id="25" name="TextBox 25"/>
              <p:cNvSpPr txBox="1"/>
              <p:nvPr/>
            </p:nvSpPr>
            <p:spPr>
              <a:xfrm>
                <a:off x="10393477" y="2921000"/>
                <a:ext cx="119578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слайды 4–5</a:t>
                </a:r>
              </a:p>
            </p:txBody>
          </p:sp>
          <p:sp>
            <p:nvSpPr>
              <p:cNvPr id="26" name="TextBox 26"/>
              <p:cNvSpPr txBox="1"/>
              <p:nvPr/>
            </p:nvSpPr>
            <p:spPr>
              <a:xfrm>
                <a:off x="10695597" y="3778250"/>
                <a:ext cx="89366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 6</a:t>
                </a:r>
              </a:p>
            </p:txBody>
          </p:sp>
          <p:sp>
            <p:nvSpPr>
              <p:cNvPr id="27" name="TextBox 27"/>
              <p:cNvSpPr txBox="1"/>
              <p:nvPr/>
            </p:nvSpPr>
            <p:spPr>
              <a:xfrm>
                <a:off x="10393477" y="4635500"/>
                <a:ext cx="119578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слайды 7–9</a:t>
                </a:r>
              </a:p>
            </p:txBody>
          </p:sp>
          <p:sp>
            <p:nvSpPr>
              <p:cNvPr id="28" name="TextBox 28"/>
              <p:cNvSpPr txBox="1"/>
              <p:nvPr/>
            </p:nvSpPr>
            <p:spPr>
              <a:xfrm>
                <a:off x="10162658" y="5492750"/>
                <a:ext cx="1426600"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слайды 10–11</a:t>
                </a:r>
              </a:p>
            </p:txBody>
          </p:sp>
        </p:grpSp>
      </p:grpSp>
      <p:grpSp>
        <p:nvGrpSpPr>
          <p:cNvPr id="34" name="footer"/>
          <p:cNvGrpSpPr/>
          <p:nvPr/>
        </p:nvGrpSpPr>
        <p:grpSpPr>
          <a:xfrm>
            <a:off x="603504" y="6400800"/>
            <a:ext cx="10984992" cy="348996"/>
            <a:chOff x="603504" y="6400800"/>
            <a:chExt cx="10984992" cy="348996"/>
          </a:xfrm>
        </p:grpSpPr>
        <p:sp>
          <p:nvSpPr>
            <p:cNvPr id="31" name="Line 31"/>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32" name="TextBox 32"/>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33" name="TextBox 33"/>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2 / 12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873150" cy="1127379"/>
            <a:chOff x="596646" y="381000"/>
            <a:chExt cx="7873150"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605243"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По оценке IoT Analytics, к концу 2025 года в мире</a:t>
              </a:r>
              <a:br>
                <a:rPr lang="ru" sz="2550" b="1" dirty="0">
                  <a:solidFill>
                    <a:srgbClr val="17212B"/>
                  </a:solidFill>
                  <a:latin typeface="+mn-lt"/>
                  <a:ea typeface="+mn-ea"/>
                  <a:cs typeface="+mn-cs"/>
                </a:rPr>
              </a:br>
              <a:r>
                <a:rPr lang="ru" sz="2550" b="1" dirty="0">
                  <a:solidFill>
                    <a:srgbClr val="17212B"/>
                  </a:solidFill>
                  <a:latin typeface="+mn-lt"/>
                  <a:ea typeface="+mn-ea"/>
                  <a:cs typeface="+mn-cs"/>
                </a:rPr>
                <a:t>около 21 млрд устройств интернета вещей</a:t>
              </a:r>
            </a:p>
          </p:txBody>
        </p:sp>
      </p:grpSp>
      <p:grpSp>
        <p:nvGrpSpPr>
          <p:cNvPr id="34" name="device-count"/>
          <p:cNvGrpSpPr/>
          <p:nvPr/>
        </p:nvGrpSpPr>
        <p:grpSpPr>
          <a:xfrm>
            <a:off x="603504" y="1809750"/>
            <a:ext cx="6349746" cy="4423283"/>
            <a:chOff x="603504" y="1809750"/>
            <a:chExt cx="6349746" cy="4423283"/>
          </a:xfrm>
        </p:grpSpPr>
        <p:sp>
          <p:nvSpPr>
            <p:cNvPr id="5" name="TextBox 5"/>
            <p:cNvSpPr txBox="1"/>
            <p:nvPr/>
          </p:nvSpPr>
          <p:spPr>
            <a:xfrm>
              <a:off x="603504" y="1809750"/>
              <a:ext cx="3105816"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млрд устройств интернета вещей</a:t>
              </a:r>
            </a:p>
          </p:txBody>
        </p:sp>
        <p:grpSp>
          <p:nvGrpSpPr>
            <p:cNvPr id="33" name="device-count-chartArea"/>
            <p:cNvGrpSpPr/>
            <p:nvPr/>
          </p:nvGrpSpPr>
          <p:grpSpPr>
            <a:xfrm>
              <a:off x="823852" y="1933575"/>
              <a:ext cx="6129398" cy="4299458"/>
              <a:chOff x="823852" y="1933575"/>
              <a:chExt cx="6129398" cy="4299458"/>
            </a:xfrm>
          </p:grpSpPr>
          <p:grpSp>
            <p:nvGrpSpPr>
              <p:cNvPr id="12" name="device-count-axis"/>
              <p:cNvGrpSpPr/>
              <p:nvPr/>
            </p:nvGrpSpPr>
            <p:grpSpPr>
              <a:xfrm>
                <a:off x="1085850" y="2190750"/>
                <a:ext cx="5867400" cy="3438525"/>
                <a:chOff x="1085850" y="2190750"/>
                <a:chExt cx="5867400" cy="3438525"/>
              </a:xfrm>
            </p:grpSpPr>
            <p:sp>
              <p:nvSpPr>
                <p:cNvPr id="6" name="Line 6"/>
                <p:cNvSpPr/>
                <p:nvPr/>
              </p:nvSpPr>
              <p:spPr>
                <a:xfrm>
                  <a:off x="1143000" y="2190750"/>
                  <a:ext cx="9525" cy="3429000"/>
                </a:xfrm>
                <a:custGeom>
                  <a:avLst/>
                  <a:gdLst/>
                  <a:ahLst/>
                  <a:cxnLst/>
                  <a:rect l="l" t="t" r="r" b="b"/>
                  <a:pathLst>
                    <a:path w="9525" h="3429000">
                      <a:moveTo>
                        <a:pt x="0" y="0"/>
                      </a:moveTo>
                      <a:lnTo>
                        <a:pt x="0" y="3429000"/>
                      </a:lnTo>
                    </a:path>
                  </a:pathLst>
                </a:custGeom>
                <a:noFill/>
                <a:ln w="9525">
                  <a:solidFill>
                    <a:srgbClr val="4A5663"/>
                  </a:solidFill>
                </a:ln>
              </p:spPr>
            </p:sp>
            <p:sp>
              <p:nvSpPr>
                <p:cNvPr id="7" name="Line 7"/>
                <p:cNvSpPr/>
                <p:nvPr/>
              </p:nvSpPr>
              <p:spPr>
                <a:xfrm>
                  <a:off x="1143000" y="5619750"/>
                  <a:ext cx="5810250" cy="9525"/>
                </a:xfrm>
                <a:custGeom>
                  <a:avLst/>
                  <a:gdLst/>
                  <a:ahLst/>
                  <a:cxnLst/>
                  <a:rect l="l" t="t" r="r" b="b"/>
                  <a:pathLst>
                    <a:path w="5810250" h="9525">
                      <a:moveTo>
                        <a:pt x="0" y="0"/>
                      </a:moveTo>
                      <a:lnTo>
                        <a:pt x="5810250" y="0"/>
                      </a:lnTo>
                    </a:path>
                  </a:pathLst>
                </a:custGeom>
                <a:noFill/>
                <a:ln w="9525">
                  <a:solidFill>
                    <a:srgbClr val="4A5663"/>
                  </a:solidFill>
                </a:ln>
              </p:spPr>
            </p:sp>
            <p:sp>
              <p:nvSpPr>
                <p:cNvPr id="8" name="Line 8"/>
                <p:cNvSpPr/>
                <p:nvPr/>
              </p:nvSpPr>
              <p:spPr>
                <a:xfrm>
                  <a:off x="1085850" y="2190750"/>
                  <a:ext cx="57150" cy="9525"/>
                </a:xfrm>
                <a:custGeom>
                  <a:avLst/>
                  <a:gdLst/>
                  <a:ahLst/>
                  <a:cxnLst/>
                  <a:rect l="l" t="t" r="r" b="b"/>
                  <a:pathLst>
                    <a:path w="57150" h="9525">
                      <a:moveTo>
                        <a:pt x="0" y="0"/>
                      </a:moveTo>
                      <a:lnTo>
                        <a:pt x="57150" y="0"/>
                      </a:lnTo>
                    </a:path>
                  </a:pathLst>
                </a:custGeom>
                <a:noFill/>
                <a:ln w="9525">
                  <a:solidFill>
                    <a:srgbClr val="4A5663"/>
                  </a:solidFill>
                </a:ln>
              </p:spPr>
            </p:sp>
            <p:sp>
              <p:nvSpPr>
                <p:cNvPr id="9" name="Line 9"/>
                <p:cNvSpPr/>
                <p:nvPr/>
              </p:nvSpPr>
              <p:spPr>
                <a:xfrm>
                  <a:off x="1085850" y="3048000"/>
                  <a:ext cx="57150" cy="9525"/>
                </a:xfrm>
                <a:custGeom>
                  <a:avLst/>
                  <a:gdLst/>
                  <a:ahLst/>
                  <a:cxnLst/>
                  <a:rect l="l" t="t" r="r" b="b"/>
                  <a:pathLst>
                    <a:path w="57150" h="9525">
                      <a:moveTo>
                        <a:pt x="0" y="0"/>
                      </a:moveTo>
                      <a:lnTo>
                        <a:pt x="57150" y="0"/>
                      </a:lnTo>
                    </a:path>
                  </a:pathLst>
                </a:custGeom>
                <a:noFill/>
                <a:ln w="9525">
                  <a:solidFill>
                    <a:srgbClr val="4A5663"/>
                  </a:solidFill>
                </a:ln>
              </p:spPr>
            </p:sp>
            <p:sp>
              <p:nvSpPr>
                <p:cNvPr id="10" name="Line 10"/>
                <p:cNvSpPr/>
                <p:nvPr/>
              </p:nvSpPr>
              <p:spPr>
                <a:xfrm>
                  <a:off x="1085850" y="3905250"/>
                  <a:ext cx="57150" cy="9525"/>
                </a:xfrm>
                <a:custGeom>
                  <a:avLst/>
                  <a:gdLst/>
                  <a:ahLst/>
                  <a:cxnLst/>
                  <a:rect l="l" t="t" r="r" b="b"/>
                  <a:pathLst>
                    <a:path w="57150" h="9525">
                      <a:moveTo>
                        <a:pt x="0" y="0"/>
                      </a:moveTo>
                      <a:lnTo>
                        <a:pt x="57150" y="0"/>
                      </a:lnTo>
                    </a:path>
                  </a:pathLst>
                </a:custGeom>
                <a:noFill/>
                <a:ln w="9525">
                  <a:solidFill>
                    <a:srgbClr val="4A5663"/>
                  </a:solidFill>
                </a:ln>
              </p:spPr>
            </p:sp>
            <p:sp>
              <p:nvSpPr>
                <p:cNvPr id="11" name="Line 11"/>
                <p:cNvSpPr/>
                <p:nvPr/>
              </p:nvSpPr>
              <p:spPr>
                <a:xfrm>
                  <a:off x="1085850" y="4762500"/>
                  <a:ext cx="57150" cy="9525"/>
                </a:xfrm>
                <a:custGeom>
                  <a:avLst/>
                  <a:gdLst/>
                  <a:ahLst/>
                  <a:cxnLst/>
                  <a:rect l="l" t="t" r="r" b="b"/>
                  <a:pathLst>
                    <a:path w="57150" h="9525">
                      <a:moveTo>
                        <a:pt x="0" y="0"/>
                      </a:moveTo>
                      <a:lnTo>
                        <a:pt x="57150" y="0"/>
                      </a:lnTo>
                    </a:path>
                  </a:pathLst>
                </a:custGeom>
                <a:noFill/>
                <a:ln w="9525">
                  <a:solidFill>
                    <a:srgbClr val="4A5663"/>
                  </a:solidFill>
                </a:ln>
              </p:spPr>
            </p:sp>
          </p:grpSp>
          <p:grpSp>
            <p:nvGrpSpPr>
              <p:cNvPr id="18" name="device-count-ticks"/>
              <p:cNvGrpSpPr/>
              <p:nvPr/>
            </p:nvGrpSpPr>
            <p:grpSpPr>
              <a:xfrm>
                <a:off x="823852" y="2095500"/>
                <a:ext cx="191894" cy="3663696"/>
                <a:chOff x="823852" y="2095500"/>
                <a:chExt cx="191894" cy="3663696"/>
              </a:xfrm>
            </p:grpSpPr>
            <p:sp>
              <p:nvSpPr>
                <p:cNvPr id="13" name="TextBox 13"/>
                <p:cNvSpPr txBox="1"/>
                <p:nvPr/>
              </p:nvSpPr>
              <p:spPr>
                <a:xfrm>
                  <a:off x="685103" y="5524500"/>
                  <a:ext cx="330643"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0</a:t>
                  </a:r>
                </a:p>
              </p:txBody>
            </p:sp>
            <p:sp>
              <p:nvSpPr>
                <p:cNvPr id="14" name="TextBox 14"/>
                <p:cNvSpPr txBox="1"/>
                <p:nvPr/>
              </p:nvSpPr>
              <p:spPr>
                <a:xfrm>
                  <a:off x="595252" y="4667250"/>
                  <a:ext cx="420494"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10</a:t>
                  </a:r>
                </a:p>
              </p:txBody>
            </p:sp>
            <p:sp>
              <p:nvSpPr>
                <p:cNvPr id="15" name="TextBox 15"/>
                <p:cNvSpPr txBox="1"/>
                <p:nvPr/>
              </p:nvSpPr>
              <p:spPr>
                <a:xfrm>
                  <a:off x="595252" y="3810000"/>
                  <a:ext cx="420494"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20</a:t>
                  </a:r>
                </a:p>
              </p:txBody>
            </p:sp>
            <p:sp>
              <p:nvSpPr>
                <p:cNvPr id="16" name="TextBox 16"/>
                <p:cNvSpPr txBox="1"/>
                <p:nvPr/>
              </p:nvSpPr>
              <p:spPr>
                <a:xfrm>
                  <a:off x="595252" y="2952750"/>
                  <a:ext cx="420494"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30</a:t>
                  </a:r>
                </a:p>
              </p:txBody>
            </p:sp>
            <p:sp>
              <p:nvSpPr>
                <p:cNvPr id="17" name="TextBox 17"/>
                <p:cNvSpPr txBox="1"/>
                <p:nvPr/>
              </p:nvSpPr>
              <p:spPr>
                <a:xfrm>
                  <a:off x="595252" y="2095500"/>
                  <a:ext cx="420494"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40</a:t>
                  </a:r>
                </a:p>
              </p:txBody>
            </p:sp>
          </p:grpSp>
          <p:sp>
            <p:nvSpPr>
              <p:cNvPr id="19" name="bar-2024"/>
              <p:cNvSpPr/>
              <p:nvPr/>
            </p:nvSpPr>
            <p:spPr>
              <a:xfrm>
                <a:off x="1543050" y="4033838"/>
                <a:ext cx="1143000" cy="1585912"/>
              </a:xfrm>
              <a:prstGeom prst="rect">
                <a:avLst/>
              </a:prstGeom>
              <a:solidFill>
                <a:srgbClr val="2A8BA6"/>
              </a:solidFill>
              <a:ln>
                <a:noFill/>
              </a:ln>
            </p:spPr>
          </p:sp>
          <p:sp>
            <p:nvSpPr>
              <p:cNvPr id="20" name="bar-2025"/>
              <p:cNvSpPr/>
              <p:nvPr/>
            </p:nvSpPr>
            <p:spPr>
              <a:xfrm>
                <a:off x="3476625" y="3810952"/>
                <a:ext cx="1143000" cy="1808798"/>
              </a:xfrm>
              <a:prstGeom prst="rect">
                <a:avLst/>
              </a:prstGeom>
              <a:solidFill>
                <a:srgbClr val="0E6680"/>
              </a:solidFill>
              <a:ln>
                <a:noFill/>
              </a:ln>
            </p:spPr>
          </p:sp>
          <p:sp>
            <p:nvSpPr>
              <p:cNvPr id="21" name="bar-2030"/>
              <p:cNvSpPr/>
              <p:nvPr/>
            </p:nvSpPr>
            <p:spPr>
              <a:xfrm>
                <a:off x="5410200" y="2276475"/>
                <a:ext cx="1143000" cy="3343275"/>
              </a:xfrm>
              <a:prstGeom prst="rect">
                <a:avLst/>
              </a:prstGeom>
              <a:solidFill>
                <a:srgbClr val="FFFFFF"/>
              </a:solidFill>
              <a:ln w="19050">
                <a:solidFill>
                  <a:srgbClr val="B35A12"/>
                </a:solidFill>
                <a:prstDash val="lgDash"/>
              </a:ln>
            </p:spPr>
          </p:sp>
          <p:grpSp>
            <p:nvGrpSpPr>
              <p:cNvPr id="25" name="device-count-values"/>
              <p:cNvGrpSpPr/>
              <p:nvPr/>
            </p:nvGrpSpPr>
            <p:grpSpPr>
              <a:xfrm>
                <a:off x="1869584" y="1933575"/>
                <a:ext cx="4256036" cy="2104644"/>
                <a:chOff x="1869584" y="1933575"/>
                <a:chExt cx="4256036" cy="2104644"/>
              </a:xfrm>
            </p:grpSpPr>
            <p:sp>
              <p:nvSpPr>
                <p:cNvPr id="22" name="TextBox 22"/>
                <p:cNvSpPr txBox="1"/>
                <p:nvPr/>
              </p:nvSpPr>
              <p:spPr>
                <a:xfrm>
                  <a:off x="1755284" y="3686175"/>
                  <a:ext cx="718532" cy="352044"/>
                </a:xfrm>
                <a:prstGeom prst="rect">
                  <a:avLst/>
                </a:prstGeom>
                <a:noFill/>
                <a:ln>
                  <a:noFill/>
                </a:ln>
              </p:spPr>
              <p:txBody>
                <a:bodyPr wrap="square" lIns="0" tIns="0" rIns="0" bIns="0" anchor="t" anchorCtr="0">
                  <a:spAutoFit/>
                </a:bodyPr>
                <a:lstStyle/>
                <a:p>
                  <a:pPr algn="ctr"/>
                  <a:r>
                    <a:rPr lang="ru" sz="1800" b="1" dirty="0">
                      <a:solidFill>
                        <a:srgbClr val="17212B"/>
                      </a:solidFill>
                      <a:latin typeface="+mn-lt"/>
                      <a:ea typeface="+mn-ea"/>
                      <a:cs typeface="+mn-cs"/>
                    </a:rPr>
                    <a:t>18,5</a:t>
                  </a:r>
                </a:p>
              </p:txBody>
            </p:sp>
            <p:sp>
              <p:nvSpPr>
                <p:cNvPr id="23" name="TextBox 23"/>
                <p:cNvSpPr txBox="1"/>
                <p:nvPr/>
              </p:nvSpPr>
              <p:spPr>
                <a:xfrm>
                  <a:off x="3688859" y="3467100"/>
                  <a:ext cx="718532" cy="352044"/>
                </a:xfrm>
                <a:prstGeom prst="rect">
                  <a:avLst/>
                </a:prstGeom>
                <a:noFill/>
                <a:ln>
                  <a:noFill/>
                </a:ln>
              </p:spPr>
              <p:txBody>
                <a:bodyPr wrap="square" lIns="0" tIns="0" rIns="0" bIns="0" anchor="t" anchorCtr="0">
                  <a:spAutoFit/>
                </a:bodyPr>
                <a:lstStyle/>
                <a:p>
                  <a:pPr algn="ctr"/>
                  <a:r>
                    <a:rPr lang="ru" sz="1800" b="1" dirty="0">
                      <a:solidFill>
                        <a:srgbClr val="0E6680"/>
                      </a:solidFill>
                      <a:latin typeface="+mn-lt"/>
                      <a:ea typeface="+mn-ea"/>
                      <a:cs typeface="+mn-cs"/>
                    </a:rPr>
                    <a:t>21,1</a:t>
                  </a:r>
                </a:p>
              </p:txBody>
            </p:sp>
            <p:sp>
              <p:nvSpPr>
                <p:cNvPr id="24" name="TextBox 24"/>
                <p:cNvSpPr txBox="1"/>
                <p:nvPr/>
              </p:nvSpPr>
              <p:spPr>
                <a:xfrm>
                  <a:off x="5723480" y="1933575"/>
                  <a:ext cx="516440" cy="352044"/>
                </a:xfrm>
                <a:prstGeom prst="rect">
                  <a:avLst/>
                </a:prstGeom>
                <a:noFill/>
                <a:ln>
                  <a:noFill/>
                </a:ln>
              </p:spPr>
              <p:txBody>
                <a:bodyPr wrap="square" lIns="0" tIns="0" rIns="0" bIns="0" anchor="t" anchorCtr="0">
                  <a:spAutoFit/>
                </a:bodyPr>
                <a:lstStyle/>
                <a:p>
                  <a:pPr algn="ctr"/>
                  <a:r>
                    <a:rPr lang="ru" sz="1800" b="1" dirty="0">
                      <a:solidFill>
                        <a:srgbClr val="B35A12"/>
                      </a:solidFill>
                      <a:latin typeface="+mn-lt"/>
                      <a:ea typeface="+mn-ea"/>
                      <a:cs typeface="+mn-cs"/>
                    </a:rPr>
                    <a:t>39</a:t>
                  </a:r>
                </a:p>
              </p:txBody>
            </p:sp>
          </p:grpSp>
          <p:grpSp>
            <p:nvGrpSpPr>
              <p:cNvPr id="29" name="device-count-categories"/>
              <p:cNvGrpSpPr/>
              <p:nvPr/>
            </p:nvGrpSpPr>
            <p:grpSpPr>
              <a:xfrm>
                <a:off x="1859078" y="5702300"/>
                <a:ext cx="4378093" cy="322707"/>
                <a:chOff x="1859078" y="5702300"/>
                <a:chExt cx="4378093" cy="322707"/>
              </a:xfrm>
            </p:grpSpPr>
            <p:sp>
              <p:nvSpPr>
                <p:cNvPr id="26" name="TextBox 26"/>
                <p:cNvSpPr txBox="1"/>
                <p:nvPr/>
              </p:nvSpPr>
              <p:spPr>
                <a:xfrm>
                  <a:off x="1744778" y="5702300"/>
                  <a:ext cx="739543" cy="322707"/>
                </a:xfrm>
                <a:prstGeom prst="rect">
                  <a:avLst/>
                </a:prstGeom>
                <a:noFill/>
                <a:ln>
                  <a:noFill/>
                </a:ln>
              </p:spPr>
              <p:txBody>
                <a:bodyPr wrap="square" lIns="0" tIns="0" rIns="0" bIns="0" anchor="t" anchorCtr="0">
                  <a:spAutoFit/>
                </a:bodyPr>
                <a:lstStyle/>
                <a:p>
                  <a:pPr algn="ctr"/>
                  <a:r>
                    <a:rPr lang="ru" sz="1650" dirty="0">
                      <a:solidFill>
                        <a:srgbClr val="17212B"/>
                      </a:solidFill>
                      <a:latin typeface="+mn-lt"/>
                      <a:ea typeface="+mn-ea"/>
                      <a:cs typeface="+mn-cs"/>
                    </a:rPr>
                    <a:t>2024</a:t>
                  </a:r>
                </a:p>
              </p:txBody>
            </p:sp>
            <p:sp>
              <p:nvSpPr>
                <p:cNvPr id="27" name="TextBox 27"/>
                <p:cNvSpPr txBox="1"/>
                <p:nvPr/>
              </p:nvSpPr>
              <p:spPr>
                <a:xfrm>
                  <a:off x="3678353" y="5702300"/>
                  <a:ext cx="739543" cy="322707"/>
                </a:xfrm>
                <a:prstGeom prst="rect">
                  <a:avLst/>
                </a:prstGeom>
                <a:noFill/>
                <a:ln>
                  <a:noFill/>
                </a:ln>
              </p:spPr>
              <p:txBody>
                <a:bodyPr wrap="square" lIns="0" tIns="0" rIns="0" bIns="0" anchor="t" anchorCtr="0">
                  <a:spAutoFit/>
                </a:bodyPr>
                <a:lstStyle/>
                <a:p>
                  <a:pPr algn="ctr"/>
                  <a:r>
                    <a:rPr lang="ru" sz="1650" dirty="0">
                      <a:solidFill>
                        <a:srgbClr val="17212B"/>
                      </a:solidFill>
                      <a:latin typeface="+mn-lt"/>
                      <a:ea typeface="+mn-ea"/>
                      <a:cs typeface="+mn-cs"/>
                    </a:rPr>
                    <a:t>2025</a:t>
                  </a:r>
                </a:p>
              </p:txBody>
            </p:sp>
            <p:sp>
              <p:nvSpPr>
                <p:cNvPr id="28" name="TextBox 28"/>
                <p:cNvSpPr txBox="1"/>
                <p:nvPr/>
              </p:nvSpPr>
              <p:spPr>
                <a:xfrm>
                  <a:off x="5611928" y="5702300"/>
                  <a:ext cx="739543" cy="322707"/>
                </a:xfrm>
                <a:prstGeom prst="rect">
                  <a:avLst/>
                </a:prstGeom>
                <a:noFill/>
                <a:ln>
                  <a:noFill/>
                </a:ln>
              </p:spPr>
              <p:txBody>
                <a:bodyPr wrap="square" lIns="0" tIns="0" rIns="0" bIns="0" anchor="t" anchorCtr="0">
                  <a:spAutoFit/>
                </a:bodyPr>
                <a:lstStyle/>
                <a:p>
                  <a:pPr algn="ctr"/>
                  <a:r>
                    <a:rPr lang="ru" sz="1650" dirty="0">
                      <a:solidFill>
                        <a:srgbClr val="17212B"/>
                      </a:solidFill>
                      <a:latin typeface="+mn-lt"/>
                      <a:ea typeface="+mn-ea"/>
                      <a:cs typeface="+mn-cs"/>
                    </a:rPr>
                    <a:t>2030</a:t>
                  </a:r>
                </a:p>
              </p:txBody>
            </p:sp>
          </p:grpSp>
          <p:grpSp>
            <p:nvGrpSpPr>
              <p:cNvPr id="32" name="device-count-status"/>
              <p:cNvGrpSpPr/>
              <p:nvPr/>
            </p:nvGrpSpPr>
            <p:grpSpPr>
              <a:xfrm>
                <a:off x="3741401" y="5969000"/>
                <a:ext cx="2597000" cy="264033"/>
                <a:chOff x="3741401" y="5969000"/>
                <a:chExt cx="2597000" cy="264033"/>
              </a:xfrm>
            </p:grpSpPr>
            <p:sp>
              <p:nvSpPr>
                <p:cNvPr id="30" name="TextBox 30"/>
                <p:cNvSpPr txBox="1"/>
                <p:nvPr/>
              </p:nvSpPr>
              <p:spPr>
                <a:xfrm>
                  <a:off x="3627101" y="5969000"/>
                  <a:ext cx="842048" cy="264033"/>
                </a:xfrm>
                <a:prstGeom prst="rect">
                  <a:avLst/>
                </a:prstGeom>
                <a:noFill/>
                <a:ln>
                  <a:noFill/>
                </a:ln>
              </p:spPr>
              <p:txBody>
                <a:bodyPr wrap="square" lIns="0" tIns="0" rIns="0" bIns="0" anchor="t" anchorCtr="0">
                  <a:spAutoFit/>
                </a:bodyPr>
                <a:lstStyle/>
                <a:p>
                  <a:pPr algn="ctr"/>
                  <a:r>
                    <a:rPr lang="ru" sz="1350" dirty="0">
                      <a:solidFill>
                        <a:srgbClr val="5F6B76"/>
                      </a:solidFill>
                      <a:latin typeface="+mn-lt"/>
                      <a:ea typeface="+mn-ea"/>
                      <a:cs typeface="+mn-cs"/>
                    </a:rPr>
                    <a:t>оценка</a:t>
                  </a:r>
                </a:p>
              </p:txBody>
            </p:sp>
            <p:sp>
              <p:nvSpPr>
                <p:cNvPr id="31" name="TextBox 31"/>
                <p:cNvSpPr txBox="1"/>
                <p:nvPr/>
              </p:nvSpPr>
              <p:spPr>
                <a:xfrm>
                  <a:off x="5510698" y="5969000"/>
                  <a:ext cx="942003" cy="264033"/>
                </a:xfrm>
                <a:prstGeom prst="rect">
                  <a:avLst/>
                </a:prstGeom>
                <a:noFill/>
                <a:ln>
                  <a:noFill/>
                </a:ln>
              </p:spPr>
              <p:txBody>
                <a:bodyPr wrap="square" lIns="0" tIns="0" rIns="0" bIns="0" anchor="t" anchorCtr="0">
                  <a:spAutoFit/>
                </a:bodyPr>
                <a:lstStyle/>
                <a:p>
                  <a:pPr algn="ctr"/>
                  <a:r>
                    <a:rPr lang="ru" sz="1350" dirty="0">
                      <a:solidFill>
                        <a:srgbClr val="B35A12"/>
                      </a:solidFill>
                      <a:latin typeface="+mn-lt"/>
                      <a:ea typeface="+mn-ea"/>
                      <a:cs typeface="+mn-cs"/>
                    </a:rPr>
                    <a:t>прогноз</a:t>
                  </a:r>
                </a:p>
              </p:txBody>
            </p:sp>
          </p:grpSp>
        </p:grpSp>
      </p:grpSp>
      <p:grpSp>
        <p:nvGrpSpPr>
          <p:cNvPr id="47" name="context-panel"/>
          <p:cNvGrpSpPr/>
          <p:nvPr/>
        </p:nvGrpSpPr>
        <p:grpSpPr>
          <a:xfrm>
            <a:off x="7429500" y="1752600"/>
            <a:ext cx="4152900" cy="4343400"/>
            <a:chOff x="7429500" y="1752600"/>
            <a:chExt cx="4152900" cy="4343400"/>
          </a:xfrm>
        </p:grpSpPr>
        <p:sp>
          <p:nvSpPr>
            <p:cNvPr id="35" name="Rectangle 35"/>
            <p:cNvSpPr/>
            <p:nvPr/>
          </p:nvSpPr>
          <p:spPr>
            <a:xfrm>
              <a:off x="7429500" y="1752600"/>
              <a:ext cx="4152900" cy="4343400"/>
            </a:xfrm>
            <a:prstGeom prst="rect">
              <a:avLst/>
            </a:prstGeom>
            <a:solidFill>
              <a:srgbClr val="F3F5F7"/>
            </a:solidFill>
            <a:ln>
              <a:noFill/>
            </a:ln>
          </p:spPr>
        </p:sp>
        <p:grpSp>
          <p:nvGrpSpPr>
            <p:cNvPr id="38" name="panel-definition"/>
            <p:cNvGrpSpPr/>
            <p:nvPr/>
          </p:nvGrpSpPr>
          <p:grpSpPr>
            <a:xfrm>
              <a:off x="7687818" y="1949450"/>
              <a:ext cx="2957463" cy="1719707"/>
              <a:chOff x="7687818" y="1949450"/>
              <a:chExt cx="2957463" cy="1719707"/>
            </a:xfrm>
          </p:grpSpPr>
          <p:sp>
            <p:nvSpPr>
              <p:cNvPr id="36" name="TextBox 36"/>
              <p:cNvSpPr txBox="1"/>
              <p:nvPr/>
            </p:nvSpPr>
            <p:spPr>
              <a:xfrm>
                <a:off x="7689342" y="1949450"/>
                <a:ext cx="1432452" cy="264033"/>
              </a:xfrm>
              <a:prstGeom prst="rect">
                <a:avLst/>
              </a:prstGeom>
              <a:noFill/>
              <a:ln>
                <a:noFill/>
              </a:ln>
            </p:spPr>
            <p:txBody>
              <a:bodyPr wrap="square" lIns="0" tIns="0" rIns="0" bIns="0" anchor="t" anchorCtr="0">
                <a:spAutoFit/>
              </a:bodyPr>
              <a:lstStyle/>
              <a:p>
                <a:pPr algn="l"/>
                <a:r>
                  <a:rPr lang="ru" sz="1350" b="1" dirty="0">
                    <a:solidFill>
                      <a:srgbClr val="0E6680"/>
                    </a:solidFill>
                    <a:latin typeface="+mn-lt"/>
                    <a:ea typeface="+mn-ea"/>
                    <a:cs typeface="+mn-cs"/>
                  </a:rPr>
                  <a:t>Определение</a:t>
                </a:r>
              </a:p>
            </p:txBody>
          </p:sp>
          <p:sp>
            <p:nvSpPr>
              <p:cNvPr id="37" name="TextBox 37"/>
              <p:cNvSpPr txBox="1"/>
              <p:nvPr/>
            </p:nvSpPr>
            <p:spPr>
              <a:xfrm>
                <a:off x="7687818" y="2203450"/>
                <a:ext cx="3608104" cy="1465707"/>
              </a:xfrm>
              <a:prstGeom prst="rect">
                <a:avLst/>
              </a:prstGeom>
              <a:noFill/>
              <a:ln>
                <a:noFill/>
              </a:ln>
            </p:spPr>
            <p:txBody>
              <a:bodyPr wrap="square" lIns="0" tIns="0" rIns="0" bIns="0" anchor="t" anchorCtr="0">
                <a:spAutoFit/>
              </a:bodyPr>
              <a:lstStyle/>
              <a:p>
                <a:pPr algn="l">
                  <a:lnSpc>
                    <a:spcPts val="2250"/>
                  </a:lnSpc>
                </a:pPr>
                <a:r>
                  <a:rPr lang="ru" sz="1650" dirty="0">
                    <a:solidFill>
                      <a:srgbClr val="17212B"/>
                    </a:solidFill>
                    <a:latin typeface="+mn-lt"/>
                    <a:ea typeface="+mn-ea"/>
                    <a:cs typeface="+mn-cs"/>
                  </a:rPr>
                  <a:t>Сеть физических устройств,</a:t>
                </a:r>
                <a:br>
                  <a:rPr lang="ru" sz="1650" dirty="0">
                    <a:solidFill>
                      <a:srgbClr val="17212B"/>
                    </a:solidFill>
                    <a:latin typeface="+mn-lt"/>
                    <a:ea typeface="+mn-ea"/>
                    <a:cs typeface="+mn-cs"/>
                  </a:rPr>
                </a:br>
                <a:r>
                  <a:rPr lang="ru" sz="1650" dirty="0">
                    <a:solidFill>
                      <a:srgbClr val="17212B"/>
                    </a:solidFill>
                    <a:latin typeface="+mn-lt"/>
                    <a:ea typeface="+mn-ea"/>
                    <a:cs typeface="+mn-cs"/>
                  </a:rPr>
                  <a:t>которые оснащены датчиками,</a:t>
                </a:r>
                <a:br>
                  <a:rPr lang="ru" sz="1650" dirty="0">
                    <a:solidFill>
                      <a:srgbClr val="17212B"/>
                    </a:solidFill>
                    <a:latin typeface="+mn-lt"/>
                    <a:ea typeface="+mn-ea"/>
                    <a:cs typeface="+mn-cs"/>
                  </a:rPr>
                </a:br>
                <a:r>
                  <a:rPr lang="ru" sz="1650" dirty="0">
                    <a:solidFill>
                      <a:srgbClr val="17212B"/>
                    </a:solidFill>
                    <a:latin typeface="+mn-lt"/>
                    <a:ea typeface="+mn-ea"/>
                    <a:cs typeface="+mn-cs"/>
                  </a:rPr>
                  <a:t>подключены к сети</a:t>
                </a:r>
                <a:br>
                  <a:rPr lang="ru" sz="1650" dirty="0">
                    <a:solidFill>
                      <a:srgbClr val="17212B"/>
                    </a:solidFill>
                    <a:latin typeface="+mn-lt"/>
                    <a:ea typeface="+mn-ea"/>
                    <a:cs typeface="+mn-cs"/>
                  </a:rPr>
                </a:br>
                <a:r>
                  <a:rPr lang="ru" sz="1650" dirty="0">
                    <a:solidFill>
                      <a:srgbClr val="17212B"/>
                    </a:solidFill>
                    <a:latin typeface="+mn-lt"/>
                    <a:ea typeface="+mn-ea"/>
                    <a:cs typeface="+mn-cs"/>
                  </a:rPr>
                  <a:t>и обмениваются данными</a:t>
                </a:r>
                <a:br>
                  <a:rPr lang="ru" sz="1650" dirty="0">
                    <a:solidFill>
                      <a:srgbClr val="17212B"/>
                    </a:solidFill>
                    <a:latin typeface="+mn-lt"/>
                    <a:ea typeface="+mn-ea"/>
                    <a:cs typeface="+mn-cs"/>
                  </a:rPr>
                </a:br>
                <a:r>
                  <a:rPr lang="ru" sz="1650" dirty="0">
                    <a:solidFill>
                      <a:srgbClr val="17212B"/>
                    </a:solidFill>
                    <a:latin typeface="+mn-lt"/>
                    <a:ea typeface="+mn-ea"/>
                    <a:cs typeface="+mn-cs"/>
                  </a:rPr>
                  <a:t>без участия человека.</a:t>
                </a:r>
              </a:p>
            </p:txBody>
          </p:sp>
        </p:grpSp>
        <p:grpSp>
          <p:nvGrpSpPr>
            <p:cNvPr id="41" name="panel-term"/>
            <p:cNvGrpSpPr/>
            <p:nvPr/>
          </p:nvGrpSpPr>
          <p:grpSpPr>
            <a:xfrm>
              <a:off x="7687818" y="3835400"/>
              <a:ext cx="2366229" cy="570357"/>
              <a:chOff x="7687818" y="3835400"/>
              <a:chExt cx="2366229" cy="570357"/>
            </a:xfrm>
          </p:grpSpPr>
          <p:sp>
            <p:nvSpPr>
              <p:cNvPr id="39" name="TextBox 39"/>
              <p:cNvSpPr txBox="1"/>
              <p:nvPr/>
            </p:nvSpPr>
            <p:spPr>
              <a:xfrm>
                <a:off x="7689342" y="3835400"/>
                <a:ext cx="1622379" cy="264033"/>
              </a:xfrm>
              <a:prstGeom prst="rect">
                <a:avLst/>
              </a:prstGeom>
              <a:noFill/>
              <a:ln>
                <a:noFill/>
              </a:ln>
            </p:spPr>
            <p:txBody>
              <a:bodyPr wrap="square" lIns="0" tIns="0" rIns="0" bIns="0" anchor="t" anchorCtr="0">
                <a:spAutoFit/>
              </a:bodyPr>
              <a:lstStyle/>
              <a:p>
                <a:pPr algn="l"/>
                <a:r>
                  <a:rPr lang="ru" sz="1350" b="1" dirty="0">
                    <a:solidFill>
                      <a:srgbClr val="0E6680"/>
                    </a:solidFill>
                    <a:latin typeface="+mn-lt"/>
                    <a:ea typeface="+mn-ea"/>
                    <a:cs typeface="+mn-cs"/>
                  </a:rPr>
                  <a:t>Автор термина</a:t>
                </a:r>
              </a:p>
            </p:txBody>
          </p:sp>
          <p:sp>
            <p:nvSpPr>
              <p:cNvPr id="40" name="TextBox 40"/>
              <p:cNvSpPr txBox="1"/>
              <p:nvPr/>
            </p:nvSpPr>
            <p:spPr>
              <a:xfrm>
                <a:off x="7687818" y="4083050"/>
                <a:ext cx="2886799"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Кевин Эштон, 1999 год</a:t>
                </a:r>
              </a:p>
            </p:txBody>
          </p:sp>
        </p:grpSp>
        <p:grpSp>
          <p:nvGrpSpPr>
            <p:cNvPr id="45" name="panel-growth"/>
            <p:cNvGrpSpPr/>
            <p:nvPr/>
          </p:nvGrpSpPr>
          <p:grpSpPr>
            <a:xfrm>
              <a:off x="7687056" y="4559300"/>
              <a:ext cx="3099971" cy="875157"/>
              <a:chOff x="7687056" y="4559300"/>
              <a:chExt cx="3099971" cy="875157"/>
            </a:xfrm>
          </p:grpSpPr>
          <p:sp>
            <p:nvSpPr>
              <p:cNvPr id="42" name="TextBox 42"/>
              <p:cNvSpPr txBox="1"/>
              <p:nvPr/>
            </p:nvSpPr>
            <p:spPr>
              <a:xfrm>
                <a:off x="7689342" y="4559300"/>
                <a:ext cx="668069" cy="264033"/>
              </a:xfrm>
              <a:prstGeom prst="rect">
                <a:avLst/>
              </a:prstGeom>
              <a:noFill/>
              <a:ln>
                <a:noFill/>
              </a:ln>
            </p:spPr>
            <p:txBody>
              <a:bodyPr wrap="square" lIns="0" tIns="0" rIns="0" bIns="0" anchor="t" anchorCtr="0">
                <a:spAutoFit/>
              </a:bodyPr>
              <a:lstStyle/>
              <a:p>
                <a:pPr algn="l"/>
                <a:r>
                  <a:rPr lang="ru" sz="1350" b="1" dirty="0">
                    <a:solidFill>
                      <a:srgbClr val="0E6680"/>
                    </a:solidFill>
                    <a:latin typeface="+mn-lt"/>
                    <a:ea typeface="+mn-ea"/>
                    <a:cs typeface="+mn-cs"/>
                  </a:rPr>
                  <a:t>Рост</a:t>
                </a:r>
              </a:p>
            </p:txBody>
          </p:sp>
          <p:sp>
            <p:nvSpPr>
              <p:cNvPr id="43" name="TextBox 43"/>
              <p:cNvSpPr txBox="1"/>
              <p:nvPr/>
            </p:nvSpPr>
            <p:spPr>
              <a:xfrm>
                <a:off x="7687056" y="4800600"/>
                <a:ext cx="2544380"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+14% за 2025 год</a:t>
                </a:r>
              </a:p>
            </p:txBody>
          </p:sp>
          <p:sp>
            <p:nvSpPr>
              <p:cNvPr id="44" name="TextBox 44"/>
              <p:cNvSpPr txBox="1"/>
              <p:nvPr/>
            </p:nvSpPr>
            <p:spPr>
              <a:xfrm>
                <a:off x="7687818" y="5111750"/>
                <a:ext cx="3781034"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прогноз: 13,2% в год до 2030</a:t>
                </a:r>
              </a:p>
            </p:txBody>
          </p:sp>
        </p:grpSp>
        <p:sp>
          <p:nvSpPr>
            <p:cNvPr id="46" name="TextBox 46"/>
            <p:cNvSpPr txBox="1"/>
            <p:nvPr/>
          </p:nvSpPr>
          <p:spPr>
            <a:xfrm>
              <a:off x="7690104" y="5549900"/>
              <a:ext cx="3530289" cy="444246"/>
            </a:xfrm>
            <a:prstGeom prst="rect">
              <a:avLst/>
            </a:prstGeom>
            <a:noFill/>
            <a:ln>
              <a:noFill/>
            </a:ln>
          </p:spPr>
          <p:txBody>
            <a:bodyPr wrap="square" lIns="0" tIns="0" rIns="0" bIns="0" anchor="t" anchorCtr="0">
              <a:spAutoFit/>
            </a:bodyPr>
            <a:lstStyle/>
            <a:p>
              <a:pPr algn="l">
                <a:lnSpc>
                  <a:spcPts val="1650"/>
                </a:lnSpc>
              </a:pPr>
              <a:r>
                <a:rPr lang="ru" sz="1200" dirty="0">
                  <a:solidFill>
                    <a:srgbClr val="5F6B76"/>
                  </a:solidFill>
                  <a:latin typeface="+mn-lt"/>
                  <a:ea typeface="+mn-ea"/>
                  <a:cs typeface="+mn-cs"/>
                </a:rPr>
                <a:t>Источник: IoT Analytics, State of IoT 2025</a:t>
              </a:r>
              <a:br>
                <a:rPr lang="ru" sz="1200" dirty="0">
                  <a:solidFill>
                    <a:srgbClr val="5F6B76"/>
                  </a:solidFill>
                  <a:latin typeface="+mn-lt"/>
                  <a:ea typeface="+mn-ea"/>
                  <a:cs typeface="+mn-cs"/>
                </a:rPr>
              </a:br>
              <a:r>
                <a:rPr lang="ru" sz="1200" dirty="0">
                  <a:solidFill>
                    <a:srgbClr val="5F6B76"/>
                  </a:solidFill>
                  <a:latin typeface="+mn-lt"/>
                  <a:ea typeface="+mn-ea"/>
                  <a:cs typeface="+mn-cs"/>
                </a:rPr>
                <a:t>(октябрь 2025); без смартфонов и ПК</a:t>
              </a:r>
            </a:p>
          </p:txBody>
        </p:sp>
      </p:grpSp>
      <p:grpSp>
        <p:nvGrpSpPr>
          <p:cNvPr id="51" name="footer"/>
          <p:cNvGrpSpPr/>
          <p:nvPr/>
        </p:nvGrpSpPr>
        <p:grpSpPr>
          <a:xfrm>
            <a:off x="603504" y="6400800"/>
            <a:ext cx="10984992" cy="348996"/>
            <a:chOff x="603504" y="6400800"/>
            <a:chExt cx="10984992" cy="348996"/>
          </a:xfrm>
        </p:grpSpPr>
        <p:sp>
          <p:nvSpPr>
            <p:cNvPr id="48" name="Line 48"/>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49" name="TextBox 49"/>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50" name="TextBox 50"/>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3 / 12</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10137432" cy="714629"/>
            <a:chOff x="596646" y="381000"/>
            <a:chExt cx="10137432" cy="71462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596900"/>
              <a:ext cx="11404854"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Данные проходят четыре уровня: от датчика до приложения</a:t>
              </a:r>
            </a:p>
          </p:txBody>
        </p:sp>
      </p:grpSp>
      <p:grpSp>
        <p:nvGrpSpPr>
          <p:cNvPr id="14" name="level-strip"/>
          <p:cNvGrpSpPr/>
          <p:nvPr/>
        </p:nvGrpSpPr>
        <p:grpSpPr>
          <a:xfrm>
            <a:off x="609600" y="1866900"/>
            <a:ext cx="10972800" cy="571500"/>
            <a:chOff x="609600" y="1866900"/>
            <a:chExt cx="10972800" cy="571500"/>
          </a:xfrm>
        </p:grpSpPr>
        <p:sp>
          <p:nvSpPr>
            <p:cNvPr id="5" name="Freeform 5"/>
            <p:cNvSpPr/>
            <p:nvPr/>
          </p:nvSpPr>
          <p:spPr>
            <a:xfrm>
              <a:off x="609600" y="1866900"/>
              <a:ext cx="3028950" cy="571500"/>
            </a:xfrm>
            <a:prstGeom prst="homePlate">
              <a:avLst/>
            </a:prstGeom>
            <a:solidFill>
              <a:srgbClr val="0E6680"/>
            </a:solidFill>
            <a:ln>
              <a:noFill/>
            </a:ln>
          </p:spPr>
        </p:sp>
        <p:sp>
          <p:nvSpPr>
            <p:cNvPr id="6" name="Freeform 6"/>
            <p:cNvSpPr/>
            <p:nvPr/>
          </p:nvSpPr>
          <p:spPr>
            <a:xfrm>
              <a:off x="3409950" y="1866900"/>
              <a:ext cx="3028950" cy="571500"/>
            </a:xfrm>
            <a:prstGeom prst="chevron">
              <a:avLst/>
            </a:prstGeom>
            <a:solidFill>
              <a:srgbClr val="0E6680"/>
            </a:solidFill>
            <a:ln>
              <a:noFill/>
            </a:ln>
          </p:spPr>
        </p:sp>
        <p:sp>
          <p:nvSpPr>
            <p:cNvPr id="7" name="Freeform 7"/>
            <p:cNvSpPr/>
            <p:nvPr/>
          </p:nvSpPr>
          <p:spPr>
            <a:xfrm>
              <a:off x="6210300" y="1866900"/>
              <a:ext cx="3028950" cy="571500"/>
            </a:xfrm>
            <a:prstGeom prst="chevron">
              <a:avLst/>
            </a:prstGeom>
            <a:solidFill>
              <a:srgbClr val="0E6680"/>
            </a:solidFill>
            <a:ln>
              <a:noFill/>
            </a:ln>
          </p:spPr>
        </p:sp>
        <p:sp>
          <p:nvSpPr>
            <p:cNvPr id="8" name="Freeform 8"/>
            <p:cNvSpPr/>
            <p:nvPr/>
          </p:nvSpPr>
          <p:spPr>
            <a:xfrm>
              <a:off x="9010650" y="1866900"/>
              <a:ext cx="2571750" cy="571500"/>
            </a:xfrm>
            <a:prstGeom prst="chevron">
              <a:avLst/>
            </a:prstGeom>
            <a:solidFill>
              <a:srgbClr val="0E6680"/>
            </a:solidFill>
            <a:ln>
              <a:noFill/>
            </a:ln>
          </p:spPr>
        </p:sp>
        <p:grpSp>
          <p:nvGrpSpPr>
            <p:cNvPr id="13" name="level-labels"/>
            <p:cNvGrpSpPr/>
            <p:nvPr/>
          </p:nvGrpSpPr>
          <p:grpSpPr>
            <a:xfrm>
              <a:off x="1426847" y="2025650"/>
              <a:ext cx="9424031" cy="322707"/>
              <a:chOff x="1426847" y="2025650"/>
              <a:chExt cx="9424031" cy="322707"/>
            </a:xfrm>
          </p:grpSpPr>
          <p:sp>
            <p:nvSpPr>
              <p:cNvPr id="9" name="TextBox 9"/>
              <p:cNvSpPr txBox="1"/>
              <p:nvPr/>
            </p:nvSpPr>
            <p:spPr>
              <a:xfrm>
                <a:off x="1304890" y="2025650"/>
                <a:ext cx="1352621" cy="322707"/>
              </a:xfrm>
              <a:prstGeom prst="rect">
                <a:avLst/>
              </a:prstGeom>
              <a:noFill/>
              <a:ln>
                <a:noFill/>
              </a:ln>
            </p:spPr>
            <p:txBody>
              <a:bodyPr wrap="square" lIns="0" tIns="0" rIns="0" bIns="0" anchor="t" anchorCtr="0">
                <a:spAutoFit/>
              </a:bodyPr>
              <a:lstStyle/>
              <a:p>
                <a:pPr algn="ctr"/>
                <a:r>
                  <a:rPr lang="ru" sz="1650" b="1" dirty="0">
                    <a:solidFill>
                      <a:srgbClr val="FFFFFF"/>
                    </a:solidFill>
                    <a:latin typeface="+mn-lt"/>
                    <a:ea typeface="+mn-ea"/>
                    <a:cs typeface="+mn-cs"/>
                  </a:rPr>
                  <a:t>Уровень 1</a:t>
                </a:r>
              </a:p>
            </p:txBody>
          </p:sp>
          <p:sp>
            <p:nvSpPr>
              <p:cNvPr id="10" name="TextBox 10"/>
              <p:cNvSpPr txBox="1"/>
              <p:nvPr/>
            </p:nvSpPr>
            <p:spPr>
              <a:xfrm>
                <a:off x="4248115" y="2025650"/>
                <a:ext cx="1352621" cy="322707"/>
              </a:xfrm>
              <a:prstGeom prst="rect">
                <a:avLst/>
              </a:prstGeom>
              <a:noFill/>
              <a:ln>
                <a:noFill/>
              </a:ln>
            </p:spPr>
            <p:txBody>
              <a:bodyPr wrap="square" lIns="0" tIns="0" rIns="0" bIns="0" anchor="t" anchorCtr="0">
                <a:spAutoFit/>
              </a:bodyPr>
              <a:lstStyle/>
              <a:p>
                <a:pPr algn="ctr"/>
                <a:r>
                  <a:rPr lang="ru" sz="1650" b="1" dirty="0">
                    <a:solidFill>
                      <a:srgbClr val="FFFFFF"/>
                    </a:solidFill>
                    <a:latin typeface="+mn-lt"/>
                    <a:ea typeface="+mn-ea"/>
                    <a:cs typeface="+mn-cs"/>
                  </a:rPr>
                  <a:t>Уровень 2</a:t>
                </a:r>
              </a:p>
            </p:txBody>
          </p:sp>
          <p:sp>
            <p:nvSpPr>
              <p:cNvPr id="11" name="TextBox 11"/>
              <p:cNvSpPr txBox="1"/>
              <p:nvPr/>
            </p:nvSpPr>
            <p:spPr>
              <a:xfrm>
                <a:off x="7048465" y="2025650"/>
                <a:ext cx="1352621" cy="322707"/>
              </a:xfrm>
              <a:prstGeom prst="rect">
                <a:avLst/>
              </a:prstGeom>
              <a:noFill/>
              <a:ln>
                <a:noFill/>
              </a:ln>
            </p:spPr>
            <p:txBody>
              <a:bodyPr wrap="square" lIns="0" tIns="0" rIns="0" bIns="0" anchor="t" anchorCtr="0">
                <a:spAutoFit/>
              </a:bodyPr>
              <a:lstStyle/>
              <a:p>
                <a:pPr algn="ctr"/>
                <a:r>
                  <a:rPr lang="ru" sz="1650" b="1" dirty="0">
                    <a:solidFill>
                      <a:srgbClr val="FFFFFF"/>
                    </a:solidFill>
                    <a:latin typeface="+mn-lt"/>
                    <a:ea typeface="+mn-ea"/>
                    <a:cs typeface="+mn-cs"/>
                  </a:rPr>
                  <a:t>Уровень 3</a:t>
                </a:r>
              </a:p>
            </p:txBody>
          </p:sp>
          <p:sp>
            <p:nvSpPr>
              <p:cNvPr id="12" name="TextBox 12"/>
              <p:cNvSpPr txBox="1"/>
              <p:nvPr/>
            </p:nvSpPr>
            <p:spPr>
              <a:xfrm>
                <a:off x="9620215" y="2025650"/>
                <a:ext cx="1352621" cy="322707"/>
              </a:xfrm>
              <a:prstGeom prst="rect">
                <a:avLst/>
              </a:prstGeom>
              <a:noFill/>
              <a:ln>
                <a:noFill/>
              </a:ln>
            </p:spPr>
            <p:txBody>
              <a:bodyPr wrap="square" lIns="0" tIns="0" rIns="0" bIns="0" anchor="t" anchorCtr="0">
                <a:spAutoFit/>
              </a:bodyPr>
              <a:lstStyle/>
              <a:p>
                <a:pPr algn="ctr"/>
                <a:r>
                  <a:rPr lang="ru" sz="1650" b="1" dirty="0">
                    <a:solidFill>
                      <a:srgbClr val="FFFFFF"/>
                    </a:solidFill>
                    <a:latin typeface="+mn-lt"/>
                    <a:ea typeface="+mn-ea"/>
                    <a:cs typeface="+mn-cs"/>
                  </a:rPr>
                  <a:t>Уровень 4</a:t>
                </a:r>
              </a:p>
            </p:txBody>
          </p:sp>
        </p:grpSp>
      </p:grpSp>
      <p:grpSp>
        <p:nvGrpSpPr>
          <p:cNvPr id="20" name="level-devices"/>
          <p:cNvGrpSpPr/>
          <p:nvPr/>
        </p:nvGrpSpPr>
        <p:grpSpPr>
          <a:xfrm>
            <a:off x="600456" y="2672589"/>
            <a:ext cx="2580894" cy="2557144"/>
            <a:chOff x="600456" y="2672589"/>
            <a:chExt cx="2580894" cy="2557144"/>
          </a:xfrm>
        </p:grpSpPr>
        <p:sp>
          <p:nvSpPr>
            <p:cNvPr id="15" name="Freeform 15"/>
            <p:cNvSpPr/>
            <p:nvPr/>
          </p:nvSpPr>
          <p:spPr>
            <a:xfrm>
              <a:off x="641350" y="2672589"/>
              <a:ext cx="333852" cy="334399"/>
            </a:xfrm>
            <a:custGeom>
              <a:avLst/>
              <a:gdLst/>
              <a:ahLst/>
              <a:cxnLst/>
              <a:rect l="l" t="t" r="r" b="b"/>
              <a:pathLst>
                <a:path w="333852" h="334399">
                  <a:moveTo>
                    <a:pt x="238125" y="28384"/>
                  </a:moveTo>
                  <a:cubicBezTo>
                    <a:pt x="304283" y="66582"/>
                    <a:pt x="333852" y="146484"/>
                    <a:pt x="308499" y="218548"/>
                  </a:cubicBezTo>
                  <a:cubicBezTo>
                    <a:pt x="283147" y="290612"/>
                    <a:pt x="210062" y="334399"/>
                    <a:pt x="134561" y="322760"/>
                  </a:cubicBezTo>
                  <a:cubicBezTo>
                    <a:pt x="59059" y="311122"/>
                    <a:pt x="2554" y="247358"/>
                    <a:pt x="79" y="171005"/>
                  </a:cubicBezTo>
                  <a:lnTo>
                    <a:pt x="0" y="165861"/>
                  </a:lnTo>
                  <a:lnTo>
                    <a:pt x="79" y="160718"/>
                  </a:lnTo>
                  <a:cubicBezTo>
                    <a:pt x="1888" y="104949"/>
                    <a:pt x="32843" y="54223"/>
                    <a:pt x="81612" y="27112"/>
                  </a:cubicBezTo>
                  <a:cubicBezTo>
                    <a:pt x="130381" y="0"/>
                    <a:pt x="189803" y="483"/>
                    <a:pt x="238125" y="28384"/>
                  </a:cubicBezTo>
                  <a:close/>
                  <a:moveTo>
                    <a:pt x="233474" y="91138"/>
                  </a:moveTo>
                  <a:cubicBezTo>
                    <a:pt x="227275" y="84940"/>
                    <a:pt x="217226" y="84940"/>
                    <a:pt x="211027" y="91138"/>
                  </a:cubicBezTo>
                  <a:lnTo>
                    <a:pt x="169910" y="132254"/>
                  </a:lnTo>
                  <a:lnTo>
                    <a:pt x="168593" y="133746"/>
                  </a:lnTo>
                  <a:lnTo>
                    <a:pt x="167513" y="135334"/>
                  </a:lnTo>
                  <a:cubicBezTo>
                    <a:pt x="158327" y="132699"/>
                    <a:pt x="148443" y="134341"/>
                    <a:pt x="140601" y="139802"/>
                  </a:cubicBezTo>
                  <a:cubicBezTo>
                    <a:pt x="132760" y="145264"/>
                    <a:pt x="127793" y="153966"/>
                    <a:pt x="127080" y="163496"/>
                  </a:cubicBezTo>
                  <a:lnTo>
                    <a:pt x="127000" y="165861"/>
                  </a:lnTo>
                  <a:lnTo>
                    <a:pt x="127080" y="168243"/>
                  </a:lnTo>
                  <a:cubicBezTo>
                    <a:pt x="127989" y="180326"/>
                    <a:pt x="135698" y="190838"/>
                    <a:pt x="146949" y="195338"/>
                  </a:cubicBezTo>
                  <a:cubicBezTo>
                    <a:pt x="158200" y="199839"/>
                    <a:pt x="171031" y="197542"/>
                    <a:pt x="180023" y="189419"/>
                  </a:cubicBezTo>
                  <a:cubicBezTo>
                    <a:pt x="189015" y="181296"/>
                    <a:pt x="192600" y="168763"/>
                    <a:pt x="189262" y="157114"/>
                  </a:cubicBezTo>
                  <a:cubicBezTo>
                    <a:pt x="190393" y="156446"/>
                    <a:pt x="191433" y="155635"/>
                    <a:pt x="192358" y="154701"/>
                  </a:cubicBezTo>
                  <a:lnTo>
                    <a:pt x="233474" y="113585"/>
                  </a:lnTo>
                  <a:lnTo>
                    <a:pt x="234792" y="112093"/>
                  </a:lnTo>
                  <a:cubicBezTo>
                    <a:pt x="239694" y="105773"/>
                    <a:pt x="239129" y="96793"/>
                    <a:pt x="233474" y="91138"/>
                  </a:cubicBezTo>
                  <a:close/>
                  <a:moveTo>
                    <a:pt x="158750" y="70611"/>
                  </a:moveTo>
                  <a:cubicBezTo>
                    <a:pt x="133488" y="70611"/>
                    <a:pt x="109261" y="80646"/>
                    <a:pt x="91398" y="98509"/>
                  </a:cubicBezTo>
                  <a:cubicBezTo>
                    <a:pt x="73535" y="116372"/>
                    <a:pt x="63500" y="140599"/>
                    <a:pt x="63500" y="165861"/>
                  </a:cubicBezTo>
                  <a:cubicBezTo>
                    <a:pt x="63500" y="174629"/>
                    <a:pt x="70608" y="181736"/>
                    <a:pt x="79375" y="181736"/>
                  </a:cubicBezTo>
                  <a:cubicBezTo>
                    <a:pt x="88143" y="181736"/>
                    <a:pt x="95250" y="174629"/>
                    <a:pt x="95250" y="165861"/>
                  </a:cubicBezTo>
                  <a:cubicBezTo>
                    <a:pt x="95250" y="130791"/>
                    <a:pt x="123680" y="102361"/>
                    <a:pt x="158750" y="102361"/>
                  </a:cubicBezTo>
                  <a:cubicBezTo>
                    <a:pt x="167518" y="102361"/>
                    <a:pt x="174625" y="95254"/>
                    <a:pt x="174625" y="86486"/>
                  </a:cubicBezTo>
                  <a:cubicBezTo>
                    <a:pt x="174625" y="77719"/>
                    <a:pt x="167518" y="70611"/>
                    <a:pt x="158750" y="70611"/>
                  </a:cubicBezTo>
                  <a:close/>
                </a:path>
              </a:pathLst>
            </a:custGeom>
            <a:solidFill>
              <a:srgbClr val="0E6680"/>
            </a:solidFill>
            <a:ln>
              <a:noFill/>
            </a:ln>
          </p:spPr>
        </p:sp>
        <p:sp>
          <p:nvSpPr>
            <p:cNvPr id="16" name="TextBox 16"/>
            <p:cNvSpPr txBox="1"/>
            <p:nvPr/>
          </p:nvSpPr>
          <p:spPr>
            <a:xfrm>
              <a:off x="600456" y="3143250"/>
              <a:ext cx="2928385"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Устройства и шлюзы</a:t>
              </a:r>
            </a:p>
          </p:txBody>
        </p:sp>
        <p:sp>
          <p:nvSpPr>
            <p:cNvPr id="17" name="TextBox 17"/>
            <p:cNvSpPr txBox="1"/>
            <p:nvPr/>
          </p:nvSpPr>
          <p:spPr>
            <a:xfrm>
              <a:off x="601218" y="3536950"/>
              <a:ext cx="2693436" cy="894207"/>
            </a:xfrm>
            <a:prstGeom prst="rect">
              <a:avLst/>
            </a:prstGeom>
            <a:noFill/>
            <a:ln>
              <a:noFill/>
            </a:ln>
          </p:spPr>
          <p:txBody>
            <a:bodyPr wrap="square" lIns="0" tIns="0" rIns="0" bIns="0" anchor="t" anchorCtr="0">
              <a:spAutoFit/>
            </a:bodyPr>
            <a:lstStyle/>
            <a:p>
              <a:pPr algn="l">
                <a:lnSpc>
                  <a:spcPts val="2250"/>
                </a:lnSpc>
              </a:pPr>
              <a:r>
                <a:rPr lang="ru" sz="1650" dirty="0">
                  <a:solidFill>
                    <a:srgbClr val="4A5663"/>
                  </a:solidFill>
                  <a:latin typeface="+mn-lt"/>
                  <a:ea typeface="+mn-ea"/>
                  <a:cs typeface="+mn-cs"/>
                </a:rPr>
                <a:t>Измеряют величины,</a:t>
              </a:r>
              <a:br>
                <a:rPr lang="ru" sz="1650" dirty="0">
                  <a:solidFill>
                    <a:srgbClr val="4A5663"/>
                  </a:solidFill>
                  <a:latin typeface="+mn-lt"/>
                  <a:ea typeface="+mn-ea"/>
                  <a:cs typeface="+mn-cs"/>
                </a:rPr>
              </a:br>
              <a:r>
                <a:rPr lang="ru" sz="1650" dirty="0">
                  <a:solidFill>
                    <a:srgbClr val="4A5663"/>
                  </a:solidFill>
                  <a:latin typeface="+mn-lt"/>
                  <a:ea typeface="+mn-ea"/>
                  <a:cs typeface="+mn-cs"/>
                </a:rPr>
                <a:t>собирают и фильтруют</a:t>
              </a:r>
              <a:br>
                <a:rPr lang="ru" sz="1650" dirty="0">
                  <a:solidFill>
                    <a:srgbClr val="4A5663"/>
                  </a:solidFill>
                  <a:latin typeface="+mn-lt"/>
                  <a:ea typeface="+mn-ea"/>
                  <a:cs typeface="+mn-cs"/>
                </a:rPr>
              </a:br>
              <a:r>
                <a:rPr lang="ru" sz="1650" dirty="0">
                  <a:solidFill>
                    <a:srgbClr val="4A5663"/>
                  </a:solidFill>
                  <a:latin typeface="+mn-lt"/>
                  <a:ea typeface="+mn-ea"/>
                  <a:cs typeface="+mn-cs"/>
                </a:rPr>
                <a:t>данные</a:t>
              </a:r>
            </a:p>
          </p:txBody>
        </p:sp>
        <p:sp>
          <p:nvSpPr>
            <p:cNvPr id="18" name="Line 18"/>
            <p:cNvSpPr/>
            <p:nvPr/>
          </p:nvSpPr>
          <p:spPr>
            <a:xfrm>
              <a:off x="609600" y="4629150"/>
              <a:ext cx="2571750" cy="9525"/>
            </a:xfrm>
            <a:custGeom>
              <a:avLst/>
              <a:gdLst/>
              <a:ahLst/>
              <a:cxnLst/>
              <a:rect l="l" t="t" r="r" b="b"/>
              <a:pathLst>
                <a:path w="2571750" h="9525">
                  <a:moveTo>
                    <a:pt x="0" y="0"/>
                  </a:moveTo>
                  <a:lnTo>
                    <a:pt x="2571750" y="0"/>
                  </a:lnTo>
                </a:path>
              </a:pathLst>
            </a:custGeom>
            <a:noFill/>
            <a:ln w="9525">
              <a:solidFill>
                <a:srgbClr val="D3DBE1"/>
              </a:solidFill>
            </a:ln>
          </p:spPr>
        </p:sp>
        <p:sp>
          <p:nvSpPr>
            <p:cNvPr id="19" name="TextBox 19"/>
            <p:cNvSpPr txBox="1"/>
            <p:nvPr/>
          </p:nvSpPr>
          <p:spPr>
            <a:xfrm>
              <a:off x="602742" y="4737100"/>
              <a:ext cx="1916699" cy="492633"/>
            </a:xfrm>
            <a:prstGeom prst="rect">
              <a:avLst/>
            </a:prstGeom>
            <a:noFill/>
            <a:ln>
              <a:noFill/>
            </a:ln>
          </p:spPr>
          <p:txBody>
            <a:bodyPr wrap="square" lIns="0" tIns="0" rIns="0" bIns="0" anchor="t" anchorCtr="0">
              <a:spAutoFit/>
            </a:bodyPr>
            <a:lstStyle/>
            <a:p>
              <a:pPr algn="l">
                <a:lnSpc>
                  <a:spcPts val="1800"/>
                </a:lnSpc>
              </a:pPr>
              <a:r>
                <a:rPr lang="ru" sz="1350" dirty="0">
                  <a:solidFill>
                    <a:srgbClr val="4A5663"/>
                  </a:solidFill>
                  <a:latin typeface="+mn-lt"/>
                  <a:ea typeface="+mn-ea"/>
                  <a:cs typeface="+mn-cs"/>
                </a:rPr>
                <a:t>датчики, счётчики,</a:t>
              </a:r>
              <a:br>
                <a:rPr lang="ru" sz="1350" dirty="0">
                  <a:solidFill>
                    <a:srgbClr val="4A5663"/>
                  </a:solidFill>
                  <a:latin typeface="+mn-lt"/>
                  <a:ea typeface="+mn-ea"/>
                  <a:cs typeface="+mn-cs"/>
                </a:rPr>
              </a:br>
              <a:r>
                <a:rPr lang="ru" sz="1350" dirty="0">
                  <a:solidFill>
                    <a:srgbClr val="4A5663"/>
                  </a:solidFill>
                  <a:latin typeface="+mn-lt"/>
                  <a:ea typeface="+mn-ea"/>
                  <a:cs typeface="+mn-cs"/>
                </a:rPr>
                <a:t>трекеры, шлюзы</a:t>
              </a:r>
            </a:p>
          </p:txBody>
        </p:sp>
      </p:grpSp>
      <p:grpSp>
        <p:nvGrpSpPr>
          <p:cNvPr id="29" name="level-network"/>
          <p:cNvGrpSpPr/>
          <p:nvPr/>
        </p:nvGrpSpPr>
        <p:grpSpPr>
          <a:xfrm>
            <a:off x="3400806" y="2668850"/>
            <a:ext cx="2580894" cy="2560883"/>
            <a:chOff x="3400806" y="2668850"/>
            <a:chExt cx="2580894" cy="2560883"/>
          </a:xfrm>
        </p:grpSpPr>
        <p:grpSp>
          <p:nvGrpSpPr>
            <p:cNvPr id="24" name="Group 24"/>
            <p:cNvGrpSpPr/>
            <p:nvPr/>
          </p:nvGrpSpPr>
          <p:grpSpPr>
            <a:xfrm>
              <a:off x="3426233" y="2668850"/>
              <a:ext cx="348418" cy="329670"/>
              <a:chOff x="3426233" y="2668850"/>
              <a:chExt cx="348418" cy="329670"/>
            </a:xfrm>
          </p:grpSpPr>
          <p:sp>
            <p:nvSpPr>
              <p:cNvPr id="21" name="Freeform 21"/>
              <p:cNvSpPr/>
              <p:nvPr/>
            </p:nvSpPr>
            <p:spPr>
              <a:xfrm>
                <a:off x="3536428" y="2806695"/>
                <a:ext cx="128505" cy="191825"/>
              </a:xfrm>
              <a:custGeom>
                <a:avLst/>
                <a:gdLst/>
                <a:ahLst/>
                <a:cxnLst/>
                <a:rect l="l" t="t" r="r" b="b"/>
                <a:pathLst>
                  <a:path w="128505" h="191825">
                    <a:moveTo>
                      <a:pt x="64022" y="5"/>
                    </a:moveTo>
                    <a:cubicBezTo>
                      <a:pt x="76520" y="1"/>
                      <a:pt x="87858" y="7330"/>
                      <a:pt x="92986" y="18727"/>
                    </a:cubicBezTo>
                    <a:cubicBezTo>
                      <a:pt x="98115" y="30125"/>
                      <a:pt x="96079" y="43471"/>
                      <a:pt x="87787" y="52821"/>
                    </a:cubicBezTo>
                    <a:lnTo>
                      <a:pt x="126712" y="169614"/>
                    </a:lnTo>
                    <a:cubicBezTo>
                      <a:pt x="128505" y="174996"/>
                      <a:pt x="127289" y="180926"/>
                      <a:pt x="123524" y="185169"/>
                    </a:cubicBezTo>
                    <a:cubicBezTo>
                      <a:pt x="119759" y="189413"/>
                      <a:pt x="114016" y="191325"/>
                      <a:pt x="108459" y="190186"/>
                    </a:cubicBezTo>
                    <a:cubicBezTo>
                      <a:pt x="102901" y="189047"/>
                      <a:pt x="98374" y="185029"/>
                      <a:pt x="96582" y="179647"/>
                    </a:cubicBezTo>
                    <a:lnTo>
                      <a:pt x="89597" y="158756"/>
                    </a:lnTo>
                    <a:lnTo>
                      <a:pt x="38416" y="158756"/>
                    </a:lnTo>
                    <a:lnTo>
                      <a:pt x="31462" y="179663"/>
                    </a:lnTo>
                    <a:cubicBezTo>
                      <a:pt x="28917" y="187301"/>
                      <a:pt x="21057" y="191825"/>
                      <a:pt x="13174" y="190188"/>
                    </a:cubicBezTo>
                    <a:lnTo>
                      <a:pt x="11380" y="189712"/>
                    </a:lnTo>
                    <a:cubicBezTo>
                      <a:pt x="7384" y="188382"/>
                      <a:pt x="4080" y="185519"/>
                      <a:pt x="2195" y="181753"/>
                    </a:cubicBezTo>
                    <a:cubicBezTo>
                      <a:pt x="311" y="177986"/>
                      <a:pt x="0" y="173626"/>
                      <a:pt x="1331" y="169630"/>
                    </a:cubicBezTo>
                    <a:lnTo>
                      <a:pt x="40257" y="52837"/>
                    </a:lnTo>
                    <a:cubicBezTo>
                      <a:pt x="35106" y="47023"/>
                      <a:pt x="32265" y="39523"/>
                      <a:pt x="32272" y="31755"/>
                    </a:cubicBezTo>
                    <a:lnTo>
                      <a:pt x="32351" y="29374"/>
                    </a:lnTo>
                    <a:cubicBezTo>
                      <a:pt x="33597" y="12806"/>
                      <a:pt x="47407" y="0"/>
                      <a:pt x="64022" y="5"/>
                    </a:cubicBezTo>
                  </a:path>
                </a:pathLst>
              </a:custGeom>
              <a:solidFill>
                <a:srgbClr val="0E6680"/>
              </a:solidFill>
              <a:ln>
                <a:noFill/>
              </a:ln>
            </p:spPr>
          </p:sp>
          <p:sp>
            <p:nvSpPr>
              <p:cNvPr id="22" name="Freeform 22"/>
              <p:cNvSpPr/>
              <p:nvPr/>
            </p:nvSpPr>
            <p:spPr>
              <a:xfrm>
                <a:off x="3426233" y="2668850"/>
                <a:ext cx="348418" cy="242699"/>
              </a:xfrm>
              <a:custGeom>
                <a:avLst/>
                <a:gdLst/>
                <a:ahLst/>
                <a:cxnLst/>
                <a:rect l="l" t="t" r="r" b="b"/>
                <a:pathLst>
                  <a:path w="348418" h="242699">
                    <a:moveTo>
                      <a:pt x="270944" y="43838"/>
                    </a:moveTo>
                    <a:cubicBezTo>
                      <a:pt x="327983" y="87672"/>
                      <a:pt x="348418" y="164382"/>
                      <a:pt x="320744" y="230782"/>
                    </a:cubicBezTo>
                    <a:cubicBezTo>
                      <a:pt x="317369" y="238875"/>
                      <a:pt x="308072" y="242699"/>
                      <a:pt x="299980" y="239323"/>
                    </a:cubicBezTo>
                    <a:cubicBezTo>
                      <a:pt x="291887" y="235948"/>
                      <a:pt x="288063" y="226651"/>
                      <a:pt x="291439" y="218559"/>
                    </a:cubicBezTo>
                    <a:cubicBezTo>
                      <a:pt x="313575" y="165438"/>
                      <a:pt x="297225" y="104072"/>
                      <a:pt x="251594" y="69007"/>
                    </a:cubicBezTo>
                    <a:cubicBezTo>
                      <a:pt x="205963" y="33941"/>
                      <a:pt x="142456" y="33941"/>
                      <a:pt x="96825" y="69007"/>
                    </a:cubicBezTo>
                    <a:cubicBezTo>
                      <a:pt x="51194" y="104072"/>
                      <a:pt x="34845" y="165438"/>
                      <a:pt x="56981" y="218559"/>
                    </a:cubicBezTo>
                    <a:cubicBezTo>
                      <a:pt x="60356" y="226651"/>
                      <a:pt x="56532" y="235948"/>
                      <a:pt x="48440" y="239323"/>
                    </a:cubicBezTo>
                    <a:cubicBezTo>
                      <a:pt x="40347" y="242699"/>
                      <a:pt x="31051" y="238875"/>
                      <a:pt x="27675" y="230782"/>
                    </a:cubicBezTo>
                    <a:cubicBezTo>
                      <a:pt x="0" y="164381"/>
                      <a:pt x="20435" y="87668"/>
                      <a:pt x="77476" y="43834"/>
                    </a:cubicBezTo>
                    <a:cubicBezTo>
                      <a:pt x="134517" y="0"/>
                      <a:pt x="213905" y="2"/>
                      <a:pt x="270944" y="43838"/>
                    </a:cubicBezTo>
                  </a:path>
                </a:pathLst>
              </a:custGeom>
              <a:solidFill>
                <a:srgbClr val="0E6680"/>
              </a:solidFill>
              <a:ln>
                <a:noFill/>
              </a:ln>
            </p:spPr>
          </p:sp>
          <p:sp>
            <p:nvSpPr>
              <p:cNvPr id="23" name="Freeform 23"/>
              <p:cNvSpPr/>
              <p:nvPr/>
            </p:nvSpPr>
            <p:spPr>
              <a:xfrm>
                <a:off x="3495945" y="2736634"/>
                <a:ext cx="209046" cy="150388"/>
              </a:xfrm>
              <a:custGeom>
                <a:avLst/>
                <a:gdLst/>
                <a:ahLst/>
                <a:cxnLst/>
                <a:rect l="l" t="t" r="r" b="b"/>
                <a:pathLst>
                  <a:path w="209046" h="150388">
                    <a:moveTo>
                      <a:pt x="162561" y="26299"/>
                    </a:moveTo>
                    <a:cubicBezTo>
                      <a:pt x="196786" y="52601"/>
                      <a:pt x="209046" y="98630"/>
                      <a:pt x="192438" y="138472"/>
                    </a:cubicBezTo>
                    <a:cubicBezTo>
                      <a:pt x="189062" y="146564"/>
                      <a:pt x="179766" y="150388"/>
                      <a:pt x="171673" y="147013"/>
                    </a:cubicBezTo>
                    <a:cubicBezTo>
                      <a:pt x="163581" y="143637"/>
                      <a:pt x="159757" y="134341"/>
                      <a:pt x="163132" y="126248"/>
                    </a:cubicBezTo>
                    <a:cubicBezTo>
                      <a:pt x="174206" y="99687"/>
                      <a:pt x="166033" y="69000"/>
                      <a:pt x="143217" y="51465"/>
                    </a:cubicBezTo>
                    <a:cubicBezTo>
                      <a:pt x="120400" y="33929"/>
                      <a:pt x="88643" y="33929"/>
                      <a:pt x="65827" y="51465"/>
                    </a:cubicBezTo>
                    <a:cubicBezTo>
                      <a:pt x="43010" y="69000"/>
                      <a:pt x="34838" y="99687"/>
                      <a:pt x="45911" y="126248"/>
                    </a:cubicBezTo>
                    <a:cubicBezTo>
                      <a:pt x="49287" y="134341"/>
                      <a:pt x="45463" y="143637"/>
                      <a:pt x="37370" y="147013"/>
                    </a:cubicBezTo>
                    <a:cubicBezTo>
                      <a:pt x="29278" y="150388"/>
                      <a:pt x="19981" y="146564"/>
                      <a:pt x="16606" y="138472"/>
                    </a:cubicBezTo>
                    <a:cubicBezTo>
                      <a:pt x="0" y="98632"/>
                      <a:pt x="12259" y="52605"/>
                      <a:pt x="46482" y="26304"/>
                    </a:cubicBezTo>
                    <a:cubicBezTo>
                      <a:pt x="80705" y="2"/>
                      <a:pt x="128336" y="0"/>
                      <a:pt x="162561" y="26299"/>
                    </a:cubicBezTo>
                  </a:path>
                </a:pathLst>
              </a:custGeom>
              <a:solidFill>
                <a:srgbClr val="0E6680"/>
              </a:solidFill>
              <a:ln>
                <a:noFill/>
              </a:ln>
            </p:spPr>
          </p:sp>
        </p:grpSp>
        <p:sp>
          <p:nvSpPr>
            <p:cNvPr id="25" name="TextBox 25"/>
            <p:cNvSpPr txBox="1"/>
            <p:nvPr/>
          </p:nvSpPr>
          <p:spPr>
            <a:xfrm>
              <a:off x="3400806" y="3143250"/>
              <a:ext cx="814559"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Сеть</a:t>
              </a:r>
            </a:p>
          </p:txBody>
        </p:sp>
        <p:sp>
          <p:nvSpPr>
            <p:cNvPr id="26" name="TextBox 26"/>
            <p:cNvSpPr txBox="1"/>
            <p:nvPr/>
          </p:nvSpPr>
          <p:spPr>
            <a:xfrm>
              <a:off x="3401568" y="3536950"/>
              <a:ext cx="2481808" cy="894207"/>
            </a:xfrm>
            <a:prstGeom prst="rect">
              <a:avLst/>
            </a:prstGeom>
            <a:noFill/>
            <a:ln>
              <a:noFill/>
            </a:ln>
          </p:spPr>
          <p:txBody>
            <a:bodyPr wrap="square" lIns="0" tIns="0" rIns="0" bIns="0" anchor="t" anchorCtr="0">
              <a:spAutoFit/>
            </a:bodyPr>
            <a:lstStyle/>
            <a:p>
              <a:pPr algn="l">
                <a:lnSpc>
                  <a:spcPts val="2250"/>
                </a:lnSpc>
              </a:pPr>
              <a:r>
                <a:rPr lang="ru" sz="1650" dirty="0">
                  <a:solidFill>
                    <a:srgbClr val="4A5663"/>
                  </a:solidFill>
                  <a:latin typeface="+mn-lt"/>
                  <a:ea typeface="+mn-ea"/>
                  <a:cs typeface="+mn-cs"/>
                </a:rPr>
                <a:t>Передаёт сообщения</a:t>
              </a:r>
              <a:br>
                <a:rPr lang="ru" sz="1650" dirty="0">
                  <a:solidFill>
                    <a:srgbClr val="4A5663"/>
                  </a:solidFill>
                  <a:latin typeface="+mn-lt"/>
                  <a:ea typeface="+mn-ea"/>
                  <a:cs typeface="+mn-cs"/>
                </a:rPr>
              </a:br>
              <a:r>
                <a:rPr lang="ru" sz="1650" dirty="0">
                  <a:solidFill>
                    <a:srgbClr val="4A5663"/>
                  </a:solidFill>
                  <a:latin typeface="+mn-lt"/>
                  <a:ea typeface="+mn-ea"/>
                  <a:cs typeface="+mn-cs"/>
                </a:rPr>
                <a:t>от устройств</a:t>
              </a:r>
              <a:br>
                <a:rPr lang="ru" sz="1650" dirty="0">
                  <a:solidFill>
                    <a:srgbClr val="4A5663"/>
                  </a:solidFill>
                  <a:latin typeface="+mn-lt"/>
                  <a:ea typeface="+mn-ea"/>
                  <a:cs typeface="+mn-cs"/>
                </a:rPr>
              </a:br>
              <a:r>
                <a:rPr lang="ru" sz="1650" dirty="0">
                  <a:solidFill>
                    <a:srgbClr val="4A5663"/>
                  </a:solidFill>
                  <a:latin typeface="+mn-lt"/>
                  <a:ea typeface="+mn-ea"/>
                  <a:cs typeface="+mn-cs"/>
                </a:rPr>
                <a:t>к платформе</a:t>
              </a:r>
            </a:p>
          </p:txBody>
        </p:sp>
        <p:sp>
          <p:nvSpPr>
            <p:cNvPr id="27" name="Line 27"/>
            <p:cNvSpPr/>
            <p:nvPr/>
          </p:nvSpPr>
          <p:spPr>
            <a:xfrm>
              <a:off x="3409950" y="4629150"/>
              <a:ext cx="2571750" cy="9525"/>
            </a:xfrm>
            <a:custGeom>
              <a:avLst/>
              <a:gdLst/>
              <a:ahLst/>
              <a:cxnLst/>
              <a:rect l="l" t="t" r="r" b="b"/>
              <a:pathLst>
                <a:path w="2571750" h="9525">
                  <a:moveTo>
                    <a:pt x="0" y="0"/>
                  </a:moveTo>
                  <a:lnTo>
                    <a:pt x="2571750" y="0"/>
                  </a:lnTo>
                </a:path>
              </a:pathLst>
            </a:custGeom>
            <a:noFill/>
            <a:ln w="9525">
              <a:solidFill>
                <a:srgbClr val="D3DBE1"/>
              </a:solidFill>
            </a:ln>
          </p:spPr>
        </p:sp>
        <p:sp>
          <p:nvSpPr>
            <p:cNvPr id="28" name="TextBox 28"/>
            <p:cNvSpPr txBox="1"/>
            <p:nvPr/>
          </p:nvSpPr>
          <p:spPr>
            <a:xfrm>
              <a:off x="3403092" y="4737100"/>
              <a:ext cx="2062155" cy="492633"/>
            </a:xfrm>
            <a:prstGeom prst="rect">
              <a:avLst/>
            </a:prstGeom>
            <a:noFill/>
            <a:ln>
              <a:noFill/>
            </a:ln>
          </p:spPr>
          <p:txBody>
            <a:bodyPr wrap="square" lIns="0" tIns="0" rIns="0" bIns="0" anchor="t" anchorCtr="0">
              <a:spAutoFit/>
            </a:bodyPr>
            <a:lstStyle/>
            <a:p>
              <a:pPr algn="l">
                <a:lnSpc>
                  <a:spcPts val="1800"/>
                </a:lnSpc>
              </a:pPr>
              <a:r>
                <a:rPr lang="en-US" sz="1350" dirty="0">
                  <a:solidFill>
                    <a:srgbClr val="4A5663"/>
                  </a:solidFill>
                  <a:latin typeface="+mn-lt"/>
                  <a:ea typeface="+mn-ea"/>
                  <a:cs typeface="+mn-cs"/>
                </a:rPr>
                <a:t>Wi-Fi, 5G, LoRaWAN,</a:t>
              </a:r>
              <a:br>
                <a:rPr lang="en-US" sz="1350" dirty="0">
                  <a:solidFill>
                    <a:srgbClr val="4A5663"/>
                  </a:solidFill>
                  <a:latin typeface="+mn-lt"/>
                  <a:ea typeface="+mn-ea"/>
                  <a:cs typeface="+mn-cs"/>
                </a:rPr>
              </a:br>
              <a:r>
                <a:rPr lang="ru" sz="1350" dirty="0">
                  <a:solidFill>
                    <a:srgbClr val="4A5663"/>
                  </a:solidFill>
                  <a:latin typeface="+mn-lt"/>
                  <a:ea typeface="+mn-ea"/>
                  <a:cs typeface="+mn-cs"/>
                </a:rPr>
                <a:t>протокол MQTT 5.0</a:t>
              </a:r>
            </a:p>
          </p:txBody>
        </p:sp>
      </p:grpSp>
      <p:grpSp>
        <p:nvGrpSpPr>
          <p:cNvPr id="35" name="level-platform"/>
          <p:cNvGrpSpPr/>
          <p:nvPr/>
        </p:nvGrpSpPr>
        <p:grpSpPr>
          <a:xfrm>
            <a:off x="6201156" y="2673953"/>
            <a:ext cx="2580894" cy="2555780"/>
            <a:chOff x="6201156" y="2673953"/>
            <a:chExt cx="2580894" cy="2555780"/>
          </a:xfrm>
        </p:grpSpPr>
        <p:sp>
          <p:nvSpPr>
            <p:cNvPr id="30" name="Freeform 30"/>
            <p:cNvSpPr/>
            <p:nvPr/>
          </p:nvSpPr>
          <p:spPr>
            <a:xfrm>
              <a:off x="6226175" y="2673953"/>
              <a:ext cx="349251" cy="323247"/>
            </a:xfrm>
            <a:custGeom>
              <a:avLst/>
              <a:gdLst/>
              <a:ahLst/>
              <a:cxnLst/>
              <a:rect l="l" t="t" r="r" b="b"/>
              <a:pathLst>
                <a:path w="349251" h="323247">
                  <a:moveTo>
                    <a:pt x="127000" y="291497"/>
                  </a:moveTo>
                  <a:cubicBezTo>
                    <a:pt x="127000" y="309032"/>
                    <a:pt x="112785" y="323247"/>
                    <a:pt x="95250" y="323247"/>
                  </a:cubicBezTo>
                  <a:lnTo>
                    <a:pt x="31750" y="323247"/>
                  </a:lnTo>
                  <a:cubicBezTo>
                    <a:pt x="22983" y="323247"/>
                    <a:pt x="15875" y="316140"/>
                    <a:pt x="15875" y="307372"/>
                  </a:cubicBezTo>
                  <a:cubicBezTo>
                    <a:pt x="15875" y="298605"/>
                    <a:pt x="22983" y="291497"/>
                    <a:pt x="31750" y="291497"/>
                  </a:cubicBezTo>
                  <a:lnTo>
                    <a:pt x="95250" y="291497"/>
                  </a:lnTo>
                  <a:lnTo>
                    <a:pt x="95250" y="243920"/>
                  </a:lnTo>
                  <a:lnTo>
                    <a:pt x="89805" y="243936"/>
                  </a:lnTo>
                  <a:cubicBezTo>
                    <a:pt x="89184" y="243935"/>
                    <a:pt x="88564" y="243898"/>
                    <a:pt x="87948" y="243825"/>
                  </a:cubicBezTo>
                  <a:lnTo>
                    <a:pt x="86281" y="243809"/>
                  </a:lnTo>
                  <a:cubicBezTo>
                    <a:pt x="39608" y="242062"/>
                    <a:pt x="1873" y="205725"/>
                    <a:pt x="79" y="160258"/>
                  </a:cubicBezTo>
                  <a:lnTo>
                    <a:pt x="0" y="156829"/>
                  </a:lnTo>
                  <a:cubicBezTo>
                    <a:pt x="0" y="113221"/>
                    <a:pt x="33020" y="77296"/>
                    <a:pt x="75946" y="70834"/>
                  </a:cubicBezTo>
                  <a:lnTo>
                    <a:pt x="77756" y="70580"/>
                  </a:lnTo>
                  <a:lnTo>
                    <a:pt x="78867" y="67707"/>
                  </a:lnTo>
                  <a:cubicBezTo>
                    <a:pt x="89392" y="41989"/>
                    <a:pt x="111506" y="21574"/>
                    <a:pt x="139653" y="11859"/>
                  </a:cubicBezTo>
                  <a:lnTo>
                    <a:pt x="143526" y="10589"/>
                  </a:lnTo>
                  <a:cubicBezTo>
                    <a:pt x="178356" y="0"/>
                    <a:pt x="216774" y="7033"/>
                    <a:pt x="244491" y="29258"/>
                  </a:cubicBezTo>
                  <a:cubicBezTo>
                    <a:pt x="266478" y="46847"/>
                    <a:pt x="279210" y="71898"/>
                    <a:pt x="280210" y="98155"/>
                  </a:cubicBezTo>
                  <a:lnTo>
                    <a:pt x="280274" y="101521"/>
                  </a:lnTo>
                  <a:lnTo>
                    <a:pt x="281718" y="101568"/>
                  </a:lnTo>
                  <a:cubicBezTo>
                    <a:pt x="318231" y="103267"/>
                    <a:pt x="347489" y="132699"/>
                    <a:pt x="349187" y="169355"/>
                  </a:cubicBezTo>
                  <a:lnTo>
                    <a:pt x="349251" y="172704"/>
                  </a:lnTo>
                  <a:cubicBezTo>
                    <a:pt x="349251" y="212043"/>
                    <a:pt x="317548" y="243936"/>
                    <a:pt x="278369" y="243936"/>
                  </a:cubicBezTo>
                  <a:lnTo>
                    <a:pt x="254001" y="243936"/>
                  </a:lnTo>
                  <a:lnTo>
                    <a:pt x="254001" y="291497"/>
                  </a:lnTo>
                  <a:lnTo>
                    <a:pt x="317501" y="291497"/>
                  </a:lnTo>
                  <a:cubicBezTo>
                    <a:pt x="326268" y="291497"/>
                    <a:pt x="333376" y="298605"/>
                    <a:pt x="333376" y="307372"/>
                  </a:cubicBezTo>
                  <a:cubicBezTo>
                    <a:pt x="333376" y="316140"/>
                    <a:pt x="326268" y="323247"/>
                    <a:pt x="317501" y="323247"/>
                  </a:cubicBezTo>
                  <a:lnTo>
                    <a:pt x="254001" y="323247"/>
                  </a:lnTo>
                  <a:cubicBezTo>
                    <a:pt x="236465" y="323247"/>
                    <a:pt x="222250" y="309032"/>
                    <a:pt x="222250" y="291497"/>
                  </a:cubicBezTo>
                  <a:lnTo>
                    <a:pt x="222250" y="243920"/>
                  </a:lnTo>
                  <a:lnTo>
                    <a:pt x="190500" y="243920"/>
                  </a:lnTo>
                  <a:lnTo>
                    <a:pt x="190500" y="307372"/>
                  </a:lnTo>
                  <a:cubicBezTo>
                    <a:pt x="190500" y="316140"/>
                    <a:pt x="183393" y="323247"/>
                    <a:pt x="174625" y="323247"/>
                  </a:cubicBezTo>
                  <a:cubicBezTo>
                    <a:pt x="165858" y="323247"/>
                    <a:pt x="158750" y="316140"/>
                    <a:pt x="158750" y="307372"/>
                  </a:cubicBezTo>
                  <a:lnTo>
                    <a:pt x="158750" y="243920"/>
                  </a:lnTo>
                  <a:lnTo>
                    <a:pt x="127000" y="243920"/>
                  </a:lnTo>
                  <a:close/>
                </a:path>
              </a:pathLst>
            </a:custGeom>
            <a:solidFill>
              <a:srgbClr val="0E6680"/>
            </a:solidFill>
            <a:ln>
              <a:noFill/>
            </a:ln>
          </p:spPr>
        </p:sp>
        <p:sp>
          <p:nvSpPr>
            <p:cNvPr id="31" name="TextBox 31"/>
            <p:cNvSpPr txBox="1"/>
            <p:nvPr/>
          </p:nvSpPr>
          <p:spPr>
            <a:xfrm>
              <a:off x="6201156" y="3143250"/>
              <a:ext cx="1568488"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Платформа</a:t>
              </a:r>
            </a:p>
          </p:txBody>
        </p:sp>
        <p:sp>
          <p:nvSpPr>
            <p:cNvPr id="32" name="TextBox 32"/>
            <p:cNvSpPr txBox="1"/>
            <p:nvPr/>
          </p:nvSpPr>
          <p:spPr>
            <a:xfrm>
              <a:off x="6201918" y="3536950"/>
              <a:ext cx="2694867" cy="894207"/>
            </a:xfrm>
            <a:prstGeom prst="rect">
              <a:avLst/>
            </a:prstGeom>
            <a:noFill/>
            <a:ln>
              <a:noFill/>
            </a:ln>
          </p:spPr>
          <p:txBody>
            <a:bodyPr wrap="square" lIns="0" tIns="0" rIns="0" bIns="0" anchor="t" anchorCtr="0">
              <a:spAutoFit/>
            </a:bodyPr>
            <a:lstStyle/>
            <a:p>
              <a:pPr algn="l">
                <a:lnSpc>
                  <a:spcPts val="2250"/>
                </a:lnSpc>
              </a:pPr>
              <a:r>
                <a:rPr lang="ru" sz="1650" dirty="0">
                  <a:solidFill>
                    <a:srgbClr val="4A5663"/>
                  </a:solidFill>
                  <a:latin typeface="+mn-lt"/>
                  <a:ea typeface="+mn-ea"/>
                  <a:cs typeface="+mn-cs"/>
                </a:rPr>
                <a:t>Общие функции: приём,</a:t>
              </a:r>
              <a:br>
                <a:rPr lang="ru" sz="1650" dirty="0">
                  <a:solidFill>
                    <a:srgbClr val="4A5663"/>
                  </a:solidFill>
                  <a:latin typeface="+mn-lt"/>
                  <a:ea typeface="+mn-ea"/>
                  <a:cs typeface="+mn-cs"/>
                </a:rPr>
              </a:br>
              <a:r>
                <a:rPr lang="ru" sz="1650" dirty="0">
                  <a:solidFill>
                    <a:srgbClr val="4A5663"/>
                  </a:solidFill>
                  <a:latin typeface="+mn-lt"/>
                  <a:ea typeface="+mn-ea"/>
                  <a:cs typeface="+mn-cs"/>
                </a:rPr>
                <a:t>обработка и хранение</a:t>
              </a:r>
              <a:br>
                <a:rPr lang="ru" sz="1650" dirty="0">
                  <a:solidFill>
                    <a:srgbClr val="4A5663"/>
                  </a:solidFill>
                  <a:latin typeface="+mn-lt"/>
                  <a:ea typeface="+mn-ea"/>
                  <a:cs typeface="+mn-cs"/>
                </a:rPr>
              </a:br>
              <a:r>
                <a:rPr lang="ru" sz="1650" dirty="0">
                  <a:solidFill>
                    <a:srgbClr val="4A5663"/>
                  </a:solidFill>
                  <a:latin typeface="+mn-lt"/>
                  <a:ea typeface="+mn-ea"/>
                  <a:cs typeface="+mn-cs"/>
                </a:rPr>
                <a:t>данных</a:t>
              </a:r>
            </a:p>
          </p:txBody>
        </p:sp>
        <p:sp>
          <p:nvSpPr>
            <p:cNvPr id="33" name="Line 33"/>
            <p:cNvSpPr/>
            <p:nvPr/>
          </p:nvSpPr>
          <p:spPr>
            <a:xfrm>
              <a:off x="6210300" y="4629150"/>
              <a:ext cx="2571750" cy="9525"/>
            </a:xfrm>
            <a:custGeom>
              <a:avLst/>
              <a:gdLst/>
              <a:ahLst/>
              <a:cxnLst/>
              <a:rect l="l" t="t" r="r" b="b"/>
              <a:pathLst>
                <a:path w="2571750" h="9525">
                  <a:moveTo>
                    <a:pt x="0" y="0"/>
                  </a:moveTo>
                  <a:lnTo>
                    <a:pt x="2571750" y="0"/>
                  </a:lnTo>
                </a:path>
              </a:pathLst>
            </a:custGeom>
            <a:noFill/>
            <a:ln w="9525">
              <a:solidFill>
                <a:srgbClr val="D3DBE1"/>
              </a:solidFill>
            </a:ln>
          </p:spPr>
        </p:sp>
        <p:sp>
          <p:nvSpPr>
            <p:cNvPr id="34" name="TextBox 34"/>
            <p:cNvSpPr txBox="1"/>
            <p:nvPr/>
          </p:nvSpPr>
          <p:spPr>
            <a:xfrm>
              <a:off x="6203442" y="4737100"/>
              <a:ext cx="2203721" cy="492633"/>
            </a:xfrm>
            <a:prstGeom prst="rect">
              <a:avLst/>
            </a:prstGeom>
            <a:noFill/>
            <a:ln>
              <a:noFill/>
            </a:ln>
          </p:spPr>
          <p:txBody>
            <a:bodyPr wrap="square" lIns="0" tIns="0" rIns="0" bIns="0" anchor="t" anchorCtr="0">
              <a:spAutoFit/>
            </a:bodyPr>
            <a:lstStyle/>
            <a:p>
              <a:pPr algn="l">
                <a:lnSpc>
                  <a:spcPts val="1800"/>
                </a:lnSpc>
              </a:pPr>
              <a:r>
                <a:rPr lang="ru" sz="1350" dirty="0">
                  <a:solidFill>
                    <a:srgbClr val="4A5663"/>
                  </a:solidFill>
                  <a:latin typeface="+mn-lt"/>
                  <a:ea typeface="+mn-ea"/>
                  <a:cs typeface="+mn-cs"/>
                </a:rPr>
                <a:t>брокер сообщений,</a:t>
              </a:r>
              <a:br>
                <a:rPr lang="ru" sz="1350" dirty="0">
                  <a:solidFill>
                    <a:srgbClr val="4A5663"/>
                  </a:solidFill>
                  <a:latin typeface="+mn-lt"/>
                  <a:ea typeface="+mn-ea"/>
                  <a:cs typeface="+mn-cs"/>
                </a:rPr>
              </a:br>
              <a:r>
                <a:rPr lang="ru" sz="1350" dirty="0">
                  <a:solidFill>
                    <a:srgbClr val="4A5663"/>
                  </a:solidFill>
                  <a:latin typeface="+mn-lt"/>
                  <a:ea typeface="+mn-ea"/>
                  <a:cs typeface="+mn-cs"/>
                </a:rPr>
                <a:t>обработка, хранилища</a:t>
              </a:r>
            </a:p>
          </p:txBody>
        </p:sp>
      </p:grpSp>
      <p:grpSp>
        <p:nvGrpSpPr>
          <p:cNvPr id="41" name="level-apps"/>
          <p:cNvGrpSpPr/>
          <p:nvPr/>
        </p:nvGrpSpPr>
        <p:grpSpPr>
          <a:xfrm>
            <a:off x="9001506" y="2695575"/>
            <a:ext cx="2580894" cy="2534158"/>
            <a:chOff x="9001506" y="2695575"/>
            <a:chExt cx="2580894" cy="2534158"/>
          </a:xfrm>
        </p:grpSpPr>
        <p:sp>
          <p:nvSpPr>
            <p:cNvPr id="36" name="Freeform 36"/>
            <p:cNvSpPr/>
            <p:nvPr/>
          </p:nvSpPr>
          <p:spPr>
            <a:xfrm>
              <a:off x="9058275" y="2695575"/>
              <a:ext cx="285751" cy="285751"/>
            </a:xfrm>
            <a:custGeom>
              <a:avLst/>
              <a:gdLst/>
              <a:ahLst/>
              <a:cxnLst/>
              <a:rect l="l" t="t" r="r" b="b"/>
              <a:pathLst>
                <a:path w="285751" h="285751">
                  <a:moveTo>
                    <a:pt x="95250" y="0"/>
                  </a:moveTo>
                  <a:cubicBezTo>
                    <a:pt x="112785" y="0"/>
                    <a:pt x="127000" y="14215"/>
                    <a:pt x="127000" y="31750"/>
                  </a:cubicBezTo>
                  <a:lnTo>
                    <a:pt x="127000" y="127000"/>
                  </a:lnTo>
                  <a:cubicBezTo>
                    <a:pt x="127000" y="144535"/>
                    <a:pt x="112785" y="158750"/>
                    <a:pt x="95250" y="158750"/>
                  </a:cubicBezTo>
                  <a:lnTo>
                    <a:pt x="31750" y="158750"/>
                  </a:lnTo>
                  <a:cubicBezTo>
                    <a:pt x="14215" y="158750"/>
                    <a:pt x="0" y="144535"/>
                    <a:pt x="0" y="127000"/>
                  </a:cubicBezTo>
                  <a:lnTo>
                    <a:pt x="0" y="31750"/>
                  </a:lnTo>
                  <a:cubicBezTo>
                    <a:pt x="0" y="14215"/>
                    <a:pt x="14215" y="0"/>
                    <a:pt x="31750" y="0"/>
                  </a:cubicBezTo>
                  <a:close/>
                  <a:moveTo>
                    <a:pt x="95250" y="190500"/>
                  </a:moveTo>
                  <a:cubicBezTo>
                    <a:pt x="112785" y="190500"/>
                    <a:pt x="127000" y="204715"/>
                    <a:pt x="127000" y="222250"/>
                  </a:cubicBezTo>
                  <a:lnTo>
                    <a:pt x="127000" y="254001"/>
                  </a:lnTo>
                  <a:cubicBezTo>
                    <a:pt x="127000" y="271536"/>
                    <a:pt x="112785" y="285751"/>
                    <a:pt x="95250" y="285751"/>
                  </a:cubicBezTo>
                  <a:lnTo>
                    <a:pt x="31750" y="285751"/>
                  </a:lnTo>
                  <a:cubicBezTo>
                    <a:pt x="14215" y="285751"/>
                    <a:pt x="0" y="271536"/>
                    <a:pt x="0" y="254001"/>
                  </a:cubicBezTo>
                  <a:lnTo>
                    <a:pt x="0" y="222250"/>
                  </a:lnTo>
                  <a:cubicBezTo>
                    <a:pt x="0" y="204715"/>
                    <a:pt x="14215" y="190500"/>
                    <a:pt x="31750" y="190500"/>
                  </a:cubicBezTo>
                  <a:close/>
                  <a:moveTo>
                    <a:pt x="254001" y="127000"/>
                  </a:moveTo>
                  <a:cubicBezTo>
                    <a:pt x="271536" y="127000"/>
                    <a:pt x="285751" y="141215"/>
                    <a:pt x="285751" y="158750"/>
                  </a:cubicBezTo>
                  <a:lnTo>
                    <a:pt x="285751" y="254001"/>
                  </a:lnTo>
                  <a:cubicBezTo>
                    <a:pt x="285751" y="271536"/>
                    <a:pt x="271536" y="285751"/>
                    <a:pt x="254001" y="285751"/>
                  </a:cubicBezTo>
                  <a:lnTo>
                    <a:pt x="190500" y="285751"/>
                  </a:lnTo>
                  <a:cubicBezTo>
                    <a:pt x="172965" y="285751"/>
                    <a:pt x="158750" y="271536"/>
                    <a:pt x="158750" y="254001"/>
                  </a:cubicBezTo>
                  <a:lnTo>
                    <a:pt x="158750" y="158750"/>
                  </a:lnTo>
                  <a:cubicBezTo>
                    <a:pt x="158750" y="141215"/>
                    <a:pt x="172965" y="127000"/>
                    <a:pt x="190500" y="127000"/>
                  </a:cubicBezTo>
                  <a:close/>
                  <a:moveTo>
                    <a:pt x="254001" y="0"/>
                  </a:moveTo>
                  <a:cubicBezTo>
                    <a:pt x="271536" y="0"/>
                    <a:pt x="285751" y="14215"/>
                    <a:pt x="285751" y="31750"/>
                  </a:cubicBezTo>
                  <a:lnTo>
                    <a:pt x="285751" y="63500"/>
                  </a:lnTo>
                  <a:cubicBezTo>
                    <a:pt x="285751" y="81035"/>
                    <a:pt x="271536" y="95250"/>
                    <a:pt x="254001" y="95250"/>
                  </a:cubicBezTo>
                  <a:lnTo>
                    <a:pt x="190500" y="95250"/>
                  </a:lnTo>
                  <a:cubicBezTo>
                    <a:pt x="172965" y="95250"/>
                    <a:pt x="158750" y="81035"/>
                    <a:pt x="158750" y="63500"/>
                  </a:cubicBezTo>
                  <a:lnTo>
                    <a:pt x="158750" y="31750"/>
                  </a:lnTo>
                  <a:cubicBezTo>
                    <a:pt x="158750" y="14215"/>
                    <a:pt x="172965" y="0"/>
                    <a:pt x="190500" y="0"/>
                  </a:cubicBezTo>
                  <a:close/>
                </a:path>
              </a:pathLst>
            </a:custGeom>
            <a:solidFill>
              <a:srgbClr val="0E6680"/>
            </a:solidFill>
            <a:ln>
              <a:noFill/>
            </a:ln>
          </p:spPr>
        </p:sp>
        <p:sp>
          <p:nvSpPr>
            <p:cNvPr id="37" name="TextBox 37"/>
            <p:cNvSpPr txBox="1"/>
            <p:nvPr/>
          </p:nvSpPr>
          <p:spPr>
            <a:xfrm>
              <a:off x="9001506" y="3143250"/>
              <a:ext cx="173921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Приложения</a:t>
              </a:r>
            </a:p>
          </p:txBody>
        </p:sp>
        <p:sp>
          <p:nvSpPr>
            <p:cNvPr id="38" name="TextBox 38"/>
            <p:cNvSpPr txBox="1"/>
            <p:nvPr/>
          </p:nvSpPr>
          <p:spPr>
            <a:xfrm>
              <a:off x="9002268" y="3536950"/>
              <a:ext cx="2834044" cy="608457"/>
            </a:xfrm>
            <a:prstGeom prst="rect">
              <a:avLst/>
            </a:prstGeom>
            <a:noFill/>
            <a:ln>
              <a:noFill/>
            </a:ln>
          </p:spPr>
          <p:txBody>
            <a:bodyPr wrap="square" lIns="0" tIns="0" rIns="0" bIns="0" anchor="t" anchorCtr="0">
              <a:spAutoFit/>
            </a:bodyPr>
            <a:lstStyle/>
            <a:p>
              <a:pPr algn="l">
                <a:lnSpc>
                  <a:spcPts val="2250"/>
                </a:lnSpc>
              </a:pPr>
              <a:r>
                <a:rPr lang="ru" sz="1650" dirty="0">
                  <a:solidFill>
                    <a:srgbClr val="4A5663"/>
                  </a:solidFill>
                  <a:latin typeface="+mn-lt"/>
                  <a:ea typeface="+mn-ea"/>
                  <a:cs typeface="+mn-cs"/>
                </a:rPr>
                <a:t>Отчёты, оповещения</a:t>
              </a:r>
              <a:br>
                <a:rPr lang="ru" sz="1650" dirty="0">
                  <a:solidFill>
                    <a:srgbClr val="4A5663"/>
                  </a:solidFill>
                  <a:latin typeface="+mn-lt"/>
                  <a:ea typeface="+mn-ea"/>
                  <a:cs typeface="+mn-cs"/>
                </a:rPr>
              </a:br>
              <a:r>
                <a:rPr lang="ru" sz="1650" dirty="0">
                  <a:solidFill>
                    <a:srgbClr val="4A5663"/>
                  </a:solidFill>
                  <a:latin typeface="+mn-lt"/>
                  <a:ea typeface="+mn-ea"/>
                  <a:cs typeface="+mn-cs"/>
                </a:rPr>
                <a:t>и управляющие команды</a:t>
              </a:r>
            </a:p>
          </p:txBody>
        </p:sp>
        <p:sp>
          <p:nvSpPr>
            <p:cNvPr id="39" name="Line 39"/>
            <p:cNvSpPr/>
            <p:nvPr/>
          </p:nvSpPr>
          <p:spPr>
            <a:xfrm>
              <a:off x="9010650" y="4629150"/>
              <a:ext cx="2571750" cy="9525"/>
            </a:xfrm>
            <a:custGeom>
              <a:avLst/>
              <a:gdLst/>
              <a:ahLst/>
              <a:cxnLst/>
              <a:rect l="l" t="t" r="r" b="b"/>
              <a:pathLst>
                <a:path w="2571750" h="9525">
                  <a:moveTo>
                    <a:pt x="0" y="0"/>
                  </a:moveTo>
                  <a:lnTo>
                    <a:pt x="2571750" y="0"/>
                  </a:lnTo>
                </a:path>
              </a:pathLst>
            </a:custGeom>
            <a:noFill/>
            <a:ln w="9525">
              <a:solidFill>
                <a:srgbClr val="D3DBE1"/>
              </a:solidFill>
            </a:ln>
          </p:spPr>
        </p:sp>
        <p:sp>
          <p:nvSpPr>
            <p:cNvPr id="40" name="TextBox 40"/>
            <p:cNvSpPr txBox="1"/>
            <p:nvPr/>
          </p:nvSpPr>
          <p:spPr>
            <a:xfrm>
              <a:off x="9003792" y="4737100"/>
              <a:ext cx="2260656" cy="492633"/>
            </a:xfrm>
            <a:prstGeom prst="rect">
              <a:avLst/>
            </a:prstGeom>
            <a:noFill/>
            <a:ln>
              <a:noFill/>
            </a:ln>
          </p:spPr>
          <p:txBody>
            <a:bodyPr wrap="square" lIns="0" tIns="0" rIns="0" bIns="0" anchor="t" anchorCtr="0">
              <a:spAutoFit/>
            </a:bodyPr>
            <a:lstStyle/>
            <a:p>
              <a:pPr algn="l">
                <a:lnSpc>
                  <a:spcPts val="1800"/>
                </a:lnSpc>
              </a:pPr>
              <a:r>
                <a:rPr lang="ru" sz="1350" dirty="0">
                  <a:solidFill>
                    <a:srgbClr val="4A5663"/>
                  </a:solidFill>
                  <a:latin typeface="+mn-lt"/>
                  <a:ea typeface="+mn-ea"/>
                  <a:cs typeface="+mn-cs"/>
                </a:rPr>
                <a:t>мониторинг,</a:t>
              </a:r>
              <a:br>
                <a:rPr lang="ru" sz="1350" dirty="0">
                  <a:solidFill>
                    <a:srgbClr val="4A5663"/>
                  </a:solidFill>
                  <a:latin typeface="+mn-lt"/>
                  <a:ea typeface="+mn-ea"/>
                  <a:cs typeface="+mn-cs"/>
                </a:rPr>
              </a:br>
              <a:r>
                <a:rPr lang="ru" sz="1350" dirty="0">
                  <a:solidFill>
                    <a:srgbClr val="4A5663"/>
                  </a:solidFill>
                  <a:latin typeface="+mn-lt"/>
                  <a:ea typeface="+mn-ea"/>
                  <a:cs typeface="+mn-cs"/>
                </a:rPr>
                <a:t>диспетчерские панели</a:t>
              </a:r>
            </a:p>
          </p:txBody>
        </p:sp>
      </p:grpSp>
      <p:grpSp>
        <p:nvGrpSpPr>
          <p:cNvPr id="43" name="model-source"/>
          <p:cNvGrpSpPr/>
          <p:nvPr/>
        </p:nvGrpSpPr>
        <p:grpSpPr>
          <a:xfrm>
            <a:off x="7071946" y="5391150"/>
            <a:ext cx="4516550" cy="234696"/>
            <a:chOff x="7071946" y="5391150"/>
            <a:chExt cx="4516550" cy="234696"/>
          </a:xfrm>
        </p:grpSpPr>
        <p:sp>
          <p:nvSpPr>
            <p:cNvPr id="42" name="TextBox 42"/>
            <p:cNvSpPr txBox="1"/>
            <p:nvPr/>
          </p:nvSpPr>
          <p:spPr>
            <a:xfrm>
              <a:off x="6078305" y="5391150"/>
              <a:ext cx="5510191"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Эталонная модель: ITU-T Y.2060 (2012), в упрощённом виде</a:t>
              </a:r>
            </a:p>
          </p:txBody>
        </p:sp>
      </p:grpSp>
      <p:grpSp>
        <p:nvGrpSpPr>
          <p:cNvPr id="46" name="return-path"/>
          <p:cNvGrpSpPr/>
          <p:nvPr/>
        </p:nvGrpSpPr>
        <p:grpSpPr>
          <a:xfrm>
            <a:off x="685800" y="5721350"/>
            <a:ext cx="10839450" cy="393701"/>
            <a:chOff x="685800" y="5721350"/>
            <a:chExt cx="10839450" cy="393701"/>
          </a:xfrm>
        </p:grpSpPr>
        <p:sp>
          <p:nvSpPr>
            <p:cNvPr id="44" name="TextBox 44"/>
            <p:cNvSpPr txBox="1"/>
            <p:nvPr/>
          </p:nvSpPr>
          <p:spPr>
            <a:xfrm>
              <a:off x="2545021" y="5721350"/>
              <a:ext cx="7101959" cy="264033"/>
            </a:xfrm>
            <a:prstGeom prst="rect">
              <a:avLst/>
            </a:prstGeom>
            <a:noFill/>
            <a:ln>
              <a:noFill/>
            </a:ln>
          </p:spPr>
          <p:txBody>
            <a:bodyPr wrap="square" lIns="0" tIns="0" rIns="0" bIns="0" anchor="t" anchorCtr="0">
              <a:spAutoFit/>
            </a:bodyPr>
            <a:lstStyle/>
            <a:p>
              <a:pPr algn="ctr"/>
              <a:r>
                <a:rPr lang="ru" sz="1350" dirty="0">
                  <a:solidFill>
                    <a:srgbClr val="4A5663"/>
                  </a:solidFill>
                  <a:latin typeface="+mn-lt"/>
                  <a:ea typeface="+mn-ea"/>
                  <a:cs typeface="+mn-cs"/>
                </a:rPr>
                <a:t>Обратный путь: управляющие команды от приложений к устройствам</a:t>
              </a:r>
            </a:p>
          </p:txBody>
        </p:sp>
        <p:sp>
          <p:nvSpPr>
            <p:cNvPr id="45" name="Line 45"/>
            <p:cNvSpPr/>
            <p:nvPr/>
          </p:nvSpPr>
          <p:spPr>
            <a:xfrm flipH="1">
              <a:off x="685800" y="6115050"/>
              <a:ext cx="10839450" cy="1"/>
            </a:xfrm>
            <a:prstGeom prst="line">
              <a:avLst/>
            </a:prstGeom>
            <a:noFill/>
            <a:ln w="19050">
              <a:solidFill>
                <a:srgbClr val="5F6B76"/>
              </a:solidFill>
              <a:prstDash val="lgDash"/>
              <a:tailEnd type="triangle" w="lg" len="lg"/>
            </a:ln>
          </p:spPr>
        </p:sp>
      </p:grpSp>
      <p:grpSp>
        <p:nvGrpSpPr>
          <p:cNvPr id="50" name="footer"/>
          <p:cNvGrpSpPr/>
          <p:nvPr/>
        </p:nvGrpSpPr>
        <p:grpSpPr>
          <a:xfrm>
            <a:off x="603504" y="6400800"/>
            <a:ext cx="10984992" cy="348996"/>
            <a:chOff x="603504" y="6400800"/>
            <a:chExt cx="10984992" cy="348996"/>
          </a:xfrm>
        </p:grpSpPr>
        <p:sp>
          <p:nvSpPr>
            <p:cNvPr id="47" name="Line 47"/>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48" name="TextBox 48"/>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49" name="TextBox 49"/>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4 / 12</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679682" cy="1127379"/>
            <a:chOff x="596646" y="381000"/>
            <a:chExt cx="7679682"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369212"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Данные устройств образуют непрерывный поток</a:t>
              </a:r>
              <a:br>
                <a:rPr lang="ru" sz="2550" b="1" dirty="0">
                  <a:solidFill>
                    <a:srgbClr val="17212B"/>
                  </a:solidFill>
                  <a:latin typeface="+mn-lt"/>
                  <a:ea typeface="+mn-ea"/>
                  <a:cs typeface="+mn-cs"/>
                </a:rPr>
              </a:br>
              <a:r>
                <a:rPr lang="ru" sz="2550" b="1" dirty="0">
                  <a:solidFill>
                    <a:srgbClr val="17212B"/>
                  </a:solidFill>
                  <a:latin typeface="+mn-lt"/>
                  <a:ea typeface="+mn-ea"/>
                  <a:cs typeface="+mn-cs"/>
                </a:rPr>
                <a:t>без заранее известного конца</a:t>
              </a:r>
            </a:p>
          </p:txBody>
        </p:sp>
      </p:grpSp>
      <p:grpSp>
        <p:nvGrpSpPr>
          <p:cNvPr id="81" name="event-lanes"/>
          <p:cNvGrpSpPr/>
          <p:nvPr/>
        </p:nvGrpSpPr>
        <p:grpSpPr>
          <a:xfrm>
            <a:off x="602742" y="1682750"/>
            <a:ext cx="10891266" cy="2340483"/>
            <a:chOff x="602742" y="1682750"/>
            <a:chExt cx="10891266" cy="2340483"/>
          </a:xfrm>
        </p:grpSpPr>
        <p:sp>
          <p:nvSpPr>
            <p:cNvPr id="5" name="TextBox 5"/>
            <p:cNvSpPr txBox="1"/>
            <p:nvPr/>
          </p:nvSpPr>
          <p:spPr>
            <a:xfrm>
              <a:off x="8243857" y="1682750"/>
              <a:ext cx="325015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нет заранее известного конца</a:t>
              </a:r>
            </a:p>
          </p:txBody>
        </p:sp>
        <p:grpSp>
          <p:nvGrpSpPr>
            <p:cNvPr id="9" name="lane-labels"/>
            <p:cNvGrpSpPr/>
            <p:nvPr/>
          </p:nvGrpSpPr>
          <p:grpSpPr>
            <a:xfrm>
              <a:off x="602742" y="2006600"/>
              <a:ext cx="802374" cy="1749933"/>
              <a:chOff x="602742" y="2006600"/>
              <a:chExt cx="802374" cy="1749933"/>
            </a:xfrm>
          </p:grpSpPr>
          <p:sp>
            <p:nvSpPr>
              <p:cNvPr id="6" name="TextBox 6"/>
              <p:cNvSpPr txBox="1"/>
              <p:nvPr/>
            </p:nvSpPr>
            <p:spPr>
              <a:xfrm>
                <a:off x="602742" y="2006600"/>
                <a:ext cx="1030974" cy="264033"/>
              </a:xfrm>
              <a:prstGeom prst="rect">
                <a:avLst/>
              </a:prstGeom>
              <a:noFill/>
              <a:ln>
                <a:noFill/>
              </a:ln>
            </p:spPr>
            <p:txBody>
              <a:bodyPr wrap="square" lIns="0" tIns="0" rIns="0" bIns="0" anchor="t" anchorCtr="0">
                <a:spAutoFit/>
              </a:bodyPr>
              <a:lstStyle/>
              <a:p>
                <a:pPr algn="l"/>
                <a:r>
                  <a:rPr lang="ru" sz="1350" b="1" dirty="0">
                    <a:solidFill>
                      <a:srgbClr val="4A5663"/>
                    </a:solidFill>
                    <a:latin typeface="+mn-lt"/>
                    <a:ea typeface="+mn-ea"/>
                    <a:cs typeface="+mn-cs"/>
                  </a:rPr>
                  <a:t>Датчик 1</a:t>
                </a:r>
              </a:p>
            </p:txBody>
          </p:sp>
          <p:sp>
            <p:nvSpPr>
              <p:cNvPr id="7" name="TextBox 7"/>
              <p:cNvSpPr txBox="1"/>
              <p:nvPr/>
            </p:nvSpPr>
            <p:spPr>
              <a:xfrm>
                <a:off x="602742" y="2749550"/>
                <a:ext cx="1030974" cy="264033"/>
              </a:xfrm>
              <a:prstGeom prst="rect">
                <a:avLst/>
              </a:prstGeom>
              <a:noFill/>
              <a:ln>
                <a:noFill/>
              </a:ln>
            </p:spPr>
            <p:txBody>
              <a:bodyPr wrap="square" lIns="0" tIns="0" rIns="0" bIns="0" anchor="t" anchorCtr="0">
                <a:spAutoFit/>
              </a:bodyPr>
              <a:lstStyle/>
              <a:p>
                <a:pPr algn="l"/>
                <a:r>
                  <a:rPr lang="ru" sz="1350" b="1" dirty="0">
                    <a:solidFill>
                      <a:srgbClr val="4A5663"/>
                    </a:solidFill>
                    <a:latin typeface="+mn-lt"/>
                    <a:ea typeface="+mn-ea"/>
                    <a:cs typeface="+mn-cs"/>
                  </a:rPr>
                  <a:t>Датчик 2</a:t>
                </a:r>
              </a:p>
            </p:txBody>
          </p:sp>
          <p:sp>
            <p:nvSpPr>
              <p:cNvPr id="8" name="TextBox 8"/>
              <p:cNvSpPr txBox="1"/>
              <p:nvPr/>
            </p:nvSpPr>
            <p:spPr>
              <a:xfrm>
                <a:off x="602742" y="3492500"/>
                <a:ext cx="1030974" cy="264033"/>
              </a:xfrm>
              <a:prstGeom prst="rect">
                <a:avLst/>
              </a:prstGeom>
              <a:noFill/>
              <a:ln>
                <a:noFill/>
              </a:ln>
            </p:spPr>
            <p:txBody>
              <a:bodyPr wrap="square" lIns="0" tIns="0" rIns="0" bIns="0" anchor="t" anchorCtr="0">
                <a:spAutoFit/>
              </a:bodyPr>
              <a:lstStyle/>
              <a:p>
                <a:pPr algn="l"/>
                <a:r>
                  <a:rPr lang="ru" sz="1350" b="1" dirty="0">
                    <a:solidFill>
                      <a:srgbClr val="4A5663"/>
                    </a:solidFill>
                    <a:latin typeface="+mn-lt"/>
                    <a:ea typeface="+mn-ea"/>
                    <a:cs typeface="+mn-cs"/>
                  </a:rPr>
                  <a:t>Датчик 3</a:t>
                </a:r>
              </a:p>
            </p:txBody>
          </p:sp>
        </p:grpSp>
        <p:grpSp>
          <p:nvGrpSpPr>
            <p:cNvPr id="14" name="lane-lines"/>
            <p:cNvGrpSpPr/>
            <p:nvPr/>
          </p:nvGrpSpPr>
          <p:grpSpPr>
            <a:xfrm>
              <a:off x="1714500" y="2114550"/>
              <a:ext cx="9772650" cy="1485901"/>
              <a:chOff x="1714500" y="2114550"/>
              <a:chExt cx="9772650" cy="1485901"/>
            </a:xfrm>
          </p:grpSpPr>
          <p:sp>
            <p:nvSpPr>
              <p:cNvPr id="10" name="Line 10"/>
              <p:cNvSpPr/>
              <p:nvPr/>
            </p:nvSpPr>
            <p:spPr>
              <a:xfrm>
                <a:off x="1714500" y="2114550"/>
                <a:ext cx="9772650" cy="1"/>
              </a:xfrm>
              <a:prstGeom prst="line">
                <a:avLst/>
              </a:prstGeom>
              <a:noFill/>
              <a:ln w="19050">
                <a:solidFill>
                  <a:srgbClr val="4A5663"/>
                </a:solidFill>
                <a:tailEnd type="triangle" w="lg" len="lg"/>
              </a:ln>
            </p:spPr>
          </p:sp>
          <p:sp>
            <p:nvSpPr>
              <p:cNvPr id="11" name="Line 11"/>
              <p:cNvSpPr/>
              <p:nvPr/>
            </p:nvSpPr>
            <p:spPr>
              <a:xfrm>
                <a:off x="1714500" y="2857500"/>
                <a:ext cx="2781300" cy="9525"/>
              </a:xfrm>
              <a:custGeom>
                <a:avLst/>
                <a:gdLst/>
                <a:ahLst/>
                <a:cxnLst/>
                <a:rect l="l" t="t" r="r" b="b"/>
                <a:pathLst>
                  <a:path w="2781300" h="9525">
                    <a:moveTo>
                      <a:pt x="0" y="0"/>
                    </a:moveTo>
                    <a:lnTo>
                      <a:pt x="2781300" y="0"/>
                    </a:lnTo>
                  </a:path>
                </a:pathLst>
              </a:custGeom>
              <a:noFill/>
              <a:ln w="19050">
                <a:solidFill>
                  <a:srgbClr val="4A5663"/>
                </a:solidFill>
              </a:ln>
            </p:spPr>
          </p:sp>
          <p:sp>
            <p:nvSpPr>
              <p:cNvPr id="12" name="Line 12"/>
              <p:cNvSpPr/>
              <p:nvPr/>
            </p:nvSpPr>
            <p:spPr>
              <a:xfrm>
                <a:off x="7391400" y="2857500"/>
                <a:ext cx="4095750" cy="1"/>
              </a:xfrm>
              <a:prstGeom prst="line">
                <a:avLst/>
              </a:prstGeom>
              <a:noFill/>
              <a:ln w="19050">
                <a:solidFill>
                  <a:srgbClr val="4A5663"/>
                </a:solidFill>
                <a:tailEnd type="triangle" w="lg" len="lg"/>
              </a:ln>
            </p:spPr>
          </p:sp>
          <p:sp>
            <p:nvSpPr>
              <p:cNvPr id="13" name="Line 13"/>
              <p:cNvSpPr/>
              <p:nvPr/>
            </p:nvSpPr>
            <p:spPr>
              <a:xfrm>
                <a:off x="1714500" y="3600450"/>
                <a:ext cx="9772650" cy="1"/>
              </a:xfrm>
              <a:prstGeom prst="line">
                <a:avLst/>
              </a:prstGeom>
              <a:noFill/>
              <a:ln w="19050">
                <a:solidFill>
                  <a:srgbClr val="4A5663"/>
                </a:solidFill>
                <a:tailEnd type="triangle" w="lg" len="lg"/>
              </a:ln>
            </p:spPr>
          </p:sp>
        </p:grpSp>
        <p:sp>
          <p:nvSpPr>
            <p:cNvPr id="15" name="Line 15"/>
            <p:cNvSpPr/>
            <p:nvPr/>
          </p:nvSpPr>
          <p:spPr>
            <a:xfrm>
              <a:off x="4572000" y="2857500"/>
              <a:ext cx="2743200" cy="9525"/>
            </a:xfrm>
            <a:custGeom>
              <a:avLst/>
              <a:gdLst/>
              <a:ahLst/>
              <a:cxnLst/>
              <a:rect l="l" t="t" r="r" b="b"/>
              <a:pathLst>
                <a:path w="2743200" h="9525">
                  <a:moveTo>
                    <a:pt x="0" y="0"/>
                  </a:moveTo>
                  <a:lnTo>
                    <a:pt x="2743200" y="0"/>
                  </a:lnTo>
                </a:path>
              </a:pathLst>
            </a:custGeom>
            <a:noFill/>
            <a:ln w="19050">
              <a:solidFill>
                <a:srgbClr val="B35A12"/>
              </a:solidFill>
              <a:custDash>
                <a:ds d="300000" sp="300000"/>
              </a:custDash>
            </a:ln>
          </p:spPr>
        </p:sp>
        <p:sp>
          <p:nvSpPr>
            <p:cNvPr id="16" name="TextBox 16"/>
            <p:cNvSpPr txBox="1"/>
            <p:nvPr/>
          </p:nvSpPr>
          <p:spPr>
            <a:xfrm>
              <a:off x="5397377" y="2559050"/>
              <a:ext cx="1092445" cy="264033"/>
            </a:xfrm>
            <a:prstGeom prst="rect">
              <a:avLst/>
            </a:prstGeom>
            <a:noFill/>
            <a:ln>
              <a:noFill/>
            </a:ln>
          </p:spPr>
          <p:txBody>
            <a:bodyPr wrap="square" lIns="0" tIns="0" rIns="0" bIns="0" anchor="t" anchorCtr="0">
              <a:spAutoFit/>
            </a:bodyPr>
            <a:lstStyle/>
            <a:p>
              <a:pPr algn="ctr"/>
              <a:r>
                <a:rPr lang="ru" sz="1350" dirty="0">
                  <a:solidFill>
                    <a:srgbClr val="B35A12"/>
                  </a:solidFill>
                  <a:latin typeface="+mn-lt"/>
                  <a:ea typeface="+mn-ea"/>
                  <a:cs typeface="+mn-cs"/>
                </a:rPr>
                <a:t>нет связи</a:t>
              </a:r>
            </a:p>
          </p:txBody>
        </p:sp>
        <p:grpSp>
          <p:nvGrpSpPr>
            <p:cNvPr id="34" name="lane-1-events"/>
            <p:cNvGrpSpPr/>
            <p:nvPr/>
          </p:nvGrpSpPr>
          <p:grpSpPr>
            <a:xfrm>
              <a:off x="1933575" y="2047875"/>
              <a:ext cx="9277350" cy="133350"/>
              <a:chOff x="1933575" y="2047875"/>
              <a:chExt cx="9277350" cy="133350"/>
            </a:xfrm>
          </p:grpSpPr>
          <p:sp>
            <p:nvSpPr>
              <p:cNvPr id="17" name="Ellipse 17"/>
              <p:cNvSpPr/>
              <p:nvPr/>
            </p:nvSpPr>
            <p:spPr>
              <a:xfrm>
                <a:off x="1933575" y="2047875"/>
                <a:ext cx="133350" cy="133350"/>
              </a:xfrm>
              <a:prstGeom prst="ellipse">
                <a:avLst/>
              </a:prstGeom>
              <a:solidFill>
                <a:srgbClr val="0E6680"/>
              </a:solidFill>
              <a:ln>
                <a:noFill/>
              </a:ln>
            </p:spPr>
          </p:sp>
          <p:sp>
            <p:nvSpPr>
              <p:cNvPr id="18" name="Ellipse 18"/>
              <p:cNvSpPr/>
              <p:nvPr/>
            </p:nvSpPr>
            <p:spPr>
              <a:xfrm>
                <a:off x="2505075" y="2047875"/>
                <a:ext cx="133350" cy="133350"/>
              </a:xfrm>
              <a:prstGeom prst="ellipse">
                <a:avLst/>
              </a:prstGeom>
              <a:solidFill>
                <a:srgbClr val="0E6680"/>
              </a:solidFill>
              <a:ln>
                <a:noFill/>
              </a:ln>
            </p:spPr>
          </p:sp>
          <p:sp>
            <p:nvSpPr>
              <p:cNvPr id="19" name="Ellipse 19"/>
              <p:cNvSpPr/>
              <p:nvPr/>
            </p:nvSpPr>
            <p:spPr>
              <a:xfrm>
                <a:off x="3076575" y="2047875"/>
                <a:ext cx="133350" cy="133350"/>
              </a:xfrm>
              <a:prstGeom prst="ellipse">
                <a:avLst/>
              </a:prstGeom>
              <a:solidFill>
                <a:srgbClr val="0E6680"/>
              </a:solidFill>
              <a:ln>
                <a:noFill/>
              </a:ln>
            </p:spPr>
          </p:sp>
          <p:sp>
            <p:nvSpPr>
              <p:cNvPr id="20" name="Ellipse 20"/>
              <p:cNvSpPr/>
              <p:nvPr/>
            </p:nvSpPr>
            <p:spPr>
              <a:xfrm>
                <a:off x="3648075" y="2047875"/>
                <a:ext cx="133350" cy="133350"/>
              </a:xfrm>
              <a:prstGeom prst="ellipse">
                <a:avLst/>
              </a:prstGeom>
              <a:solidFill>
                <a:srgbClr val="0E6680"/>
              </a:solidFill>
              <a:ln>
                <a:noFill/>
              </a:ln>
            </p:spPr>
          </p:sp>
          <p:sp>
            <p:nvSpPr>
              <p:cNvPr id="21" name="Ellipse 21"/>
              <p:cNvSpPr/>
              <p:nvPr/>
            </p:nvSpPr>
            <p:spPr>
              <a:xfrm>
                <a:off x="4219575" y="2047875"/>
                <a:ext cx="133350" cy="133350"/>
              </a:xfrm>
              <a:prstGeom prst="ellipse">
                <a:avLst/>
              </a:prstGeom>
              <a:solidFill>
                <a:srgbClr val="0E6680"/>
              </a:solidFill>
              <a:ln>
                <a:noFill/>
              </a:ln>
            </p:spPr>
          </p:sp>
          <p:sp>
            <p:nvSpPr>
              <p:cNvPr id="22" name="Ellipse 22"/>
              <p:cNvSpPr/>
              <p:nvPr/>
            </p:nvSpPr>
            <p:spPr>
              <a:xfrm>
                <a:off x="4791075" y="2047875"/>
                <a:ext cx="133350" cy="133350"/>
              </a:xfrm>
              <a:prstGeom prst="ellipse">
                <a:avLst/>
              </a:prstGeom>
              <a:solidFill>
                <a:srgbClr val="0E6680"/>
              </a:solidFill>
              <a:ln>
                <a:noFill/>
              </a:ln>
            </p:spPr>
          </p:sp>
          <p:sp>
            <p:nvSpPr>
              <p:cNvPr id="23" name="Ellipse 23"/>
              <p:cNvSpPr/>
              <p:nvPr/>
            </p:nvSpPr>
            <p:spPr>
              <a:xfrm>
                <a:off x="5362575" y="2047875"/>
                <a:ext cx="133350" cy="133350"/>
              </a:xfrm>
              <a:prstGeom prst="ellipse">
                <a:avLst/>
              </a:prstGeom>
              <a:solidFill>
                <a:srgbClr val="0E6680"/>
              </a:solidFill>
              <a:ln>
                <a:noFill/>
              </a:ln>
            </p:spPr>
          </p:sp>
          <p:sp>
            <p:nvSpPr>
              <p:cNvPr id="24" name="Ellipse 24"/>
              <p:cNvSpPr/>
              <p:nvPr/>
            </p:nvSpPr>
            <p:spPr>
              <a:xfrm>
                <a:off x="5934075" y="2047875"/>
                <a:ext cx="133350" cy="133350"/>
              </a:xfrm>
              <a:prstGeom prst="ellipse">
                <a:avLst/>
              </a:prstGeom>
              <a:solidFill>
                <a:srgbClr val="0E6680"/>
              </a:solidFill>
              <a:ln>
                <a:noFill/>
              </a:ln>
            </p:spPr>
          </p:sp>
          <p:sp>
            <p:nvSpPr>
              <p:cNvPr id="25" name="Ellipse 25"/>
              <p:cNvSpPr/>
              <p:nvPr/>
            </p:nvSpPr>
            <p:spPr>
              <a:xfrm>
                <a:off x="6505575" y="2047875"/>
                <a:ext cx="133350" cy="133350"/>
              </a:xfrm>
              <a:prstGeom prst="ellipse">
                <a:avLst/>
              </a:prstGeom>
              <a:solidFill>
                <a:srgbClr val="0E6680"/>
              </a:solidFill>
              <a:ln>
                <a:noFill/>
              </a:ln>
            </p:spPr>
          </p:sp>
          <p:sp>
            <p:nvSpPr>
              <p:cNvPr id="26" name="Ellipse 26"/>
              <p:cNvSpPr/>
              <p:nvPr/>
            </p:nvSpPr>
            <p:spPr>
              <a:xfrm>
                <a:off x="7077075" y="2047875"/>
                <a:ext cx="133350" cy="133350"/>
              </a:xfrm>
              <a:prstGeom prst="ellipse">
                <a:avLst/>
              </a:prstGeom>
              <a:solidFill>
                <a:srgbClr val="0E6680"/>
              </a:solidFill>
              <a:ln>
                <a:noFill/>
              </a:ln>
            </p:spPr>
          </p:sp>
          <p:sp>
            <p:nvSpPr>
              <p:cNvPr id="27" name="Ellipse 27"/>
              <p:cNvSpPr/>
              <p:nvPr/>
            </p:nvSpPr>
            <p:spPr>
              <a:xfrm>
                <a:off x="7648575" y="2047875"/>
                <a:ext cx="133350" cy="133350"/>
              </a:xfrm>
              <a:prstGeom prst="ellipse">
                <a:avLst/>
              </a:prstGeom>
              <a:solidFill>
                <a:srgbClr val="0E6680"/>
              </a:solidFill>
              <a:ln>
                <a:noFill/>
              </a:ln>
            </p:spPr>
          </p:sp>
          <p:sp>
            <p:nvSpPr>
              <p:cNvPr id="28" name="Ellipse 28"/>
              <p:cNvSpPr/>
              <p:nvPr/>
            </p:nvSpPr>
            <p:spPr>
              <a:xfrm>
                <a:off x="8220075" y="2047875"/>
                <a:ext cx="133350" cy="133350"/>
              </a:xfrm>
              <a:prstGeom prst="ellipse">
                <a:avLst/>
              </a:prstGeom>
              <a:solidFill>
                <a:srgbClr val="0E6680"/>
              </a:solidFill>
              <a:ln>
                <a:noFill/>
              </a:ln>
            </p:spPr>
          </p:sp>
          <p:sp>
            <p:nvSpPr>
              <p:cNvPr id="29" name="Ellipse 29"/>
              <p:cNvSpPr/>
              <p:nvPr/>
            </p:nvSpPr>
            <p:spPr>
              <a:xfrm>
                <a:off x="8791575" y="2047875"/>
                <a:ext cx="133350" cy="133350"/>
              </a:xfrm>
              <a:prstGeom prst="ellipse">
                <a:avLst/>
              </a:prstGeom>
              <a:solidFill>
                <a:srgbClr val="0E6680"/>
              </a:solidFill>
              <a:ln>
                <a:noFill/>
              </a:ln>
            </p:spPr>
          </p:sp>
          <p:sp>
            <p:nvSpPr>
              <p:cNvPr id="30" name="Ellipse 30"/>
              <p:cNvSpPr/>
              <p:nvPr/>
            </p:nvSpPr>
            <p:spPr>
              <a:xfrm>
                <a:off x="9363075" y="2047875"/>
                <a:ext cx="133350" cy="133350"/>
              </a:xfrm>
              <a:prstGeom prst="ellipse">
                <a:avLst/>
              </a:prstGeom>
              <a:solidFill>
                <a:srgbClr val="0E6680"/>
              </a:solidFill>
              <a:ln>
                <a:noFill/>
              </a:ln>
            </p:spPr>
          </p:sp>
          <p:sp>
            <p:nvSpPr>
              <p:cNvPr id="31" name="Ellipse 31"/>
              <p:cNvSpPr/>
              <p:nvPr/>
            </p:nvSpPr>
            <p:spPr>
              <a:xfrm>
                <a:off x="9934575" y="2047875"/>
                <a:ext cx="133350" cy="133350"/>
              </a:xfrm>
              <a:prstGeom prst="ellipse">
                <a:avLst/>
              </a:prstGeom>
              <a:solidFill>
                <a:srgbClr val="0E6680"/>
              </a:solidFill>
              <a:ln>
                <a:noFill/>
              </a:ln>
            </p:spPr>
          </p:sp>
          <p:sp>
            <p:nvSpPr>
              <p:cNvPr id="32" name="Ellipse 32"/>
              <p:cNvSpPr/>
              <p:nvPr/>
            </p:nvSpPr>
            <p:spPr>
              <a:xfrm>
                <a:off x="10506075" y="2047875"/>
                <a:ext cx="133350" cy="133350"/>
              </a:xfrm>
              <a:prstGeom prst="ellipse">
                <a:avLst/>
              </a:prstGeom>
              <a:solidFill>
                <a:srgbClr val="0E6680"/>
              </a:solidFill>
              <a:ln>
                <a:noFill/>
              </a:ln>
            </p:spPr>
          </p:sp>
          <p:sp>
            <p:nvSpPr>
              <p:cNvPr id="33" name="Ellipse 33"/>
              <p:cNvSpPr/>
              <p:nvPr/>
            </p:nvSpPr>
            <p:spPr>
              <a:xfrm>
                <a:off x="11077575" y="2047875"/>
                <a:ext cx="133350" cy="133350"/>
              </a:xfrm>
              <a:prstGeom prst="ellipse">
                <a:avLst/>
              </a:prstGeom>
              <a:solidFill>
                <a:srgbClr val="0E6680"/>
              </a:solidFill>
              <a:ln>
                <a:noFill/>
              </a:ln>
            </p:spPr>
          </p:sp>
        </p:grpSp>
        <p:grpSp>
          <p:nvGrpSpPr>
            <p:cNvPr id="44" name="lane-2-events"/>
            <p:cNvGrpSpPr/>
            <p:nvPr/>
          </p:nvGrpSpPr>
          <p:grpSpPr>
            <a:xfrm>
              <a:off x="2028825" y="2790825"/>
              <a:ext cx="9182100" cy="133350"/>
              <a:chOff x="2028825" y="2790825"/>
              <a:chExt cx="9182100" cy="133350"/>
            </a:xfrm>
          </p:grpSpPr>
          <p:sp>
            <p:nvSpPr>
              <p:cNvPr id="35" name="Ellipse 35"/>
              <p:cNvSpPr/>
              <p:nvPr/>
            </p:nvSpPr>
            <p:spPr>
              <a:xfrm>
                <a:off x="2028825" y="2790825"/>
                <a:ext cx="133350" cy="133350"/>
              </a:xfrm>
              <a:prstGeom prst="ellipse">
                <a:avLst/>
              </a:prstGeom>
              <a:solidFill>
                <a:srgbClr val="0E6680"/>
              </a:solidFill>
              <a:ln>
                <a:noFill/>
              </a:ln>
            </p:spPr>
          </p:sp>
          <p:sp>
            <p:nvSpPr>
              <p:cNvPr id="36" name="Ellipse 36"/>
              <p:cNvSpPr/>
              <p:nvPr/>
            </p:nvSpPr>
            <p:spPr>
              <a:xfrm>
                <a:off x="2695575" y="2790825"/>
                <a:ext cx="133350" cy="133350"/>
              </a:xfrm>
              <a:prstGeom prst="ellipse">
                <a:avLst/>
              </a:prstGeom>
              <a:solidFill>
                <a:srgbClr val="0E6680"/>
              </a:solidFill>
              <a:ln>
                <a:noFill/>
              </a:ln>
            </p:spPr>
          </p:sp>
          <p:sp>
            <p:nvSpPr>
              <p:cNvPr id="37" name="Ellipse 37"/>
              <p:cNvSpPr/>
              <p:nvPr/>
            </p:nvSpPr>
            <p:spPr>
              <a:xfrm>
                <a:off x="3362325" y="2790825"/>
                <a:ext cx="133350" cy="133350"/>
              </a:xfrm>
              <a:prstGeom prst="ellipse">
                <a:avLst/>
              </a:prstGeom>
              <a:solidFill>
                <a:srgbClr val="0E6680"/>
              </a:solidFill>
              <a:ln>
                <a:noFill/>
              </a:ln>
            </p:spPr>
          </p:sp>
          <p:sp>
            <p:nvSpPr>
              <p:cNvPr id="38" name="Ellipse 38"/>
              <p:cNvSpPr/>
              <p:nvPr/>
            </p:nvSpPr>
            <p:spPr>
              <a:xfrm>
                <a:off x="4029075" y="2790825"/>
                <a:ext cx="133350" cy="133350"/>
              </a:xfrm>
              <a:prstGeom prst="ellipse">
                <a:avLst/>
              </a:prstGeom>
              <a:solidFill>
                <a:srgbClr val="0E6680"/>
              </a:solidFill>
              <a:ln>
                <a:noFill/>
              </a:ln>
            </p:spPr>
          </p:sp>
          <p:sp>
            <p:nvSpPr>
              <p:cNvPr id="39" name="Ellipse 39"/>
              <p:cNvSpPr/>
              <p:nvPr/>
            </p:nvSpPr>
            <p:spPr>
              <a:xfrm>
                <a:off x="8505825" y="2790825"/>
                <a:ext cx="133350" cy="133350"/>
              </a:xfrm>
              <a:prstGeom prst="ellipse">
                <a:avLst/>
              </a:prstGeom>
              <a:solidFill>
                <a:srgbClr val="0E6680"/>
              </a:solidFill>
              <a:ln>
                <a:noFill/>
              </a:ln>
            </p:spPr>
          </p:sp>
          <p:sp>
            <p:nvSpPr>
              <p:cNvPr id="40" name="Ellipse 40"/>
              <p:cNvSpPr/>
              <p:nvPr/>
            </p:nvSpPr>
            <p:spPr>
              <a:xfrm>
                <a:off x="9172575" y="2790825"/>
                <a:ext cx="133350" cy="133350"/>
              </a:xfrm>
              <a:prstGeom prst="ellipse">
                <a:avLst/>
              </a:prstGeom>
              <a:solidFill>
                <a:srgbClr val="0E6680"/>
              </a:solidFill>
              <a:ln>
                <a:noFill/>
              </a:ln>
            </p:spPr>
          </p:sp>
          <p:sp>
            <p:nvSpPr>
              <p:cNvPr id="41" name="Ellipse 41"/>
              <p:cNvSpPr/>
              <p:nvPr/>
            </p:nvSpPr>
            <p:spPr>
              <a:xfrm>
                <a:off x="9839325" y="2790825"/>
                <a:ext cx="133350" cy="133350"/>
              </a:xfrm>
              <a:prstGeom prst="ellipse">
                <a:avLst/>
              </a:prstGeom>
              <a:solidFill>
                <a:srgbClr val="0E6680"/>
              </a:solidFill>
              <a:ln>
                <a:noFill/>
              </a:ln>
            </p:spPr>
          </p:sp>
          <p:sp>
            <p:nvSpPr>
              <p:cNvPr id="42" name="Ellipse 42"/>
              <p:cNvSpPr/>
              <p:nvPr/>
            </p:nvSpPr>
            <p:spPr>
              <a:xfrm>
                <a:off x="10506075" y="2790825"/>
                <a:ext cx="133350" cy="133350"/>
              </a:xfrm>
              <a:prstGeom prst="ellipse">
                <a:avLst/>
              </a:prstGeom>
              <a:solidFill>
                <a:srgbClr val="0E6680"/>
              </a:solidFill>
              <a:ln>
                <a:noFill/>
              </a:ln>
            </p:spPr>
          </p:sp>
          <p:sp>
            <p:nvSpPr>
              <p:cNvPr id="43" name="Ellipse 43"/>
              <p:cNvSpPr/>
              <p:nvPr/>
            </p:nvSpPr>
            <p:spPr>
              <a:xfrm>
                <a:off x="11077575" y="2790825"/>
                <a:ext cx="133350" cy="133350"/>
              </a:xfrm>
              <a:prstGeom prst="ellipse">
                <a:avLst/>
              </a:prstGeom>
              <a:solidFill>
                <a:srgbClr val="0E6680"/>
              </a:solidFill>
              <a:ln>
                <a:noFill/>
              </a:ln>
            </p:spPr>
          </p:sp>
        </p:grpSp>
        <p:grpSp>
          <p:nvGrpSpPr>
            <p:cNvPr id="49" name="lane-2-late"/>
            <p:cNvGrpSpPr/>
            <p:nvPr/>
          </p:nvGrpSpPr>
          <p:grpSpPr>
            <a:xfrm>
              <a:off x="7419975" y="2790825"/>
              <a:ext cx="647700" cy="133350"/>
              <a:chOff x="7419975" y="2790825"/>
              <a:chExt cx="647700" cy="133350"/>
            </a:xfrm>
          </p:grpSpPr>
          <p:sp>
            <p:nvSpPr>
              <p:cNvPr id="45" name="Ellipse 45"/>
              <p:cNvSpPr/>
              <p:nvPr/>
            </p:nvSpPr>
            <p:spPr>
              <a:xfrm>
                <a:off x="7419975" y="2790825"/>
                <a:ext cx="133350" cy="133350"/>
              </a:xfrm>
              <a:prstGeom prst="ellipse">
                <a:avLst/>
              </a:prstGeom>
              <a:solidFill>
                <a:srgbClr val="B35A12"/>
              </a:solidFill>
              <a:ln>
                <a:noFill/>
              </a:ln>
            </p:spPr>
          </p:sp>
          <p:sp>
            <p:nvSpPr>
              <p:cNvPr id="46" name="Ellipse 46"/>
              <p:cNvSpPr/>
              <p:nvPr/>
            </p:nvSpPr>
            <p:spPr>
              <a:xfrm>
                <a:off x="7591425" y="2790825"/>
                <a:ext cx="133350" cy="133350"/>
              </a:xfrm>
              <a:prstGeom prst="ellipse">
                <a:avLst/>
              </a:prstGeom>
              <a:solidFill>
                <a:srgbClr val="B35A12"/>
              </a:solidFill>
              <a:ln>
                <a:noFill/>
              </a:ln>
            </p:spPr>
          </p:sp>
          <p:sp>
            <p:nvSpPr>
              <p:cNvPr id="47" name="Ellipse 47"/>
              <p:cNvSpPr/>
              <p:nvPr/>
            </p:nvSpPr>
            <p:spPr>
              <a:xfrm>
                <a:off x="7762875" y="2790825"/>
                <a:ext cx="133350" cy="133350"/>
              </a:xfrm>
              <a:prstGeom prst="ellipse">
                <a:avLst/>
              </a:prstGeom>
              <a:solidFill>
                <a:srgbClr val="B35A12"/>
              </a:solidFill>
              <a:ln>
                <a:noFill/>
              </a:ln>
            </p:spPr>
          </p:sp>
          <p:sp>
            <p:nvSpPr>
              <p:cNvPr id="48" name="Ellipse 48"/>
              <p:cNvSpPr/>
              <p:nvPr/>
            </p:nvSpPr>
            <p:spPr>
              <a:xfrm>
                <a:off x="7934325" y="2790825"/>
                <a:ext cx="133350" cy="133350"/>
              </a:xfrm>
              <a:prstGeom prst="ellipse">
                <a:avLst/>
              </a:prstGeom>
              <a:solidFill>
                <a:srgbClr val="B35A12"/>
              </a:solidFill>
              <a:ln>
                <a:noFill/>
              </a:ln>
            </p:spPr>
          </p:sp>
        </p:grpSp>
        <p:sp>
          <p:nvSpPr>
            <p:cNvPr id="50" name="TextBox 50"/>
            <p:cNvSpPr txBox="1"/>
            <p:nvPr/>
          </p:nvSpPr>
          <p:spPr>
            <a:xfrm>
              <a:off x="7384542" y="3016250"/>
              <a:ext cx="3615988" cy="264033"/>
            </a:xfrm>
            <a:prstGeom prst="rect">
              <a:avLst/>
            </a:prstGeom>
            <a:noFill/>
            <a:ln>
              <a:noFill/>
            </a:ln>
          </p:spPr>
          <p:txBody>
            <a:bodyPr wrap="square" lIns="0" tIns="0" rIns="0" bIns="0" anchor="t" anchorCtr="0">
              <a:spAutoFit/>
            </a:bodyPr>
            <a:lstStyle/>
            <a:p>
              <a:pPr algn="l"/>
              <a:r>
                <a:rPr lang="ru" sz="1350" dirty="0">
                  <a:solidFill>
                    <a:srgbClr val="B35A12"/>
                  </a:solidFill>
                  <a:latin typeface="+mn-lt"/>
                  <a:ea typeface="+mn-ea"/>
                  <a:cs typeface="+mn-cs"/>
                </a:rPr>
                <a:t>накопленные записи пришли позже</a:t>
              </a:r>
            </a:p>
          </p:txBody>
        </p:sp>
        <p:grpSp>
          <p:nvGrpSpPr>
            <p:cNvPr id="79" name="lane-3-events"/>
            <p:cNvGrpSpPr/>
            <p:nvPr/>
          </p:nvGrpSpPr>
          <p:grpSpPr>
            <a:xfrm>
              <a:off x="1809750" y="3543300"/>
              <a:ext cx="9296400" cy="114300"/>
              <a:chOff x="1809750" y="3543300"/>
              <a:chExt cx="9296400" cy="114300"/>
            </a:xfrm>
          </p:grpSpPr>
          <p:sp>
            <p:nvSpPr>
              <p:cNvPr id="51" name="Ellipse 51"/>
              <p:cNvSpPr/>
              <p:nvPr/>
            </p:nvSpPr>
            <p:spPr>
              <a:xfrm>
                <a:off x="1809750" y="3543300"/>
                <a:ext cx="114300" cy="114300"/>
              </a:xfrm>
              <a:prstGeom prst="ellipse">
                <a:avLst/>
              </a:prstGeom>
              <a:solidFill>
                <a:srgbClr val="0E6680"/>
              </a:solidFill>
              <a:ln>
                <a:noFill/>
              </a:ln>
            </p:spPr>
          </p:sp>
          <p:sp>
            <p:nvSpPr>
              <p:cNvPr id="52" name="Ellipse 52"/>
              <p:cNvSpPr/>
              <p:nvPr/>
            </p:nvSpPr>
            <p:spPr>
              <a:xfrm>
                <a:off x="2057400" y="3543300"/>
                <a:ext cx="114300" cy="114300"/>
              </a:xfrm>
              <a:prstGeom prst="ellipse">
                <a:avLst/>
              </a:prstGeom>
              <a:solidFill>
                <a:srgbClr val="0E6680"/>
              </a:solidFill>
              <a:ln>
                <a:noFill/>
              </a:ln>
            </p:spPr>
          </p:sp>
          <p:sp>
            <p:nvSpPr>
              <p:cNvPr id="53" name="Ellipse 53"/>
              <p:cNvSpPr/>
              <p:nvPr/>
            </p:nvSpPr>
            <p:spPr>
              <a:xfrm>
                <a:off x="2419350" y="3543300"/>
                <a:ext cx="114300" cy="114300"/>
              </a:xfrm>
              <a:prstGeom prst="ellipse">
                <a:avLst/>
              </a:prstGeom>
              <a:solidFill>
                <a:srgbClr val="0E6680"/>
              </a:solidFill>
              <a:ln>
                <a:noFill/>
              </a:ln>
            </p:spPr>
          </p:sp>
          <p:sp>
            <p:nvSpPr>
              <p:cNvPr id="54" name="Ellipse 54"/>
              <p:cNvSpPr/>
              <p:nvPr/>
            </p:nvSpPr>
            <p:spPr>
              <a:xfrm>
                <a:off x="2647950" y="3543300"/>
                <a:ext cx="114300" cy="114300"/>
              </a:xfrm>
              <a:prstGeom prst="ellipse">
                <a:avLst/>
              </a:prstGeom>
              <a:solidFill>
                <a:srgbClr val="0E6680"/>
              </a:solidFill>
              <a:ln>
                <a:noFill/>
              </a:ln>
            </p:spPr>
          </p:sp>
          <p:sp>
            <p:nvSpPr>
              <p:cNvPr id="55" name="Ellipse 55"/>
              <p:cNvSpPr/>
              <p:nvPr/>
            </p:nvSpPr>
            <p:spPr>
              <a:xfrm>
                <a:off x="3086100" y="3543300"/>
                <a:ext cx="114300" cy="114300"/>
              </a:xfrm>
              <a:prstGeom prst="ellipse">
                <a:avLst/>
              </a:prstGeom>
              <a:solidFill>
                <a:srgbClr val="0E6680"/>
              </a:solidFill>
              <a:ln>
                <a:noFill/>
              </a:ln>
            </p:spPr>
          </p:sp>
          <p:sp>
            <p:nvSpPr>
              <p:cNvPr id="56" name="Ellipse 56"/>
              <p:cNvSpPr/>
              <p:nvPr/>
            </p:nvSpPr>
            <p:spPr>
              <a:xfrm>
                <a:off x="3295650" y="3543300"/>
                <a:ext cx="114300" cy="114300"/>
              </a:xfrm>
              <a:prstGeom prst="ellipse">
                <a:avLst/>
              </a:prstGeom>
              <a:solidFill>
                <a:srgbClr val="0E6680"/>
              </a:solidFill>
              <a:ln>
                <a:noFill/>
              </a:ln>
            </p:spPr>
          </p:sp>
          <p:sp>
            <p:nvSpPr>
              <p:cNvPr id="57" name="Ellipse 57"/>
              <p:cNvSpPr/>
              <p:nvPr/>
            </p:nvSpPr>
            <p:spPr>
              <a:xfrm>
                <a:off x="3733800" y="3543300"/>
                <a:ext cx="114300" cy="114300"/>
              </a:xfrm>
              <a:prstGeom prst="ellipse">
                <a:avLst/>
              </a:prstGeom>
              <a:solidFill>
                <a:srgbClr val="0E6680"/>
              </a:solidFill>
              <a:ln>
                <a:noFill/>
              </a:ln>
            </p:spPr>
          </p:sp>
          <p:sp>
            <p:nvSpPr>
              <p:cNvPr id="58" name="Ellipse 58"/>
              <p:cNvSpPr/>
              <p:nvPr/>
            </p:nvSpPr>
            <p:spPr>
              <a:xfrm>
                <a:off x="4133850" y="3543300"/>
                <a:ext cx="114300" cy="114300"/>
              </a:xfrm>
              <a:prstGeom prst="ellipse">
                <a:avLst/>
              </a:prstGeom>
              <a:solidFill>
                <a:srgbClr val="0E6680"/>
              </a:solidFill>
              <a:ln>
                <a:noFill/>
              </a:ln>
            </p:spPr>
          </p:sp>
          <p:sp>
            <p:nvSpPr>
              <p:cNvPr id="59" name="Ellipse 59"/>
              <p:cNvSpPr/>
              <p:nvPr/>
            </p:nvSpPr>
            <p:spPr>
              <a:xfrm>
                <a:off x="4343400" y="3543300"/>
                <a:ext cx="114300" cy="114300"/>
              </a:xfrm>
              <a:prstGeom prst="ellipse">
                <a:avLst/>
              </a:prstGeom>
              <a:solidFill>
                <a:srgbClr val="0E6680"/>
              </a:solidFill>
              <a:ln>
                <a:noFill/>
              </a:ln>
            </p:spPr>
          </p:sp>
          <p:sp>
            <p:nvSpPr>
              <p:cNvPr id="60" name="Ellipse 60"/>
              <p:cNvSpPr/>
              <p:nvPr/>
            </p:nvSpPr>
            <p:spPr>
              <a:xfrm>
                <a:off x="4705350" y="3543300"/>
                <a:ext cx="114300" cy="114300"/>
              </a:xfrm>
              <a:prstGeom prst="ellipse">
                <a:avLst/>
              </a:prstGeom>
              <a:solidFill>
                <a:srgbClr val="0E6680"/>
              </a:solidFill>
              <a:ln>
                <a:noFill/>
              </a:ln>
            </p:spPr>
          </p:sp>
          <p:sp>
            <p:nvSpPr>
              <p:cNvPr id="61" name="Ellipse 61"/>
              <p:cNvSpPr/>
              <p:nvPr/>
            </p:nvSpPr>
            <p:spPr>
              <a:xfrm>
                <a:off x="5133975" y="3543300"/>
                <a:ext cx="114300" cy="114300"/>
              </a:xfrm>
              <a:prstGeom prst="ellipse">
                <a:avLst/>
              </a:prstGeom>
              <a:solidFill>
                <a:srgbClr val="0E6680"/>
              </a:solidFill>
              <a:ln>
                <a:noFill/>
              </a:ln>
            </p:spPr>
          </p:sp>
          <p:sp>
            <p:nvSpPr>
              <p:cNvPr id="62" name="Ellipse 62"/>
              <p:cNvSpPr/>
              <p:nvPr/>
            </p:nvSpPr>
            <p:spPr>
              <a:xfrm>
                <a:off x="5372100" y="3543300"/>
                <a:ext cx="114300" cy="114300"/>
              </a:xfrm>
              <a:prstGeom prst="ellipse">
                <a:avLst/>
              </a:prstGeom>
              <a:solidFill>
                <a:srgbClr val="0E6680"/>
              </a:solidFill>
              <a:ln>
                <a:noFill/>
              </a:ln>
            </p:spPr>
          </p:sp>
          <p:sp>
            <p:nvSpPr>
              <p:cNvPr id="63" name="Ellipse 63"/>
              <p:cNvSpPr/>
              <p:nvPr/>
            </p:nvSpPr>
            <p:spPr>
              <a:xfrm>
                <a:off x="5810250" y="3543300"/>
                <a:ext cx="114300" cy="114300"/>
              </a:xfrm>
              <a:prstGeom prst="ellipse">
                <a:avLst/>
              </a:prstGeom>
              <a:solidFill>
                <a:srgbClr val="0E6680"/>
              </a:solidFill>
              <a:ln>
                <a:noFill/>
              </a:ln>
            </p:spPr>
          </p:sp>
          <p:sp>
            <p:nvSpPr>
              <p:cNvPr id="64" name="Ellipse 64"/>
              <p:cNvSpPr/>
              <p:nvPr/>
            </p:nvSpPr>
            <p:spPr>
              <a:xfrm>
                <a:off x="6134100" y="3543300"/>
                <a:ext cx="114300" cy="114300"/>
              </a:xfrm>
              <a:prstGeom prst="ellipse">
                <a:avLst/>
              </a:prstGeom>
              <a:solidFill>
                <a:srgbClr val="0E6680"/>
              </a:solidFill>
              <a:ln>
                <a:noFill/>
              </a:ln>
            </p:spPr>
          </p:sp>
          <p:sp>
            <p:nvSpPr>
              <p:cNvPr id="65" name="Ellipse 65"/>
              <p:cNvSpPr/>
              <p:nvPr/>
            </p:nvSpPr>
            <p:spPr>
              <a:xfrm>
                <a:off x="6515100" y="3543300"/>
                <a:ext cx="114300" cy="114300"/>
              </a:xfrm>
              <a:prstGeom prst="ellipse">
                <a:avLst/>
              </a:prstGeom>
              <a:solidFill>
                <a:srgbClr val="0E6680"/>
              </a:solidFill>
              <a:ln>
                <a:noFill/>
              </a:ln>
            </p:spPr>
          </p:sp>
          <p:sp>
            <p:nvSpPr>
              <p:cNvPr id="66" name="Ellipse 66"/>
              <p:cNvSpPr/>
              <p:nvPr/>
            </p:nvSpPr>
            <p:spPr>
              <a:xfrm>
                <a:off x="6724650" y="3543300"/>
                <a:ext cx="114300" cy="114300"/>
              </a:xfrm>
              <a:prstGeom prst="ellipse">
                <a:avLst/>
              </a:prstGeom>
              <a:solidFill>
                <a:srgbClr val="0E6680"/>
              </a:solidFill>
              <a:ln>
                <a:noFill/>
              </a:ln>
            </p:spPr>
          </p:sp>
          <p:sp>
            <p:nvSpPr>
              <p:cNvPr id="67" name="Ellipse 67"/>
              <p:cNvSpPr/>
              <p:nvPr/>
            </p:nvSpPr>
            <p:spPr>
              <a:xfrm>
                <a:off x="7181850" y="3543300"/>
                <a:ext cx="114300" cy="114300"/>
              </a:xfrm>
              <a:prstGeom prst="ellipse">
                <a:avLst/>
              </a:prstGeom>
              <a:solidFill>
                <a:srgbClr val="0E6680"/>
              </a:solidFill>
              <a:ln>
                <a:noFill/>
              </a:ln>
            </p:spPr>
          </p:sp>
          <p:sp>
            <p:nvSpPr>
              <p:cNvPr id="68" name="Ellipse 68"/>
              <p:cNvSpPr/>
              <p:nvPr/>
            </p:nvSpPr>
            <p:spPr>
              <a:xfrm>
                <a:off x="7562850" y="3543300"/>
                <a:ext cx="114300" cy="114300"/>
              </a:xfrm>
              <a:prstGeom prst="ellipse">
                <a:avLst/>
              </a:prstGeom>
              <a:solidFill>
                <a:srgbClr val="0E6680"/>
              </a:solidFill>
              <a:ln>
                <a:noFill/>
              </a:ln>
            </p:spPr>
          </p:sp>
          <p:sp>
            <p:nvSpPr>
              <p:cNvPr id="69" name="Ellipse 69"/>
              <p:cNvSpPr/>
              <p:nvPr/>
            </p:nvSpPr>
            <p:spPr>
              <a:xfrm>
                <a:off x="7810500" y="3543300"/>
                <a:ext cx="114300" cy="114300"/>
              </a:xfrm>
              <a:prstGeom prst="ellipse">
                <a:avLst/>
              </a:prstGeom>
              <a:solidFill>
                <a:srgbClr val="0E6680"/>
              </a:solidFill>
              <a:ln>
                <a:noFill/>
              </a:ln>
            </p:spPr>
          </p:sp>
          <p:sp>
            <p:nvSpPr>
              <p:cNvPr id="70" name="Ellipse 70"/>
              <p:cNvSpPr/>
              <p:nvPr/>
            </p:nvSpPr>
            <p:spPr>
              <a:xfrm>
                <a:off x="8229600" y="3543300"/>
                <a:ext cx="114300" cy="114300"/>
              </a:xfrm>
              <a:prstGeom prst="ellipse">
                <a:avLst/>
              </a:prstGeom>
              <a:solidFill>
                <a:srgbClr val="0E6680"/>
              </a:solidFill>
              <a:ln>
                <a:noFill/>
              </a:ln>
            </p:spPr>
          </p:sp>
          <p:sp>
            <p:nvSpPr>
              <p:cNvPr id="71" name="Ellipse 71"/>
              <p:cNvSpPr/>
              <p:nvPr/>
            </p:nvSpPr>
            <p:spPr>
              <a:xfrm>
                <a:off x="8562975" y="3543300"/>
                <a:ext cx="114300" cy="114300"/>
              </a:xfrm>
              <a:prstGeom prst="ellipse">
                <a:avLst/>
              </a:prstGeom>
              <a:solidFill>
                <a:srgbClr val="0E6680"/>
              </a:solidFill>
              <a:ln>
                <a:noFill/>
              </a:ln>
            </p:spPr>
          </p:sp>
          <p:sp>
            <p:nvSpPr>
              <p:cNvPr id="72" name="Ellipse 72"/>
              <p:cNvSpPr/>
              <p:nvPr/>
            </p:nvSpPr>
            <p:spPr>
              <a:xfrm>
                <a:off x="8991600" y="3543300"/>
                <a:ext cx="114300" cy="114300"/>
              </a:xfrm>
              <a:prstGeom prst="ellipse">
                <a:avLst/>
              </a:prstGeom>
              <a:solidFill>
                <a:srgbClr val="0E6680"/>
              </a:solidFill>
              <a:ln>
                <a:noFill/>
              </a:ln>
            </p:spPr>
          </p:sp>
          <p:sp>
            <p:nvSpPr>
              <p:cNvPr id="73" name="Ellipse 73"/>
              <p:cNvSpPr/>
              <p:nvPr/>
            </p:nvSpPr>
            <p:spPr>
              <a:xfrm>
                <a:off x="9239250" y="3543300"/>
                <a:ext cx="114300" cy="114300"/>
              </a:xfrm>
              <a:prstGeom prst="ellipse">
                <a:avLst/>
              </a:prstGeom>
              <a:solidFill>
                <a:srgbClr val="0E6680"/>
              </a:solidFill>
              <a:ln>
                <a:noFill/>
              </a:ln>
            </p:spPr>
          </p:sp>
          <p:sp>
            <p:nvSpPr>
              <p:cNvPr id="74" name="Ellipse 74"/>
              <p:cNvSpPr/>
              <p:nvPr/>
            </p:nvSpPr>
            <p:spPr>
              <a:xfrm>
                <a:off x="9658350" y="3543300"/>
                <a:ext cx="114300" cy="114300"/>
              </a:xfrm>
              <a:prstGeom prst="ellipse">
                <a:avLst/>
              </a:prstGeom>
              <a:solidFill>
                <a:srgbClr val="0E6680"/>
              </a:solidFill>
              <a:ln>
                <a:noFill/>
              </a:ln>
            </p:spPr>
          </p:sp>
          <p:sp>
            <p:nvSpPr>
              <p:cNvPr id="75" name="Ellipse 75"/>
              <p:cNvSpPr/>
              <p:nvPr/>
            </p:nvSpPr>
            <p:spPr>
              <a:xfrm>
                <a:off x="10058400" y="3543300"/>
                <a:ext cx="114300" cy="114300"/>
              </a:xfrm>
              <a:prstGeom prst="ellipse">
                <a:avLst/>
              </a:prstGeom>
              <a:solidFill>
                <a:srgbClr val="0E6680"/>
              </a:solidFill>
              <a:ln>
                <a:noFill/>
              </a:ln>
            </p:spPr>
          </p:sp>
          <p:sp>
            <p:nvSpPr>
              <p:cNvPr id="76" name="Ellipse 76"/>
              <p:cNvSpPr/>
              <p:nvPr/>
            </p:nvSpPr>
            <p:spPr>
              <a:xfrm>
                <a:off x="10325100" y="3543300"/>
                <a:ext cx="114300" cy="114300"/>
              </a:xfrm>
              <a:prstGeom prst="ellipse">
                <a:avLst/>
              </a:prstGeom>
              <a:solidFill>
                <a:srgbClr val="0E6680"/>
              </a:solidFill>
              <a:ln>
                <a:noFill/>
              </a:ln>
            </p:spPr>
          </p:sp>
          <p:sp>
            <p:nvSpPr>
              <p:cNvPr id="77" name="Ellipse 77"/>
              <p:cNvSpPr/>
              <p:nvPr/>
            </p:nvSpPr>
            <p:spPr>
              <a:xfrm>
                <a:off x="10706100" y="3543300"/>
                <a:ext cx="114300" cy="114300"/>
              </a:xfrm>
              <a:prstGeom prst="ellipse">
                <a:avLst/>
              </a:prstGeom>
              <a:solidFill>
                <a:srgbClr val="0E6680"/>
              </a:solidFill>
              <a:ln>
                <a:noFill/>
              </a:ln>
            </p:spPr>
          </p:sp>
          <p:sp>
            <p:nvSpPr>
              <p:cNvPr id="78" name="Ellipse 78"/>
              <p:cNvSpPr/>
              <p:nvPr/>
            </p:nvSpPr>
            <p:spPr>
              <a:xfrm>
                <a:off x="10991850" y="3543300"/>
                <a:ext cx="114300" cy="114300"/>
              </a:xfrm>
              <a:prstGeom prst="ellipse">
                <a:avLst/>
              </a:prstGeom>
              <a:solidFill>
                <a:srgbClr val="0E6680"/>
              </a:solidFill>
              <a:ln>
                <a:noFill/>
              </a:ln>
            </p:spPr>
          </p:sp>
        </p:grpSp>
        <p:sp>
          <p:nvSpPr>
            <p:cNvPr id="80" name="TextBox 80"/>
            <p:cNvSpPr txBox="1"/>
            <p:nvPr/>
          </p:nvSpPr>
          <p:spPr>
            <a:xfrm>
              <a:off x="10751915" y="3759200"/>
              <a:ext cx="742093"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время</a:t>
              </a:r>
            </a:p>
          </p:txBody>
        </p:sp>
      </p:grpSp>
      <p:grpSp>
        <p:nvGrpSpPr>
          <p:cNvPr id="85" name="property-continuous"/>
          <p:cNvGrpSpPr/>
          <p:nvPr/>
        </p:nvGrpSpPr>
        <p:grpSpPr>
          <a:xfrm>
            <a:off x="609600" y="4267200"/>
            <a:ext cx="4841672" cy="671957"/>
            <a:chOff x="609600" y="4267200"/>
            <a:chExt cx="4841672" cy="671957"/>
          </a:xfrm>
        </p:grpSpPr>
        <p:sp>
          <p:nvSpPr>
            <p:cNvPr id="82" name="Rectangle 82"/>
            <p:cNvSpPr/>
            <p:nvPr/>
          </p:nvSpPr>
          <p:spPr>
            <a:xfrm>
              <a:off x="609600" y="4362450"/>
              <a:ext cx="133350" cy="133350"/>
            </a:xfrm>
            <a:prstGeom prst="rect">
              <a:avLst/>
            </a:prstGeom>
            <a:solidFill>
              <a:srgbClr val="0E6680"/>
            </a:solidFill>
            <a:ln>
              <a:noFill/>
            </a:ln>
          </p:spPr>
        </p:sp>
        <p:sp>
          <p:nvSpPr>
            <p:cNvPr id="83" name="TextBox 83"/>
            <p:cNvSpPr txBox="1"/>
            <p:nvPr/>
          </p:nvSpPr>
          <p:spPr>
            <a:xfrm>
              <a:off x="848106" y="4267200"/>
              <a:ext cx="2251383"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Непрерывность</a:t>
              </a:r>
            </a:p>
          </p:txBody>
        </p:sp>
        <p:sp>
          <p:nvSpPr>
            <p:cNvPr id="84" name="TextBox 84"/>
            <p:cNvSpPr txBox="1"/>
            <p:nvPr/>
          </p:nvSpPr>
          <p:spPr>
            <a:xfrm>
              <a:off x="848868" y="4616450"/>
              <a:ext cx="5614932"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замеры идут постоянно, у набора нет конца</a:t>
              </a:r>
            </a:p>
          </p:txBody>
        </p:sp>
      </p:grpSp>
      <p:grpSp>
        <p:nvGrpSpPr>
          <p:cNvPr id="89" name="property-timestamp"/>
          <p:cNvGrpSpPr/>
          <p:nvPr/>
        </p:nvGrpSpPr>
        <p:grpSpPr>
          <a:xfrm>
            <a:off x="6210300" y="4267200"/>
            <a:ext cx="3924793" cy="671957"/>
            <a:chOff x="6210300" y="4267200"/>
            <a:chExt cx="3924793" cy="671957"/>
          </a:xfrm>
        </p:grpSpPr>
        <p:sp>
          <p:nvSpPr>
            <p:cNvPr id="86" name="Rectangle 86"/>
            <p:cNvSpPr/>
            <p:nvPr/>
          </p:nvSpPr>
          <p:spPr>
            <a:xfrm>
              <a:off x="6210300" y="4362450"/>
              <a:ext cx="133350" cy="133350"/>
            </a:xfrm>
            <a:prstGeom prst="rect">
              <a:avLst/>
            </a:prstGeom>
            <a:solidFill>
              <a:srgbClr val="0E6680"/>
            </a:solidFill>
            <a:ln>
              <a:noFill/>
            </a:ln>
          </p:spPr>
        </p:sp>
        <p:sp>
          <p:nvSpPr>
            <p:cNvPr id="87" name="TextBox 87"/>
            <p:cNvSpPr txBox="1"/>
            <p:nvPr/>
          </p:nvSpPr>
          <p:spPr>
            <a:xfrm>
              <a:off x="6448806" y="4267200"/>
              <a:ext cx="216317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Метка времени</a:t>
              </a:r>
            </a:p>
          </p:txBody>
        </p:sp>
        <p:sp>
          <p:nvSpPr>
            <p:cNvPr id="88" name="TextBox 88"/>
            <p:cNvSpPr txBox="1"/>
            <p:nvPr/>
          </p:nvSpPr>
          <p:spPr>
            <a:xfrm>
              <a:off x="6449568" y="4616450"/>
              <a:ext cx="4496340"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важно и значение, и момент замера</a:t>
              </a:r>
            </a:p>
          </p:txBody>
        </p:sp>
      </p:grpSp>
      <p:grpSp>
        <p:nvGrpSpPr>
          <p:cNvPr id="93" name="property-disorder"/>
          <p:cNvGrpSpPr/>
          <p:nvPr/>
        </p:nvGrpSpPr>
        <p:grpSpPr>
          <a:xfrm>
            <a:off x="609600" y="5200650"/>
            <a:ext cx="4962596" cy="671957"/>
            <a:chOff x="609600" y="5200650"/>
            <a:chExt cx="4962596" cy="671957"/>
          </a:xfrm>
        </p:grpSpPr>
        <p:sp>
          <p:nvSpPr>
            <p:cNvPr id="90" name="Rectangle 90"/>
            <p:cNvSpPr/>
            <p:nvPr/>
          </p:nvSpPr>
          <p:spPr>
            <a:xfrm>
              <a:off x="609600" y="5295900"/>
              <a:ext cx="133350" cy="133350"/>
            </a:xfrm>
            <a:prstGeom prst="rect">
              <a:avLst/>
            </a:prstGeom>
            <a:solidFill>
              <a:srgbClr val="B35A12"/>
            </a:solidFill>
            <a:ln>
              <a:noFill/>
            </a:ln>
          </p:spPr>
        </p:sp>
        <p:sp>
          <p:nvSpPr>
            <p:cNvPr id="91" name="TextBox 91"/>
            <p:cNvSpPr txBox="1"/>
            <p:nvPr/>
          </p:nvSpPr>
          <p:spPr>
            <a:xfrm>
              <a:off x="848106" y="5200650"/>
              <a:ext cx="3440464"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Задержки и беспорядок</a:t>
              </a:r>
            </a:p>
          </p:txBody>
        </p:sp>
        <p:sp>
          <p:nvSpPr>
            <p:cNvPr id="92" name="TextBox 92"/>
            <p:cNvSpPr txBox="1"/>
            <p:nvPr/>
          </p:nvSpPr>
          <p:spPr>
            <a:xfrm>
              <a:off x="848868" y="5549900"/>
              <a:ext cx="5762460"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после потери связи записи приходят пачкой</a:t>
              </a:r>
            </a:p>
          </p:txBody>
        </p:sp>
      </p:grpSp>
      <p:grpSp>
        <p:nvGrpSpPr>
          <p:cNvPr id="97" name="property-volume"/>
          <p:cNvGrpSpPr/>
          <p:nvPr/>
        </p:nvGrpSpPr>
        <p:grpSpPr>
          <a:xfrm>
            <a:off x="6210300" y="5200650"/>
            <a:ext cx="4902134" cy="671957"/>
            <a:chOff x="6210300" y="5200650"/>
            <a:chExt cx="4902134" cy="671957"/>
          </a:xfrm>
        </p:grpSpPr>
        <p:sp>
          <p:nvSpPr>
            <p:cNvPr id="94" name="Rectangle 94"/>
            <p:cNvSpPr/>
            <p:nvPr/>
          </p:nvSpPr>
          <p:spPr>
            <a:xfrm>
              <a:off x="6210300" y="5295900"/>
              <a:ext cx="133350" cy="133350"/>
            </a:xfrm>
            <a:prstGeom prst="rect">
              <a:avLst/>
            </a:prstGeom>
            <a:solidFill>
              <a:srgbClr val="0E6680"/>
            </a:solidFill>
            <a:ln>
              <a:noFill/>
            </a:ln>
          </p:spPr>
        </p:sp>
        <p:sp>
          <p:nvSpPr>
            <p:cNvPr id="95" name="TextBox 95"/>
            <p:cNvSpPr txBox="1"/>
            <p:nvPr/>
          </p:nvSpPr>
          <p:spPr>
            <a:xfrm>
              <a:off x="6448806" y="5200650"/>
              <a:ext cx="216317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Большой объём</a:t>
              </a:r>
            </a:p>
          </p:txBody>
        </p:sp>
        <p:sp>
          <p:nvSpPr>
            <p:cNvPr id="96" name="TextBox 96"/>
            <p:cNvSpPr txBox="1"/>
            <p:nvPr/>
          </p:nvSpPr>
          <p:spPr>
            <a:xfrm>
              <a:off x="6449568" y="5549900"/>
              <a:ext cx="5551932"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тысячи датчиков: тысячи событий в секунду</a:t>
              </a:r>
            </a:p>
          </p:txBody>
        </p:sp>
      </p:grpSp>
      <p:grpSp>
        <p:nvGrpSpPr>
          <p:cNvPr id="101" name="footer"/>
          <p:cNvGrpSpPr/>
          <p:nvPr/>
        </p:nvGrpSpPr>
        <p:grpSpPr>
          <a:xfrm>
            <a:off x="603504" y="6400800"/>
            <a:ext cx="10984992" cy="348996"/>
            <a:chOff x="603504" y="6400800"/>
            <a:chExt cx="10984992" cy="348996"/>
          </a:xfrm>
        </p:grpSpPr>
        <p:sp>
          <p:nvSpPr>
            <p:cNvPr id="98" name="Line 98"/>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99" name="TextBox 99"/>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100" name="TextBox 100"/>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5 / 12</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395601" cy="1127379"/>
            <a:chOff x="596646" y="381000"/>
            <a:chExt cx="7395601"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022633"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Пакетная обработка отвечает по расписанию,</a:t>
              </a:r>
              <a:br>
                <a:rPr lang="ru" sz="2550" b="1" dirty="0">
                  <a:solidFill>
                    <a:srgbClr val="17212B"/>
                  </a:solidFill>
                  <a:latin typeface="+mn-lt"/>
                  <a:ea typeface="+mn-ea"/>
                  <a:cs typeface="+mn-cs"/>
                </a:rPr>
              </a:br>
              <a:r>
                <a:rPr lang="ru" sz="2550" b="1" dirty="0">
                  <a:solidFill>
                    <a:srgbClr val="17212B"/>
                  </a:solidFill>
                  <a:latin typeface="+mn-lt"/>
                  <a:ea typeface="+mn-ea"/>
                  <a:cs typeface="+mn-cs"/>
                </a:rPr>
                <a:t>потоковая сразу после события</a:t>
              </a:r>
            </a:p>
          </p:txBody>
        </p:sp>
      </p:grpSp>
      <p:grpSp>
        <p:nvGrpSpPr>
          <p:cNvPr id="33" name="comparison-table"/>
          <p:cNvGrpSpPr/>
          <p:nvPr/>
        </p:nvGrpSpPr>
        <p:grpSpPr>
          <a:xfrm>
            <a:off x="609600" y="1752600"/>
            <a:ext cx="10972800" cy="3933825"/>
            <a:chOff x="609600" y="1752600"/>
            <a:chExt cx="10972800" cy="3933825"/>
          </a:xfrm>
        </p:grpSpPr>
        <p:grpSp>
          <p:nvGrpSpPr>
            <p:cNvPr id="8" name="comparison-table-fills"/>
            <p:cNvGrpSpPr/>
            <p:nvPr/>
          </p:nvGrpSpPr>
          <p:grpSpPr>
            <a:xfrm>
              <a:off x="609600" y="1752600"/>
              <a:ext cx="10972800" cy="3924300"/>
              <a:chOff x="609600" y="1752600"/>
              <a:chExt cx="10972800" cy="3924300"/>
            </a:xfrm>
          </p:grpSpPr>
          <p:sp>
            <p:nvSpPr>
              <p:cNvPr id="5" name="Rectangle 5"/>
              <p:cNvSpPr/>
              <p:nvPr/>
            </p:nvSpPr>
            <p:spPr>
              <a:xfrm>
                <a:off x="609600" y="1752600"/>
                <a:ext cx="6915150" cy="571500"/>
              </a:xfrm>
              <a:prstGeom prst="rect">
                <a:avLst/>
              </a:prstGeom>
              <a:solidFill>
                <a:srgbClr val="F3F5F7"/>
              </a:solidFill>
              <a:ln>
                <a:noFill/>
              </a:ln>
            </p:spPr>
          </p:sp>
          <p:sp>
            <p:nvSpPr>
              <p:cNvPr id="6" name="Rectangle 6"/>
              <p:cNvSpPr/>
              <p:nvPr/>
            </p:nvSpPr>
            <p:spPr>
              <a:xfrm>
                <a:off x="7524750" y="1752600"/>
                <a:ext cx="4057650" cy="571500"/>
              </a:xfrm>
              <a:prstGeom prst="rect">
                <a:avLst/>
              </a:prstGeom>
              <a:solidFill>
                <a:srgbClr val="0E6680"/>
              </a:solidFill>
              <a:ln>
                <a:noFill/>
              </a:ln>
            </p:spPr>
          </p:sp>
          <p:sp>
            <p:nvSpPr>
              <p:cNvPr id="7" name="Rectangle 7"/>
              <p:cNvSpPr/>
              <p:nvPr/>
            </p:nvSpPr>
            <p:spPr>
              <a:xfrm>
                <a:off x="7524750" y="2324100"/>
                <a:ext cx="4057650" cy="3352800"/>
              </a:xfrm>
              <a:prstGeom prst="rect">
                <a:avLst/>
              </a:prstGeom>
              <a:solidFill>
                <a:srgbClr val="EAF3F6"/>
              </a:solidFill>
              <a:ln>
                <a:noFill/>
              </a:ln>
            </p:spPr>
          </p:sp>
        </p:grpSp>
        <p:grpSp>
          <p:nvGrpSpPr>
            <p:cNvPr id="14" name="comparison-table-rules"/>
            <p:cNvGrpSpPr/>
            <p:nvPr/>
          </p:nvGrpSpPr>
          <p:grpSpPr>
            <a:xfrm>
              <a:off x="609600" y="2324100"/>
              <a:ext cx="10972800" cy="3362325"/>
              <a:chOff x="609600" y="2324100"/>
              <a:chExt cx="10972800" cy="3362325"/>
            </a:xfrm>
          </p:grpSpPr>
          <p:sp>
            <p:nvSpPr>
              <p:cNvPr id="9" name="Line 9"/>
              <p:cNvSpPr/>
              <p:nvPr/>
            </p:nvSpPr>
            <p:spPr>
              <a:xfrm>
                <a:off x="609600" y="23241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0" name="Line 10"/>
              <p:cNvSpPr/>
              <p:nvPr/>
            </p:nvSpPr>
            <p:spPr>
              <a:xfrm>
                <a:off x="609600" y="31623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1" name="Line 11"/>
              <p:cNvSpPr/>
              <p:nvPr/>
            </p:nvSpPr>
            <p:spPr>
              <a:xfrm>
                <a:off x="609600" y="40005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2" name="Line 12"/>
              <p:cNvSpPr/>
              <p:nvPr/>
            </p:nvSpPr>
            <p:spPr>
              <a:xfrm>
                <a:off x="609600" y="48387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3" name="Line 13"/>
              <p:cNvSpPr/>
              <p:nvPr/>
            </p:nvSpPr>
            <p:spPr>
              <a:xfrm>
                <a:off x="609600" y="5676900"/>
                <a:ext cx="10972800" cy="9525"/>
              </a:xfrm>
              <a:custGeom>
                <a:avLst/>
                <a:gdLst/>
                <a:ahLst/>
                <a:cxnLst/>
                <a:rect l="l" t="t" r="r" b="b"/>
                <a:pathLst>
                  <a:path w="10972800" h="9525">
                    <a:moveTo>
                      <a:pt x="0" y="0"/>
                    </a:moveTo>
                    <a:lnTo>
                      <a:pt x="10972800" y="0"/>
                    </a:lnTo>
                  </a:path>
                </a:pathLst>
              </a:custGeom>
              <a:noFill/>
              <a:ln w="9525">
                <a:solidFill>
                  <a:srgbClr val="D3DBE1"/>
                </a:solidFill>
              </a:ln>
            </p:spPr>
          </p:sp>
        </p:grpSp>
        <p:grpSp>
          <p:nvGrpSpPr>
            <p:cNvPr id="17" name="comparison-table-header"/>
            <p:cNvGrpSpPr/>
            <p:nvPr/>
          </p:nvGrpSpPr>
          <p:grpSpPr>
            <a:xfrm>
              <a:off x="3649218" y="1911350"/>
              <a:ext cx="6452543" cy="322707"/>
              <a:chOff x="3649218" y="1911350"/>
              <a:chExt cx="6452543" cy="322707"/>
            </a:xfrm>
          </p:grpSpPr>
          <p:sp>
            <p:nvSpPr>
              <p:cNvPr id="15" name="TextBox 15"/>
              <p:cNvSpPr txBox="1"/>
              <p:nvPr/>
            </p:nvSpPr>
            <p:spPr>
              <a:xfrm>
                <a:off x="3649218" y="1911350"/>
                <a:ext cx="2765287"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Пакетная обработка</a:t>
                </a:r>
              </a:p>
            </p:txBody>
          </p:sp>
          <p:sp>
            <p:nvSpPr>
              <p:cNvPr id="16" name="TextBox 16"/>
              <p:cNvSpPr txBox="1"/>
              <p:nvPr/>
            </p:nvSpPr>
            <p:spPr>
              <a:xfrm>
                <a:off x="7706868" y="1911350"/>
                <a:ext cx="2921769" cy="322707"/>
              </a:xfrm>
              <a:prstGeom prst="rect">
                <a:avLst/>
              </a:prstGeom>
              <a:noFill/>
              <a:ln>
                <a:noFill/>
              </a:ln>
            </p:spPr>
            <p:txBody>
              <a:bodyPr wrap="square" lIns="0" tIns="0" rIns="0" bIns="0" anchor="t" anchorCtr="0">
                <a:spAutoFit/>
              </a:bodyPr>
              <a:lstStyle/>
              <a:p>
                <a:pPr algn="l"/>
                <a:r>
                  <a:rPr lang="ru" sz="1650" b="1" dirty="0">
                    <a:solidFill>
                      <a:srgbClr val="FFFFFF"/>
                    </a:solidFill>
                    <a:latin typeface="+mn-lt"/>
                    <a:ea typeface="+mn-ea"/>
                    <a:cs typeface="+mn-cs"/>
                  </a:rPr>
                  <a:t>Потоковая обработка</a:t>
                </a:r>
              </a:p>
            </p:txBody>
          </p:sp>
        </p:grpSp>
        <p:grpSp>
          <p:nvGrpSpPr>
            <p:cNvPr id="22" name="comparison-table-criteria"/>
            <p:cNvGrpSpPr/>
            <p:nvPr/>
          </p:nvGrpSpPr>
          <p:grpSpPr>
            <a:xfrm>
              <a:off x="791718" y="2616200"/>
              <a:ext cx="2394893" cy="2837307"/>
              <a:chOff x="791718" y="2616200"/>
              <a:chExt cx="2394893" cy="2837307"/>
            </a:xfrm>
          </p:grpSpPr>
          <p:sp>
            <p:nvSpPr>
              <p:cNvPr id="18" name="TextBox 18"/>
              <p:cNvSpPr txBox="1"/>
              <p:nvPr/>
            </p:nvSpPr>
            <p:spPr>
              <a:xfrm>
                <a:off x="791718" y="2616200"/>
                <a:ext cx="1022281"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Данные</a:t>
                </a:r>
              </a:p>
            </p:txBody>
          </p:sp>
          <p:sp>
            <p:nvSpPr>
              <p:cNvPr id="19" name="TextBox 19"/>
              <p:cNvSpPr txBox="1"/>
              <p:nvPr/>
            </p:nvSpPr>
            <p:spPr>
              <a:xfrm>
                <a:off x="791718" y="3454400"/>
                <a:ext cx="2295850"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Когда считается</a:t>
                </a:r>
              </a:p>
            </p:txBody>
          </p:sp>
          <p:sp>
            <p:nvSpPr>
              <p:cNvPr id="20" name="TextBox 20"/>
              <p:cNvSpPr txBox="1"/>
              <p:nvPr/>
            </p:nvSpPr>
            <p:spPr>
              <a:xfrm>
                <a:off x="791718" y="4292600"/>
                <a:ext cx="2921769"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Задержка результата</a:t>
                </a:r>
              </a:p>
            </p:txBody>
          </p:sp>
          <p:sp>
            <p:nvSpPr>
              <p:cNvPr id="21" name="TextBox 21"/>
              <p:cNvSpPr txBox="1"/>
              <p:nvPr/>
            </p:nvSpPr>
            <p:spPr>
              <a:xfrm>
                <a:off x="791718" y="5130800"/>
                <a:ext cx="2295850"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Типичные задачи</a:t>
                </a:r>
              </a:p>
            </p:txBody>
          </p:sp>
        </p:grpSp>
        <p:grpSp>
          <p:nvGrpSpPr>
            <p:cNvPr id="27" name="comparison-table-batch"/>
            <p:cNvGrpSpPr/>
            <p:nvPr/>
          </p:nvGrpSpPr>
          <p:grpSpPr>
            <a:xfrm>
              <a:off x="3649218" y="2616200"/>
              <a:ext cx="3560870" cy="2970657"/>
              <a:chOff x="3649218" y="2616200"/>
              <a:chExt cx="3560870" cy="2970657"/>
            </a:xfrm>
          </p:grpSpPr>
          <p:sp>
            <p:nvSpPr>
              <p:cNvPr id="23" name="TextBox 23"/>
              <p:cNvSpPr txBox="1"/>
              <p:nvPr/>
            </p:nvSpPr>
            <p:spPr>
              <a:xfrm>
                <a:off x="3649218" y="2616200"/>
                <a:ext cx="4344261"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ограниченный накопленный набор</a:t>
                </a:r>
              </a:p>
            </p:txBody>
          </p:sp>
          <p:sp>
            <p:nvSpPr>
              <p:cNvPr id="24" name="TextBox 24"/>
              <p:cNvSpPr txBox="1"/>
              <p:nvPr/>
            </p:nvSpPr>
            <p:spPr>
              <a:xfrm>
                <a:off x="3649218" y="3321050"/>
                <a:ext cx="3045672" cy="589407"/>
              </a:xfrm>
              <a:prstGeom prst="rect">
                <a:avLst/>
              </a:prstGeom>
              <a:noFill/>
              <a:ln>
                <a:noFill/>
              </a:ln>
            </p:spPr>
            <p:txBody>
              <a:bodyPr wrap="square" lIns="0" tIns="0" rIns="0" bIns="0" anchor="t" anchorCtr="0">
                <a:spAutoFit/>
              </a:bodyPr>
              <a:lstStyle/>
              <a:p>
                <a:pPr algn="l">
                  <a:lnSpc>
                    <a:spcPts val="2100"/>
                  </a:lnSpc>
                </a:pPr>
                <a:r>
                  <a:rPr lang="ru" sz="1650" dirty="0">
                    <a:solidFill>
                      <a:srgbClr val="4A5663"/>
                    </a:solidFill>
                    <a:latin typeface="+mn-lt"/>
                    <a:ea typeface="+mn-ea"/>
                    <a:cs typeface="+mn-cs"/>
                  </a:rPr>
                  <a:t>по расписанию, например</a:t>
                </a:r>
                <a:br>
                  <a:rPr lang="ru" sz="1650" dirty="0">
                    <a:solidFill>
                      <a:srgbClr val="4A5663"/>
                    </a:solidFill>
                    <a:latin typeface="+mn-lt"/>
                    <a:ea typeface="+mn-ea"/>
                    <a:cs typeface="+mn-cs"/>
                  </a:rPr>
                </a:br>
                <a:r>
                  <a:rPr lang="ru" sz="1650" dirty="0">
                    <a:solidFill>
                      <a:srgbClr val="4A5663"/>
                    </a:solidFill>
                    <a:latin typeface="+mn-lt"/>
                    <a:ea typeface="+mn-ea"/>
                    <a:cs typeface="+mn-cs"/>
                  </a:rPr>
                  <a:t>раз в сутки</a:t>
                </a:r>
              </a:p>
            </p:txBody>
          </p:sp>
          <p:sp>
            <p:nvSpPr>
              <p:cNvPr id="25" name="TextBox 25"/>
              <p:cNvSpPr txBox="1"/>
              <p:nvPr/>
            </p:nvSpPr>
            <p:spPr>
              <a:xfrm>
                <a:off x="3649218" y="4292600"/>
                <a:ext cx="4272015"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до суток: зависит от расписания</a:t>
                </a:r>
              </a:p>
            </p:txBody>
          </p:sp>
          <p:sp>
            <p:nvSpPr>
              <p:cNvPr id="26" name="TextBox 26"/>
              <p:cNvSpPr txBox="1"/>
              <p:nvPr/>
            </p:nvSpPr>
            <p:spPr>
              <a:xfrm>
                <a:off x="3649218" y="4997450"/>
                <a:ext cx="3257299" cy="589407"/>
              </a:xfrm>
              <a:prstGeom prst="rect">
                <a:avLst/>
              </a:prstGeom>
              <a:noFill/>
              <a:ln>
                <a:noFill/>
              </a:ln>
            </p:spPr>
            <p:txBody>
              <a:bodyPr wrap="square" lIns="0" tIns="0" rIns="0" bIns="0" anchor="t" anchorCtr="0">
                <a:spAutoFit/>
              </a:bodyPr>
              <a:lstStyle/>
              <a:p>
                <a:pPr algn="l">
                  <a:lnSpc>
                    <a:spcPts val="2100"/>
                  </a:lnSpc>
                </a:pPr>
                <a:r>
                  <a:rPr lang="ru" sz="1650" dirty="0">
                    <a:solidFill>
                      <a:srgbClr val="4A5663"/>
                    </a:solidFill>
                    <a:latin typeface="+mn-lt"/>
                    <a:ea typeface="+mn-ea"/>
                    <a:cs typeface="+mn-cs"/>
                  </a:rPr>
                  <a:t>отчёты за месяц, обучение</a:t>
                </a:r>
                <a:br>
                  <a:rPr lang="ru" sz="1650" dirty="0">
                    <a:solidFill>
                      <a:srgbClr val="4A5663"/>
                    </a:solidFill>
                    <a:latin typeface="+mn-lt"/>
                    <a:ea typeface="+mn-ea"/>
                    <a:cs typeface="+mn-cs"/>
                  </a:rPr>
                </a:br>
                <a:r>
                  <a:rPr lang="ru" sz="1650" dirty="0">
                    <a:solidFill>
                      <a:srgbClr val="4A5663"/>
                    </a:solidFill>
                    <a:latin typeface="+mn-lt"/>
                    <a:ea typeface="+mn-ea"/>
                    <a:cs typeface="+mn-cs"/>
                  </a:rPr>
                  <a:t>моделей на истории</a:t>
                </a:r>
              </a:p>
            </p:txBody>
          </p:sp>
        </p:grpSp>
        <p:grpSp>
          <p:nvGrpSpPr>
            <p:cNvPr id="32" name="comparison-table-stream"/>
            <p:cNvGrpSpPr/>
            <p:nvPr/>
          </p:nvGrpSpPr>
          <p:grpSpPr>
            <a:xfrm>
              <a:off x="7706868" y="2616200"/>
              <a:ext cx="3316534" cy="2970657"/>
              <a:chOff x="7706868" y="2616200"/>
              <a:chExt cx="3316534" cy="2970657"/>
            </a:xfrm>
          </p:grpSpPr>
          <p:sp>
            <p:nvSpPr>
              <p:cNvPr id="28" name="TextBox 28"/>
              <p:cNvSpPr txBox="1"/>
              <p:nvPr/>
            </p:nvSpPr>
            <p:spPr>
              <a:xfrm>
                <a:off x="7706868" y="2616200"/>
                <a:ext cx="4046171"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неограниченный поток событий</a:t>
                </a:r>
              </a:p>
            </p:txBody>
          </p:sp>
          <p:sp>
            <p:nvSpPr>
              <p:cNvPr id="29" name="TextBox 29"/>
              <p:cNvSpPr txBox="1"/>
              <p:nvPr/>
            </p:nvSpPr>
            <p:spPr>
              <a:xfrm>
                <a:off x="7706868" y="3454400"/>
                <a:ext cx="3823364"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по мере поступления событий</a:t>
                </a:r>
              </a:p>
            </p:txBody>
          </p:sp>
          <p:sp>
            <p:nvSpPr>
              <p:cNvPr id="30" name="TextBox 30"/>
              <p:cNvSpPr txBox="1"/>
              <p:nvPr/>
            </p:nvSpPr>
            <p:spPr>
              <a:xfrm>
                <a:off x="7706868" y="4292600"/>
                <a:ext cx="3600555"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от долей секунды до секунд</a:t>
                </a:r>
              </a:p>
            </p:txBody>
          </p:sp>
          <p:sp>
            <p:nvSpPr>
              <p:cNvPr id="31" name="TextBox 31"/>
              <p:cNvSpPr txBox="1"/>
              <p:nvPr/>
            </p:nvSpPr>
            <p:spPr>
              <a:xfrm>
                <a:off x="7706868" y="4997450"/>
                <a:ext cx="2903632" cy="589407"/>
              </a:xfrm>
              <a:prstGeom prst="rect">
                <a:avLst/>
              </a:prstGeom>
              <a:noFill/>
              <a:ln>
                <a:noFill/>
              </a:ln>
            </p:spPr>
            <p:txBody>
              <a:bodyPr wrap="square" lIns="0" tIns="0" rIns="0" bIns="0" anchor="t" anchorCtr="0">
                <a:spAutoFit/>
              </a:bodyPr>
              <a:lstStyle/>
              <a:p>
                <a:pPr algn="l">
                  <a:lnSpc>
                    <a:spcPts val="2100"/>
                  </a:lnSpc>
                </a:pPr>
                <a:r>
                  <a:rPr lang="ru" sz="1650" dirty="0">
                    <a:solidFill>
                      <a:srgbClr val="17212B"/>
                    </a:solidFill>
                    <a:latin typeface="+mn-lt"/>
                    <a:ea typeface="+mn-ea"/>
                    <a:cs typeface="+mn-cs"/>
                  </a:rPr>
                  <a:t>обнаружение аварий,</a:t>
                </a:r>
                <a:br>
                  <a:rPr lang="ru" sz="1650" dirty="0">
                    <a:solidFill>
                      <a:srgbClr val="17212B"/>
                    </a:solidFill>
                    <a:latin typeface="+mn-lt"/>
                    <a:ea typeface="+mn-ea"/>
                    <a:cs typeface="+mn-cs"/>
                  </a:rPr>
                </a:br>
                <a:r>
                  <a:rPr lang="ru" sz="1650" dirty="0">
                    <a:solidFill>
                      <a:srgbClr val="17212B"/>
                    </a:solidFill>
                    <a:latin typeface="+mn-lt"/>
                    <a:ea typeface="+mn-ea"/>
                    <a:cs typeface="+mn-cs"/>
                  </a:rPr>
                  <a:t>контроль оборудования</a:t>
                </a:r>
              </a:p>
            </p:txBody>
          </p:sp>
        </p:grpSp>
      </p:grpSp>
      <p:grpSp>
        <p:nvGrpSpPr>
          <p:cNvPr id="36" name="takeaway"/>
          <p:cNvGrpSpPr/>
          <p:nvPr/>
        </p:nvGrpSpPr>
        <p:grpSpPr>
          <a:xfrm>
            <a:off x="609600" y="5829300"/>
            <a:ext cx="6447889" cy="399669"/>
            <a:chOff x="609600" y="5829300"/>
            <a:chExt cx="6447889" cy="399669"/>
          </a:xfrm>
        </p:grpSpPr>
        <p:sp>
          <p:nvSpPr>
            <p:cNvPr id="34" name="Rectangle 34"/>
            <p:cNvSpPr/>
            <p:nvPr/>
          </p:nvSpPr>
          <p:spPr>
            <a:xfrm>
              <a:off x="609600" y="5829300"/>
              <a:ext cx="57150" cy="381000"/>
            </a:xfrm>
            <a:prstGeom prst="rect">
              <a:avLst/>
            </a:prstGeom>
            <a:solidFill>
              <a:srgbClr val="0E6680"/>
            </a:solidFill>
            <a:ln>
              <a:noFill/>
            </a:ln>
          </p:spPr>
        </p:sp>
        <p:sp>
          <p:nvSpPr>
            <p:cNvPr id="35" name="TextBox 35"/>
            <p:cNvSpPr txBox="1"/>
            <p:nvPr/>
          </p:nvSpPr>
          <p:spPr>
            <a:xfrm>
              <a:off x="829056" y="5876925"/>
              <a:ext cx="7598688"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На практике два подхода часто дополняют друг друга</a:t>
              </a:r>
            </a:p>
          </p:txBody>
        </p:sp>
      </p:grpSp>
      <p:grpSp>
        <p:nvGrpSpPr>
          <p:cNvPr id="40" name="footer"/>
          <p:cNvGrpSpPr/>
          <p:nvPr/>
        </p:nvGrpSpPr>
        <p:grpSpPr>
          <a:xfrm>
            <a:off x="603504" y="6400800"/>
            <a:ext cx="10984992" cy="348996"/>
            <a:chOff x="603504" y="6400800"/>
            <a:chExt cx="10984992" cy="348996"/>
          </a:xfrm>
        </p:grpSpPr>
        <p:sp>
          <p:nvSpPr>
            <p:cNvPr id="37" name="Line 37"/>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38" name="TextBox 38"/>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39" name="TextBox 39"/>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6 / 12</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111519" cy="1127379"/>
            <a:chOff x="596646" y="381000"/>
            <a:chExt cx="7111519"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8676053"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Анализ потока опирается на время события,</a:t>
              </a:r>
              <a:br>
                <a:rPr lang="ru" sz="2550" b="1" dirty="0">
                  <a:solidFill>
                    <a:srgbClr val="17212B"/>
                  </a:solidFill>
                  <a:latin typeface="+mn-lt"/>
                  <a:ea typeface="+mn-ea"/>
                  <a:cs typeface="+mn-cs"/>
                </a:rPr>
              </a:br>
              <a:r>
                <a:rPr lang="ru" sz="2550" b="1" dirty="0">
                  <a:solidFill>
                    <a:srgbClr val="17212B"/>
                  </a:solidFill>
                  <a:latin typeface="+mn-lt"/>
                  <a:ea typeface="+mn-ea"/>
                  <a:cs typeface="+mn-cs"/>
                </a:rPr>
                <a:t>а не на время поступления</a:t>
              </a:r>
            </a:p>
          </p:txBody>
        </p:sp>
      </p:grpSp>
      <p:grpSp>
        <p:nvGrpSpPr>
          <p:cNvPr id="66" name="time-diagram"/>
          <p:cNvGrpSpPr/>
          <p:nvPr/>
        </p:nvGrpSpPr>
        <p:grpSpPr>
          <a:xfrm>
            <a:off x="601218" y="1962150"/>
            <a:ext cx="10885932" cy="3223133"/>
            <a:chOff x="601218" y="1962150"/>
            <a:chExt cx="10885932" cy="3223133"/>
          </a:xfrm>
        </p:grpSpPr>
        <p:grpSp>
          <p:nvGrpSpPr>
            <p:cNvPr id="9" name="axis-labels"/>
            <p:cNvGrpSpPr/>
            <p:nvPr/>
          </p:nvGrpSpPr>
          <p:grpSpPr>
            <a:xfrm>
              <a:off x="601218" y="2133600"/>
              <a:ext cx="1265191" cy="2899283"/>
              <a:chOff x="601218" y="2133600"/>
              <a:chExt cx="1265191" cy="2899283"/>
            </a:xfrm>
          </p:grpSpPr>
          <p:sp>
            <p:nvSpPr>
              <p:cNvPr id="5" name="TextBox 5"/>
              <p:cNvSpPr txBox="1"/>
              <p:nvPr/>
            </p:nvSpPr>
            <p:spPr>
              <a:xfrm>
                <a:off x="601218" y="2133600"/>
                <a:ext cx="1092470" cy="570357"/>
              </a:xfrm>
              <a:prstGeom prst="rect">
                <a:avLst/>
              </a:prstGeom>
              <a:noFill/>
              <a:ln>
                <a:noFill/>
              </a:ln>
            </p:spPr>
            <p:txBody>
              <a:bodyPr wrap="square" lIns="0" tIns="0" rIns="0" bIns="0" anchor="t" anchorCtr="0">
                <a:spAutoFit/>
              </a:bodyPr>
              <a:lstStyle/>
              <a:p>
                <a:pPr algn="l">
                  <a:lnSpc>
                    <a:spcPts val="1950"/>
                  </a:lnSpc>
                </a:pPr>
                <a:r>
                  <a:rPr lang="ru" sz="1650" b="1" dirty="0">
                    <a:solidFill>
                      <a:srgbClr val="17212B"/>
                    </a:solidFill>
                    <a:latin typeface="+mn-lt"/>
                    <a:ea typeface="+mn-ea"/>
                    <a:cs typeface="+mn-cs"/>
                  </a:rPr>
                  <a:t>Время</a:t>
                </a:r>
                <a:br>
                  <a:rPr lang="ru" sz="1650" b="1" dirty="0">
                    <a:solidFill>
                      <a:srgbClr val="17212B"/>
                    </a:solidFill>
                    <a:latin typeface="+mn-lt"/>
                    <a:ea typeface="+mn-ea"/>
                    <a:cs typeface="+mn-cs"/>
                  </a:rPr>
                </a:br>
                <a:r>
                  <a:rPr lang="ru" sz="1650" b="1" dirty="0">
                    <a:solidFill>
                      <a:srgbClr val="17212B"/>
                    </a:solidFill>
                    <a:latin typeface="+mn-lt"/>
                    <a:ea typeface="+mn-ea"/>
                    <a:cs typeface="+mn-cs"/>
                  </a:rPr>
                  <a:t>события</a:t>
                </a:r>
              </a:p>
            </p:txBody>
          </p:sp>
          <p:sp>
            <p:nvSpPr>
              <p:cNvPr id="6" name="TextBox 6"/>
              <p:cNvSpPr txBox="1"/>
              <p:nvPr/>
            </p:nvSpPr>
            <p:spPr>
              <a:xfrm>
                <a:off x="602742" y="2673350"/>
                <a:ext cx="154167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на устройстве</a:t>
                </a:r>
              </a:p>
            </p:txBody>
          </p:sp>
          <p:sp>
            <p:nvSpPr>
              <p:cNvPr id="7" name="TextBox 7"/>
              <p:cNvSpPr txBox="1"/>
              <p:nvPr/>
            </p:nvSpPr>
            <p:spPr>
              <a:xfrm>
                <a:off x="601218" y="4229100"/>
                <a:ext cx="1349198" cy="570357"/>
              </a:xfrm>
              <a:prstGeom prst="rect">
                <a:avLst/>
              </a:prstGeom>
              <a:noFill/>
              <a:ln>
                <a:noFill/>
              </a:ln>
            </p:spPr>
            <p:txBody>
              <a:bodyPr wrap="square" lIns="0" tIns="0" rIns="0" bIns="0" anchor="t" anchorCtr="0">
                <a:spAutoFit/>
              </a:bodyPr>
              <a:lstStyle/>
              <a:p>
                <a:pPr algn="l">
                  <a:lnSpc>
                    <a:spcPts val="1950"/>
                  </a:lnSpc>
                </a:pPr>
                <a:r>
                  <a:rPr lang="ru" sz="1650" b="1" dirty="0">
                    <a:solidFill>
                      <a:srgbClr val="17212B"/>
                    </a:solidFill>
                    <a:latin typeface="+mn-lt"/>
                    <a:ea typeface="+mn-ea"/>
                    <a:cs typeface="+mn-cs"/>
                  </a:rPr>
                  <a:t>Время</a:t>
                </a:r>
                <a:br>
                  <a:rPr lang="ru" sz="1650" b="1" dirty="0">
                    <a:solidFill>
                      <a:srgbClr val="17212B"/>
                    </a:solidFill>
                    <a:latin typeface="+mn-lt"/>
                    <a:ea typeface="+mn-ea"/>
                    <a:cs typeface="+mn-cs"/>
                  </a:rPr>
                </a:br>
                <a:r>
                  <a:rPr lang="ru" sz="1650" b="1" dirty="0">
                    <a:solidFill>
                      <a:srgbClr val="17212B"/>
                    </a:solidFill>
                    <a:latin typeface="+mn-lt"/>
                    <a:ea typeface="+mn-ea"/>
                    <a:cs typeface="+mn-cs"/>
                  </a:rPr>
                  <a:t>обработки</a:t>
                </a:r>
              </a:p>
            </p:txBody>
          </p:sp>
          <p:sp>
            <p:nvSpPr>
              <p:cNvPr id="8" name="TextBox 8"/>
              <p:cNvSpPr txBox="1"/>
              <p:nvPr/>
            </p:nvSpPr>
            <p:spPr>
              <a:xfrm>
                <a:off x="602742" y="4768850"/>
                <a:ext cx="1092445"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в системе</a:t>
                </a:r>
              </a:p>
            </p:txBody>
          </p:sp>
        </p:grpSp>
        <p:grpSp>
          <p:nvGrpSpPr>
            <p:cNvPr id="12" name="axes"/>
            <p:cNvGrpSpPr/>
            <p:nvPr/>
          </p:nvGrpSpPr>
          <p:grpSpPr>
            <a:xfrm>
              <a:off x="1905000" y="2381250"/>
              <a:ext cx="9582150" cy="2095501"/>
              <a:chOff x="1905000" y="2381250"/>
              <a:chExt cx="9582150" cy="2095501"/>
            </a:xfrm>
          </p:grpSpPr>
          <p:sp>
            <p:nvSpPr>
              <p:cNvPr id="10" name="Line 10"/>
              <p:cNvSpPr/>
              <p:nvPr/>
            </p:nvSpPr>
            <p:spPr>
              <a:xfrm>
                <a:off x="1905000" y="2381250"/>
                <a:ext cx="9582150" cy="1"/>
              </a:xfrm>
              <a:prstGeom prst="line">
                <a:avLst/>
              </a:prstGeom>
              <a:noFill/>
              <a:ln w="19050">
                <a:solidFill>
                  <a:srgbClr val="4A5663"/>
                </a:solidFill>
                <a:tailEnd type="triangle" w="lg" len="lg"/>
              </a:ln>
            </p:spPr>
          </p:sp>
          <p:sp>
            <p:nvSpPr>
              <p:cNvPr id="11" name="Line 11"/>
              <p:cNvSpPr/>
              <p:nvPr/>
            </p:nvSpPr>
            <p:spPr>
              <a:xfrm>
                <a:off x="1905000" y="4476750"/>
                <a:ext cx="9582150" cy="1"/>
              </a:xfrm>
              <a:prstGeom prst="line">
                <a:avLst/>
              </a:prstGeom>
              <a:noFill/>
              <a:ln w="19050">
                <a:solidFill>
                  <a:srgbClr val="4A5663"/>
                </a:solidFill>
                <a:tailEnd type="triangle" w="lg" len="lg"/>
              </a:ln>
            </p:spPr>
          </p:sp>
        </p:grpSp>
        <p:grpSp>
          <p:nvGrpSpPr>
            <p:cNvPr id="19" name="event-time-ticks"/>
            <p:cNvGrpSpPr/>
            <p:nvPr/>
          </p:nvGrpSpPr>
          <p:grpSpPr>
            <a:xfrm>
              <a:off x="3215866" y="1962150"/>
              <a:ext cx="7379519" cy="234696"/>
              <a:chOff x="3215866" y="1962150"/>
              <a:chExt cx="7379519" cy="234696"/>
            </a:xfrm>
          </p:grpSpPr>
          <p:sp>
            <p:nvSpPr>
              <p:cNvPr id="13" name="TextBox 13"/>
              <p:cNvSpPr txBox="1"/>
              <p:nvPr/>
            </p:nvSpPr>
            <p:spPr>
              <a:xfrm>
                <a:off x="310156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1 с</a:t>
                </a:r>
              </a:p>
            </p:txBody>
          </p:sp>
          <p:sp>
            <p:nvSpPr>
              <p:cNvPr id="14" name="TextBox 14"/>
              <p:cNvSpPr txBox="1"/>
              <p:nvPr/>
            </p:nvSpPr>
            <p:spPr>
              <a:xfrm>
                <a:off x="453031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2 с</a:t>
                </a:r>
              </a:p>
            </p:txBody>
          </p:sp>
          <p:sp>
            <p:nvSpPr>
              <p:cNvPr id="15" name="TextBox 15"/>
              <p:cNvSpPr txBox="1"/>
              <p:nvPr/>
            </p:nvSpPr>
            <p:spPr>
              <a:xfrm>
                <a:off x="595906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3 с</a:t>
                </a:r>
              </a:p>
            </p:txBody>
          </p:sp>
          <p:sp>
            <p:nvSpPr>
              <p:cNvPr id="16" name="TextBox 16"/>
              <p:cNvSpPr txBox="1"/>
              <p:nvPr/>
            </p:nvSpPr>
            <p:spPr>
              <a:xfrm>
                <a:off x="738781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4 с</a:t>
                </a:r>
              </a:p>
            </p:txBody>
          </p:sp>
          <p:sp>
            <p:nvSpPr>
              <p:cNvPr id="17" name="TextBox 17"/>
              <p:cNvSpPr txBox="1"/>
              <p:nvPr/>
            </p:nvSpPr>
            <p:spPr>
              <a:xfrm>
                <a:off x="881656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5 с</a:t>
                </a:r>
              </a:p>
            </p:txBody>
          </p:sp>
          <p:sp>
            <p:nvSpPr>
              <p:cNvPr id="18" name="TextBox 18"/>
              <p:cNvSpPr txBox="1"/>
              <p:nvPr/>
            </p:nvSpPr>
            <p:spPr>
              <a:xfrm>
                <a:off x="1024531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6 с</a:t>
                </a:r>
              </a:p>
            </p:txBody>
          </p:sp>
        </p:grpSp>
        <p:grpSp>
          <p:nvGrpSpPr>
            <p:cNvPr id="26" name="processing-time-ticks"/>
            <p:cNvGrpSpPr/>
            <p:nvPr/>
          </p:nvGrpSpPr>
          <p:grpSpPr>
            <a:xfrm>
              <a:off x="3215866" y="4686300"/>
              <a:ext cx="7379519" cy="234696"/>
              <a:chOff x="3215866" y="4686300"/>
              <a:chExt cx="7379519" cy="234696"/>
            </a:xfrm>
          </p:grpSpPr>
          <p:sp>
            <p:nvSpPr>
              <p:cNvPr id="20" name="TextBox 20"/>
              <p:cNvSpPr txBox="1"/>
              <p:nvPr/>
            </p:nvSpPr>
            <p:spPr>
              <a:xfrm>
                <a:off x="310156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1 с</a:t>
                </a:r>
              </a:p>
            </p:txBody>
          </p:sp>
          <p:sp>
            <p:nvSpPr>
              <p:cNvPr id="21" name="TextBox 21"/>
              <p:cNvSpPr txBox="1"/>
              <p:nvPr/>
            </p:nvSpPr>
            <p:spPr>
              <a:xfrm>
                <a:off x="453031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2 с</a:t>
                </a:r>
              </a:p>
            </p:txBody>
          </p:sp>
          <p:sp>
            <p:nvSpPr>
              <p:cNvPr id="22" name="TextBox 22"/>
              <p:cNvSpPr txBox="1"/>
              <p:nvPr/>
            </p:nvSpPr>
            <p:spPr>
              <a:xfrm>
                <a:off x="595906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3 с</a:t>
                </a:r>
              </a:p>
            </p:txBody>
          </p:sp>
          <p:sp>
            <p:nvSpPr>
              <p:cNvPr id="23" name="TextBox 23"/>
              <p:cNvSpPr txBox="1"/>
              <p:nvPr/>
            </p:nvSpPr>
            <p:spPr>
              <a:xfrm>
                <a:off x="738781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4 с</a:t>
                </a:r>
              </a:p>
            </p:txBody>
          </p:sp>
          <p:sp>
            <p:nvSpPr>
              <p:cNvPr id="24" name="TextBox 24"/>
              <p:cNvSpPr txBox="1"/>
              <p:nvPr/>
            </p:nvSpPr>
            <p:spPr>
              <a:xfrm>
                <a:off x="881656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5 с</a:t>
                </a:r>
              </a:p>
            </p:txBody>
          </p:sp>
          <p:sp>
            <p:nvSpPr>
              <p:cNvPr id="25" name="TextBox 25"/>
              <p:cNvSpPr txBox="1"/>
              <p:nvPr/>
            </p:nvSpPr>
            <p:spPr>
              <a:xfrm>
                <a:off x="1024531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6 с</a:t>
                </a:r>
              </a:p>
            </p:txBody>
          </p:sp>
        </p:grpSp>
        <p:grpSp>
          <p:nvGrpSpPr>
            <p:cNvPr id="34" name="tick-marks"/>
            <p:cNvGrpSpPr/>
            <p:nvPr/>
          </p:nvGrpSpPr>
          <p:grpSpPr>
            <a:xfrm>
              <a:off x="3333750" y="2324100"/>
              <a:ext cx="7153275" cy="2209800"/>
              <a:chOff x="3333750" y="2324100"/>
              <a:chExt cx="7153275" cy="2209800"/>
            </a:xfrm>
          </p:grpSpPr>
          <p:sp>
            <p:nvSpPr>
              <p:cNvPr id="27" name="Line 27"/>
              <p:cNvSpPr/>
              <p:nvPr/>
            </p:nvSpPr>
            <p:spPr>
              <a:xfrm>
                <a:off x="9048750" y="23241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28" name="Line 28"/>
              <p:cNvSpPr/>
              <p:nvPr/>
            </p:nvSpPr>
            <p:spPr>
              <a:xfrm>
                <a:off x="10477500" y="23241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29" name="Line 29"/>
              <p:cNvSpPr/>
              <p:nvPr/>
            </p:nvSpPr>
            <p:spPr>
              <a:xfrm>
                <a:off x="3333750" y="44196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30" name="Line 30"/>
              <p:cNvSpPr/>
              <p:nvPr/>
            </p:nvSpPr>
            <p:spPr>
              <a:xfrm>
                <a:off x="4762500" y="44196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31" name="Line 31"/>
              <p:cNvSpPr/>
              <p:nvPr/>
            </p:nvSpPr>
            <p:spPr>
              <a:xfrm>
                <a:off x="6191250" y="44196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32" name="Line 32"/>
              <p:cNvSpPr/>
              <p:nvPr/>
            </p:nvSpPr>
            <p:spPr>
              <a:xfrm>
                <a:off x="7620000" y="44196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33" name="Line 33"/>
              <p:cNvSpPr/>
              <p:nvPr/>
            </p:nvSpPr>
            <p:spPr>
              <a:xfrm>
                <a:off x="10477500" y="4419600"/>
                <a:ext cx="9525" cy="114300"/>
              </a:xfrm>
              <a:custGeom>
                <a:avLst/>
                <a:gdLst/>
                <a:ahLst/>
                <a:cxnLst/>
                <a:rect l="l" t="t" r="r" b="b"/>
                <a:pathLst>
                  <a:path w="9525" h="114300">
                    <a:moveTo>
                      <a:pt x="0" y="0"/>
                    </a:moveTo>
                    <a:lnTo>
                      <a:pt x="0" y="114300"/>
                    </a:lnTo>
                  </a:path>
                </a:pathLst>
              </a:custGeom>
              <a:noFill/>
              <a:ln w="19050">
                <a:solidFill>
                  <a:srgbClr val="4A5663"/>
                </a:solidFill>
              </a:ln>
            </p:spPr>
          </p:sp>
        </p:grpSp>
        <p:grpSp>
          <p:nvGrpSpPr>
            <p:cNvPr id="38" name="transit-lines"/>
            <p:cNvGrpSpPr/>
            <p:nvPr/>
          </p:nvGrpSpPr>
          <p:grpSpPr>
            <a:xfrm>
              <a:off x="3362325" y="2552700"/>
              <a:ext cx="4943475" cy="1733550"/>
              <a:chOff x="3362325" y="2552700"/>
              <a:chExt cx="4943475" cy="1733550"/>
            </a:xfrm>
          </p:grpSpPr>
          <p:sp>
            <p:nvSpPr>
              <p:cNvPr id="35" name="Line 35"/>
              <p:cNvSpPr/>
              <p:nvPr/>
            </p:nvSpPr>
            <p:spPr>
              <a:xfrm>
                <a:off x="3362325" y="2552700"/>
                <a:ext cx="800100" cy="1733550"/>
              </a:xfrm>
              <a:prstGeom prst="line">
                <a:avLst/>
              </a:prstGeom>
              <a:noFill/>
              <a:ln w="19050">
                <a:solidFill>
                  <a:srgbClr val="8A96A1"/>
                </a:solidFill>
                <a:tailEnd type="triangle" w="lg" len="lg"/>
              </a:ln>
            </p:spPr>
          </p:sp>
          <p:sp>
            <p:nvSpPr>
              <p:cNvPr id="36" name="Line 36"/>
              <p:cNvSpPr/>
              <p:nvPr/>
            </p:nvSpPr>
            <p:spPr>
              <a:xfrm>
                <a:off x="4791075" y="2552700"/>
                <a:ext cx="657225" cy="1733550"/>
              </a:xfrm>
              <a:prstGeom prst="line">
                <a:avLst/>
              </a:prstGeom>
              <a:noFill/>
              <a:ln w="19050">
                <a:solidFill>
                  <a:srgbClr val="8A96A1"/>
                </a:solidFill>
                <a:tailEnd type="triangle" w="lg" len="lg"/>
              </a:ln>
            </p:spPr>
          </p:sp>
          <p:sp>
            <p:nvSpPr>
              <p:cNvPr id="37" name="Line 37"/>
              <p:cNvSpPr/>
              <p:nvPr/>
            </p:nvSpPr>
            <p:spPr>
              <a:xfrm>
                <a:off x="7648575" y="2552700"/>
                <a:ext cx="657225" cy="1733550"/>
              </a:xfrm>
              <a:prstGeom prst="line">
                <a:avLst/>
              </a:prstGeom>
              <a:noFill/>
              <a:ln w="19050">
                <a:solidFill>
                  <a:srgbClr val="8A96A1"/>
                </a:solidFill>
                <a:tailEnd type="triangle" w="lg" len="lg"/>
              </a:ln>
            </p:spPr>
          </p:sp>
        </p:grpSp>
        <p:sp>
          <p:nvSpPr>
            <p:cNvPr id="39" name="Line 39"/>
            <p:cNvSpPr/>
            <p:nvPr/>
          </p:nvSpPr>
          <p:spPr>
            <a:xfrm>
              <a:off x="6305550" y="2514600"/>
              <a:ext cx="3924300" cy="1828800"/>
            </a:xfrm>
            <a:prstGeom prst="line">
              <a:avLst/>
            </a:prstGeom>
            <a:noFill/>
            <a:ln w="19050">
              <a:solidFill>
                <a:srgbClr val="B35A12"/>
              </a:solidFill>
              <a:tailEnd type="triangle" w="lg" len="lg"/>
            </a:ln>
          </p:spPr>
        </p:sp>
        <p:grpSp>
          <p:nvGrpSpPr>
            <p:cNvPr id="42" name="watermark"/>
            <p:cNvGrpSpPr/>
            <p:nvPr/>
          </p:nvGrpSpPr>
          <p:grpSpPr>
            <a:xfrm>
              <a:off x="8050277" y="2597150"/>
              <a:ext cx="1996947" cy="2070100"/>
              <a:chOff x="8050277" y="2597150"/>
              <a:chExt cx="1996947" cy="2070100"/>
            </a:xfrm>
          </p:grpSpPr>
          <p:sp>
            <p:nvSpPr>
              <p:cNvPr id="40" name="Line 40"/>
              <p:cNvSpPr/>
              <p:nvPr/>
            </p:nvSpPr>
            <p:spPr>
              <a:xfrm>
                <a:off x="9048750" y="3067050"/>
                <a:ext cx="9525" cy="1600200"/>
              </a:xfrm>
              <a:custGeom>
                <a:avLst/>
                <a:gdLst/>
                <a:ahLst/>
                <a:cxnLst/>
                <a:rect l="l" t="t" r="r" b="b"/>
                <a:pathLst>
                  <a:path w="9525" h="1600200">
                    <a:moveTo>
                      <a:pt x="0" y="0"/>
                    </a:moveTo>
                    <a:lnTo>
                      <a:pt x="0" y="1600200"/>
                    </a:lnTo>
                  </a:path>
                </a:pathLst>
              </a:custGeom>
              <a:noFill/>
              <a:ln w="19050">
                <a:solidFill>
                  <a:srgbClr val="17212B"/>
                </a:solidFill>
                <a:prstDash val="lgDash"/>
              </a:ln>
            </p:spPr>
          </p:sp>
          <p:sp>
            <p:nvSpPr>
              <p:cNvPr id="41" name="TextBox 41"/>
              <p:cNvSpPr txBox="1"/>
              <p:nvPr/>
            </p:nvSpPr>
            <p:spPr>
              <a:xfrm>
                <a:off x="7830613" y="2597150"/>
                <a:ext cx="2436275" cy="473583"/>
              </a:xfrm>
              <a:prstGeom prst="rect">
                <a:avLst/>
              </a:prstGeom>
              <a:noFill/>
              <a:ln>
                <a:noFill/>
              </a:ln>
            </p:spPr>
            <p:txBody>
              <a:bodyPr wrap="square" lIns="0" tIns="0" rIns="0" bIns="0" anchor="t" anchorCtr="0">
                <a:spAutoFit/>
              </a:bodyPr>
              <a:lstStyle/>
              <a:p>
                <a:pPr algn="ctr">
                  <a:lnSpc>
                    <a:spcPts val="1650"/>
                  </a:lnSpc>
                </a:pPr>
                <a:r>
                  <a:rPr lang="ru" sz="1350" b="1" dirty="0">
                    <a:solidFill>
                      <a:srgbClr val="17212B"/>
                    </a:solidFill>
                    <a:latin typeface="+mn-lt"/>
                    <a:ea typeface="+mn-ea"/>
                    <a:cs typeface="+mn-cs"/>
                  </a:rPr>
                  <a:t>водяной знак W = 4 с</a:t>
                </a:r>
                <a:br>
                  <a:rPr lang="ru" sz="1350" b="1" dirty="0">
                    <a:solidFill>
                      <a:srgbClr val="17212B"/>
                    </a:solidFill>
                    <a:latin typeface="+mn-lt"/>
                    <a:ea typeface="+mn-ea"/>
                    <a:cs typeface="+mn-cs"/>
                  </a:rPr>
                </a:br>
                <a:r>
                  <a:rPr lang="ru" sz="1350" dirty="0">
                    <a:solidFill>
                      <a:srgbClr val="17212B"/>
                    </a:solidFill>
                    <a:latin typeface="+mn-lt"/>
                    <a:ea typeface="+mn-ea"/>
                    <a:cs typeface="+mn-cs"/>
                  </a:rPr>
                  <a:t>события до 4 с получены</a:t>
                </a:r>
              </a:p>
            </p:txBody>
          </p:sp>
        </p:grpSp>
        <p:grpSp>
          <p:nvGrpSpPr>
            <p:cNvPr id="53" name="events-at-source"/>
            <p:cNvGrpSpPr/>
            <p:nvPr/>
          </p:nvGrpSpPr>
          <p:grpSpPr>
            <a:xfrm>
              <a:off x="3181350" y="2228850"/>
              <a:ext cx="4591050" cy="304800"/>
              <a:chOff x="3181350" y="2228850"/>
              <a:chExt cx="4591050" cy="304800"/>
            </a:xfrm>
          </p:grpSpPr>
          <p:grpSp>
            <p:nvGrpSpPr>
              <p:cNvPr id="46" name="Group 46"/>
              <p:cNvGrpSpPr/>
              <p:nvPr/>
            </p:nvGrpSpPr>
            <p:grpSpPr>
              <a:xfrm>
                <a:off x="3181350" y="2228850"/>
                <a:ext cx="4591050" cy="304800"/>
                <a:chOff x="3181350" y="2228850"/>
                <a:chExt cx="4591050" cy="304800"/>
              </a:xfrm>
            </p:grpSpPr>
            <p:sp>
              <p:nvSpPr>
                <p:cNvPr id="43" name="Ellipse 43"/>
                <p:cNvSpPr/>
                <p:nvPr/>
              </p:nvSpPr>
              <p:spPr>
                <a:xfrm>
                  <a:off x="3181350" y="2228850"/>
                  <a:ext cx="304800" cy="304800"/>
                </a:xfrm>
                <a:prstGeom prst="ellipse">
                  <a:avLst/>
                </a:prstGeom>
                <a:solidFill>
                  <a:srgbClr val="0E6680"/>
                </a:solidFill>
                <a:ln>
                  <a:noFill/>
                </a:ln>
              </p:spPr>
            </p:sp>
            <p:sp>
              <p:nvSpPr>
                <p:cNvPr id="44" name="Ellipse 44"/>
                <p:cNvSpPr/>
                <p:nvPr/>
              </p:nvSpPr>
              <p:spPr>
                <a:xfrm>
                  <a:off x="4610100" y="2228850"/>
                  <a:ext cx="304800" cy="304800"/>
                </a:xfrm>
                <a:prstGeom prst="ellipse">
                  <a:avLst/>
                </a:prstGeom>
                <a:solidFill>
                  <a:srgbClr val="0E6680"/>
                </a:solidFill>
                <a:ln>
                  <a:noFill/>
                </a:ln>
              </p:spPr>
            </p:sp>
            <p:sp>
              <p:nvSpPr>
                <p:cNvPr id="45" name="Ellipse 45"/>
                <p:cNvSpPr/>
                <p:nvPr/>
              </p:nvSpPr>
              <p:spPr>
                <a:xfrm>
                  <a:off x="7467600" y="2228850"/>
                  <a:ext cx="304800" cy="304800"/>
                </a:xfrm>
                <a:prstGeom prst="ellipse">
                  <a:avLst/>
                </a:prstGeom>
                <a:solidFill>
                  <a:srgbClr val="0E6680"/>
                </a:solidFill>
                <a:ln>
                  <a:noFill/>
                </a:ln>
              </p:spPr>
            </p:sp>
          </p:grpSp>
          <p:sp>
            <p:nvSpPr>
              <p:cNvPr id="47" name="Ellipse 47"/>
              <p:cNvSpPr/>
              <p:nvPr/>
            </p:nvSpPr>
            <p:spPr>
              <a:xfrm>
                <a:off x="6038850" y="2228850"/>
                <a:ext cx="304800" cy="304800"/>
              </a:xfrm>
              <a:prstGeom prst="ellipse">
                <a:avLst/>
              </a:prstGeom>
              <a:solidFill>
                <a:srgbClr val="B35A12"/>
              </a:solidFill>
              <a:ln>
                <a:noFill/>
              </a:ln>
            </p:spPr>
          </p:sp>
          <p:grpSp>
            <p:nvGrpSpPr>
              <p:cNvPr id="52" name="Group 52"/>
              <p:cNvGrpSpPr/>
              <p:nvPr/>
            </p:nvGrpSpPr>
            <p:grpSpPr>
              <a:xfrm>
                <a:off x="3282729" y="2286000"/>
                <a:ext cx="4388293" cy="234696"/>
                <a:chOff x="3282729" y="2286000"/>
                <a:chExt cx="4388293" cy="234696"/>
              </a:xfrm>
            </p:grpSpPr>
            <p:sp>
              <p:nvSpPr>
                <p:cNvPr id="48" name="TextBox 48"/>
                <p:cNvSpPr txBox="1"/>
                <p:nvPr/>
              </p:nvSpPr>
              <p:spPr>
                <a:xfrm>
                  <a:off x="3168429" y="22860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1</a:t>
                  </a:r>
                </a:p>
              </p:txBody>
            </p:sp>
            <p:sp>
              <p:nvSpPr>
                <p:cNvPr id="49" name="TextBox 49"/>
                <p:cNvSpPr txBox="1"/>
                <p:nvPr/>
              </p:nvSpPr>
              <p:spPr>
                <a:xfrm>
                  <a:off x="4597179" y="22860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2</a:t>
                  </a:r>
                </a:p>
              </p:txBody>
            </p:sp>
            <p:sp>
              <p:nvSpPr>
                <p:cNvPr id="50" name="TextBox 50"/>
                <p:cNvSpPr txBox="1"/>
                <p:nvPr/>
              </p:nvSpPr>
              <p:spPr>
                <a:xfrm>
                  <a:off x="6025929" y="22860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3</a:t>
                  </a:r>
                </a:p>
              </p:txBody>
            </p:sp>
            <p:sp>
              <p:nvSpPr>
                <p:cNvPr id="51" name="TextBox 51"/>
                <p:cNvSpPr txBox="1"/>
                <p:nvPr/>
              </p:nvSpPr>
              <p:spPr>
                <a:xfrm>
                  <a:off x="7454679" y="22860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4</a:t>
                  </a:r>
                </a:p>
              </p:txBody>
            </p:sp>
          </p:grpSp>
        </p:grpSp>
        <p:grpSp>
          <p:nvGrpSpPr>
            <p:cNvPr id="64" name="events-at-system"/>
            <p:cNvGrpSpPr/>
            <p:nvPr/>
          </p:nvGrpSpPr>
          <p:grpSpPr>
            <a:xfrm>
              <a:off x="4038600" y="4324350"/>
              <a:ext cx="6448425" cy="304800"/>
              <a:chOff x="4038600" y="4324350"/>
              <a:chExt cx="6448425" cy="304800"/>
            </a:xfrm>
          </p:grpSpPr>
          <p:grpSp>
            <p:nvGrpSpPr>
              <p:cNvPr id="57" name="Group 57"/>
              <p:cNvGrpSpPr/>
              <p:nvPr/>
            </p:nvGrpSpPr>
            <p:grpSpPr>
              <a:xfrm>
                <a:off x="4038600" y="4324350"/>
                <a:ext cx="4448175" cy="304800"/>
                <a:chOff x="4038600" y="4324350"/>
                <a:chExt cx="4448175" cy="304800"/>
              </a:xfrm>
            </p:grpSpPr>
            <p:sp>
              <p:nvSpPr>
                <p:cNvPr id="54" name="Ellipse 54"/>
                <p:cNvSpPr/>
                <p:nvPr/>
              </p:nvSpPr>
              <p:spPr>
                <a:xfrm>
                  <a:off x="4038600" y="4324350"/>
                  <a:ext cx="304800" cy="304800"/>
                </a:xfrm>
                <a:prstGeom prst="ellipse">
                  <a:avLst/>
                </a:prstGeom>
                <a:solidFill>
                  <a:srgbClr val="0E6680"/>
                </a:solidFill>
                <a:ln>
                  <a:noFill/>
                </a:ln>
              </p:spPr>
            </p:sp>
            <p:sp>
              <p:nvSpPr>
                <p:cNvPr id="55" name="Ellipse 55"/>
                <p:cNvSpPr/>
                <p:nvPr/>
              </p:nvSpPr>
              <p:spPr>
                <a:xfrm>
                  <a:off x="5324475" y="4324350"/>
                  <a:ext cx="304800" cy="304800"/>
                </a:xfrm>
                <a:prstGeom prst="ellipse">
                  <a:avLst/>
                </a:prstGeom>
                <a:solidFill>
                  <a:srgbClr val="0E6680"/>
                </a:solidFill>
                <a:ln>
                  <a:noFill/>
                </a:ln>
              </p:spPr>
            </p:sp>
            <p:sp>
              <p:nvSpPr>
                <p:cNvPr id="56" name="Ellipse 56"/>
                <p:cNvSpPr/>
                <p:nvPr/>
              </p:nvSpPr>
              <p:spPr>
                <a:xfrm>
                  <a:off x="8181975" y="4324350"/>
                  <a:ext cx="304800" cy="304800"/>
                </a:xfrm>
                <a:prstGeom prst="ellipse">
                  <a:avLst/>
                </a:prstGeom>
                <a:solidFill>
                  <a:srgbClr val="0E6680"/>
                </a:solidFill>
                <a:ln>
                  <a:noFill/>
                </a:ln>
              </p:spPr>
            </p:sp>
          </p:grpSp>
          <p:sp>
            <p:nvSpPr>
              <p:cNvPr id="58" name="Ellipse 58"/>
              <p:cNvSpPr/>
              <p:nvPr/>
            </p:nvSpPr>
            <p:spPr>
              <a:xfrm>
                <a:off x="10182225" y="4324350"/>
                <a:ext cx="304800" cy="304800"/>
              </a:xfrm>
              <a:prstGeom prst="ellipse">
                <a:avLst/>
              </a:prstGeom>
              <a:solidFill>
                <a:srgbClr val="B35A12"/>
              </a:solidFill>
              <a:ln>
                <a:noFill/>
              </a:ln>
            </p:spPr>
          </p:sp>
          <p:grpSp>
            <p:nvGrpSpPr>
              <p:cNvPr id="63" name="Group 63"/>
              <p:cNvGrpSpPr/>
              <p:nvPr/>
            </p:nvGrpSpPr>
            <p:grpSpPr>
              <a:xfrm>
                <a:off x="4139979" y="4381500"/>
                <a:ext cx="6245668" cy="234696"/>
                <a:chOff x="4139979" y="4381500"/>
                <a:chExt cx="6245668" cy="234696"/>
              </a:xfrm>
            </p:grpSpPr>
            <p:sp>
              <p:nvSpPr>
                <p:cNvPr id="59" name="TextBox 59"/>
                <p:cNvSpPr txBox="1"/>
                <p:nvPr/>
              </p:nvSpPr>
              <p:spPr>
                <a:xfrm>
                  <a:off x="4025679" y="43815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1</a:t>
                  </a:r>
                </a:p>
              </p:txBody>
            </p:sp>
            <p:sp>
              <p:nvSpPr>
                <p:cNvPr id="60" name="TextBox 60"/>
                <p:cNvSpPr txBox="1"/>
                <p:nvPr/>
              </p:nvSpPr>
              <p:spPr>
                <a:xfrm>
                  <a:off x="5311554" y="43815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2</a:t>
                  </a:r>
                </a:p>
              </p:txBody>
            </p:sp>
            <p:sp>
              <p:nvSpPr>
                <p:cNvPr id="61" name="TextBox 61"/>
                <p:cNvSpPr txBox="1"/>
                <p:nvPr/>
              </p:nvSpPr>
              <p:spPr>
                <a:xfrm>
                  <a:off x="10169304" y="43815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3</a:t>
                  </a:r>
                </a:p>
              </p:txBody>
            </p:sp>
            <p:sp>
              <p:nvSpPr>
                <p:cNvPr id="62" name="TextBox 62"/>
                <p:cNvSpPr txBox="1"/>
                <p:nvPr/>
              </p:nvSpPr>
              <p:spPr>
                <a:xfrm>
                  <a:off x="8169054" y="43815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4</a:t>
                  </a:r>
                </a:p>
              </p:txBody>
            </p:sp>
          </p:grpSp>
        </p:grpSp>
        <p:sp>
          <p:nvSpPr>
            <p:cNvPr id="65" name="TextBox 65"/>
            <p:cNvSpPr txBox="1"/>
            <p:nvPr/>
          </p:nvSpPr>
          <p:spPr>
            <a:xfrm>
              <a:off x="9288413" y="4921250"/>
              <a:ext cx="2092423" cy="264033"/>
            </a:xfrm>
            <a:prstGeom prst="rect">
              <a:avLst/>
            </a:prstGeom>
            <a:noFill/>
            <a:ln>
              <a:noFill/>
            </a:ln>
          </p:spPr>
          <p:txBody>
            <a:bodyPr wrap="square" lIns="0" tIns="0" rIns="0" bIns="0" anchor="t" anchorCtr="0">
              <a:spAutoFit/>
            </a:bodyPr>
            <a:lstStyle/>
            <a:p>
              <a:pPr algn="ctr"/>
              <a:r>
                <a:rPr lang="ru" sz="1350" dirty="0">
                  <a:solidFill>
                    <a:srgbClr val="B35A12"/>
                  </a:solidFill>
                  <a:latin typeface="+mn-lt"/>
                  <a:ea typeface="+mn-ea"/>
                  <a:cs typeface="+mn-cs"/>
                </a:rPr>
                <a:t>событие 3 опоздало</a:t>
              </a:r>
            </a:p>
          </p:txBody>
        </p:sp>
      </p:grpSp>
      <p:sp>
        <p:nvSpPr>
          <p:cNvPr id="67" name="TextBox 67"/>
          <p:cNvSpPr txBox="1"/>
          <p:nvPr/>
        </p:nvSpPr>
        <p:spPr>
          <a:xfrm>
            <a:off x="601218" y="5308600"/>
            <a:ext cx="7468741" cy="894207"/>
          </a:xfrm>
          <a:prstGeom prst="rect">
            <a:avLst/>
          </a:prstGeom>
          <a:noFill/>
          <a:ln>
            <a:noFill/>
          </a:ln>
        </p:spPr>
        <p:txBody>
          <a:bodyPr wrap="square" lIns="0" tIns="0" rIns="0" bIns="0" anchor="t" anchorCtr="0">
            <a:spAutoFit/>
          </a:bodyPr>
          <a:lstStyle/>
          <a:p>
            <a:pPr algn="l">
              <a:lnSpc>
                <a:spcPts val="2250"/>
              </a:lnSpc>
            </a:pPr>
            <a:r>
              <a:rPr lang="ru" sz="1650" dirty="0">
                <a:solidFill>
                  <a:srgbClr val="17212B"/>
                </a:solidFill>
                <a:latin typeface="+mn-lt"/>
                <a:ea typeface="+mn-ea"/>
                <a:cs typeface="+mn-cs"/>
              </a:rPr>
              <a:t>Водяной знак W = 4 с: события, произошедшие до 4-й секунды,</a:t>
            </a:r>
            <a:br>
              <a:rPr lang="ru" sz="1650" dirty="0">
                <a:solidFill>
                  <a:srgbClr val="17212B"/>
                </a:solidFill>
                <a:latin typeface="+mn-lt"/>
                <a:ea typeface="+mn-ea"/>
                <a:cs typeface="+mn-cs"/>
              </a:rPr>
            </a:br>
            <a:r>
              <a:rPr lang="ru" sz="1650" dirty="0">
                <a:solidFill>
                  <a:srgbClr val="17212B"/>
                </a:solidFill>
                <a:latin typeface="+mn-lt"/>
                <a:ea typeface="+mn-ea"/>
                <a:cs typeface="+mn-cs"/>
              </a:rPr>
              <a:t>система считает полученными. Событие 3 пришло позже</a:t>
            </a:r>
            <a:br>
              <a:rPr lang="ru" sz="1650" dirty="0">
                <a:solidFill>
                  <a:srgbClr val="17212B"/>
                </a:solidFill>
                <a:latin typeface="+mn-lt"/>
                <a:ea typeface="+mn-ea"/>
                <a:cs typeface="+mn-cs"/>
              </a:rPr>
            </a:br>
            <a:r>
              <a:rPr lang="ru" sz="1650" dirty="0">
                <a:solidFill>
                  <a:srgbClr val="17212B"/>
                </a:solidFill>
                <a:latin typeface="+mn-lt"/>
                <a:ea typeface="+mn-ea"/>
                <a:cs typeface="+mn-cs"/>
              </a:rPr>
              <a:t>и стало опоздавшим.</a:t>
            </a:r>
          </a:p>
        </p:txBody>
      </p:sp>
      <p:grpSp>
        <p:nvGrpSpPr>
          <p:cNvPr id="69" name="concept-source"/>
          <p:cNvGrpSpPr/>
          <p:nvPr/>
        </p:nvGrpSpPr>
        <p:grpSpPr>
          <a:xfrm>
            <a:off x="9269273" y="5359400"/>
            <a:ext cx="2319223" cy="653796"/>
            <a:chOff x="9269273" y="5359400"/>
            <a:chExt cx="2319223" cy="653796"/>
          </a:xfrm>
        </p:grpSpPr>
        <p:sp>
          <p:nvSpPr>
            <p:cNvPr id="68" name="TextBox 68"/>
            <p:cNvSpPr txBox="1"/>
            <p:nvPr/>
          </p:nvSpPr>
          <p:spPr>
            <a:xfrm>
              <a:off x="8759044" y="5359400"/>
              <a:ext cx="2829452" cy="653796"/>
            </a:xfrm>
            <a:prstGeom prst="rect">
              <a:avLst/>
            </a:prstGeom>
            <a:noFill/>
            <a:ln>
              <a:noFill/>
            </a:ln>
          </p:spPr>
          <p:txBody>
            <a:bodyPr wrap="square" lIns="0" tIns="0" rIns="0" bIns="0" anchor="t" anchorCtr="0">
              <a:spAutoFit/>
            </a:bodyPr>
            <a:lstStyle/>
            <a:p>
              <a:pPr algn="r">
                <a:lnSpc>
                  <a:spcPts val="1650"/>
                </a:lnSpc>
              </a:pPr>
              <a:r>
                <a:rPr lang="ru" sz="1200" dirty="0">
                  <a:solidFill>
                    <a:srgbClr val="5F6B76"/>
                  </a:solidFill>
                  <a:latin typeface="+mn-lt"/>
                  <a:ea typeface="+mn-ea"/>
                  <a:cs typeface="+mn-cs"/>
                </a:rPr>
                <a:t>Понятия по модели Dataflow</a:t>
              </a:r>
              <a:br>
                <a:rPr lang="ru" sz="1200" dirty="0">
                  <a:solidFill>
                    <a:srgbClr val="5F6B76"/>
                  </a:solidFill>
                  <a:latin typeface="+mn-lt"/>
                  <a:ea typeface="+mn-ea"/>
                  <a:cs typeface="+mn-cs"/>
                </a:rPr>
              </a:br>
              <a:r>
                <a:rPr lang="ru" sz="1200" dirty="0">
                  <a:solidFill>
                    <a:srgbClr val="5F6B76"/>
                  </a:solidFill>
                  <a:latin typeface="+mn-lt"/>
                  <a:ea typeface="+mn-ea"/>
                  <a:cs typeface="+mn-cs"/>
                </a:rPr>
                <a:t>(Akidau и соавт., VLDB 2015;</a:t>
              </a:r>
              <a:br>
                <a:rPr lang="ru" sz="1200" dirty="0">
                  <a:solidFill>
                    <a:srgbClr val="5F6B76"/>
                  </a:solidFill>
                  <a:latin typeface="+mn-lt"/>
                  <a:ea typeface="+mn-ea"/>
                  <a:cs typeface="+mn-cs"/>
                </a:rPr>
              </a:br>
              <a:r>
                <a:rPr lang="ru" sz="1200" dirty="0">
                  <a:solidFill>
                    <a:srgbClr val="5F6B76"/>
                  </a:solidFill>
                  <a:latin typeface="+mn-lt"/>
                  <a:ea typeface="+mn-ea"/>
                  <a:cs typeface="+mn-cs"/>
                </a:rPr>
                <a:t>премия VLDB Test of Time, 2026)</a:t>
              </a:r>
            </a:p>
          </p:txBody>
        </p:sp>
      </p:grpSp>
      <p:grpSp>
        <p:nvGrpSpPr>
          <p:cNvPr id="73" name="footer"/>
          <p:cNvGrpSpPr/>
          <p:nvPr/>
        </p:nvGrpSpPr>
        <p:grpSpPr>
          <a:xfrm>
            <a:off x="603504" y="6400800"/>
            <a:ext cx="10984992" cy="348996"/>
            <a:chOff x="603504" y="6400800"/>
            <a:chExt cx="10984992" cy="348996"/>
          </a:xfrm>
        </p:grpSpPr>
        <p:sp>
          <p:nvSpPr>
            <p:cNvPr id="70" name="Line 70"/>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71" name="TextBox 71"/>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72" name="TextBox 72"/>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7 / 12</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8046636" cy="1127379"/>
            <a:chOff x="596646" y="381000"/>
            <a:chExt cx="8046636"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816895"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Окна делят бесконечный поток на конечные части</a:t>
              </a:r>
              <a:br>
                <a:rPr lang="ru" sz="2550" b="1" dirty="0">
                  <a:solidFill>
                    <a:srgbClr val="17212B"/>
                  </a:solidFill>
                  <a:latin typeface="+mn-lt"/>
                  <a:ea typeface="+mn-ea"/>
                  <a:cs typeface="+mn-cs"/>
                </a:rPr>
              </a:br>
              <a:r>
                <a:rPr lang="ru" sz="2550" b="1" dirty="0">
                  <a:solidFill>
                    <a:srgbClr val="17212B"/>
                  </a:solidFill>
                  <a:latin typeface="+mn-lt"/>
                  <a:ea typeface="+mn-ea"/>
                  <a:cs typeface="+mn-cs"/>
                </a:rPr>
                <a:t>для расчётов</a:t>
              </a:r>
            </a:p>
          </p:txBody>
        </p:sp>
      </p:grpSp>
      <p:grpSp>
        <p:nvGrpSpPr>
          <p:cNvPr id="17" name="minute-scale"/>
          <p:cNvGrpSpPr/>
          <p:nvPr/>
        </p:nvGrpSpPr>
        <p:grpSpPr>
          <a:xfrm>
            <a:off x="3092229" y="1733550"/>
            <a:ext cx="8401017" cy="234696"/>
            <a:chOff x="3092229" y="1733550"/>
            <a:chExt cx="8401017" cy="234696"/>
          </a:xfrm>
        </p:grpSpPr>
        <p:sp>
          <p:nvSpPr>
            <p:cNvPr id="5" name="TextBox 5"/>
            <p:cNvSpPr txBox="1"/>
            <p:nvPr/>
          </p:nvSpPr>
          <p:spPr>
            <a:xfrm>
              <a:off x="2977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0</a:t>
              </a:r>
            </a:p>
          </p:txBody>
        </p:sp>
        <p:sp>
          <p:nvSpPr>
            <p:cNvPr id="6" name="TextBox 6"/>
            <p:cNvSpPr txBox="1"/>
            <p:nvPr/>
          </p:nvSpPr>
          <p:spPr>
            <a:xfrm>
              <a:off x="3739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1</a:t>
              </a:r>
            </a:p>
          </p:txBody>
        </p:sp>
        <p:sp>
          <p:nvSpPr>
            <p:cNvPr id="7" name="TextBox 7"/>
            <p:cNvSpPr txBox="1"/>
            <p:nvPr/>
          </p:nvSpPr>
          <p:spPr>
            <a:xfrm>
              <a:off x="4501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2</a:t>
              </a:r>
            </a:p>
          </p:txBody>
        </p:sp>
        <p:sp>
          <p:nvSpPr>
            <p:cNvPr id="8" name="TextBox 8"/>
            <p:cNvSpPr txBox="1"/>
            <p:nvPr/>
          </p:nvSpPr>
          <p:spPr>
            <a:xfrm>
              <a:off x="5263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3</a:t>
              </a:r>
            </a:p>
          </p:txBody>
        </p:sp>
        <p:sp>
          <p:nvSpPr>
            <p:cNvPr id="9" name="TextBox 9"/>
            <p:cNvSpPr txBox="1"/>
            <p:nvPr/>
          </p:nvSpPr>
          <p:spPr>
            <a:xfrm>
              <a:off x="6025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4</a:t>
              </a:r>
            </a:p>
          </p:txBody>
        </p:sp>
        <p:sp>
          <p:nvSpPr>
            <p:cNvPr id="10" name="TextBox 10"/>
            <p:cNvSpPr txBox="1"/>
            <p:nvPr/>
          </p:nvSpPr>
          <p:spPr>
            <a:xfrm>
              <a:off x="6787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5</a:t>
              </a:r>
            </a:p>
          </p:txBody>
        </p:sp>
        <p:sp>
          <p:nvSpPr>
            <p:cNvPr id="11" name="TextBox 11"/>
            <p:cNvSpPr txBox="1"/>
            <p:nvPr/>
          </p:nvSpPr>
          <p:spPr>
            <a:xfrm>
              <a:off x="7549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6</a:t>
              </a:r>
            </a:p>
          </p:txBody>
        </p:sp>
        <p:sp>
          <p:nvSpPr>
            <p:cNvPr id="12" name="TextBox 12"/>
            <p:cNvSpPr txBox="1"/>
            <p:nvPr/>
          </p:nvSpPr>
          <p:spPr>
            <a:xfrm>
              <a:off x="8311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7</a:t>
              </a:r>
            </a:p>
          </p:txBody>
        </p:sp>
        <p:sp>
          <p:nvSpPr>
            <p:cNvPr id="13" name="TextBox 13"/>
            <p:cNvSpPr txBox="1"/>
            <p:nvPr/>
          </p:nvSpPr>
          <p:spPr>
            <a:xfrm>
              <a:off x="9073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8</a:t>
              </a:r>
            </a:p>
          </p:txBody>
        </p:sp>
        <p:sp>
          <p:nvSpPr>
            <p:cNvPr id="14" name="TextBox 14"/>
            <p:cNvSpPr txBox="1"/>
            <p:nvPr/>
          </p:nvSpPr>
          <p:spPr>
            <a:xfrm>
              <a:off x="9835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9</a:t>
              </a:r>
            </a:p>
          </p:txBody>
        </p:sp>
        <p:sp>
          <p:nvSpPr>
            <p:cNvPr id="15" name="TextBox 15"/>
            <p:cNvSpPr txBox="1"/>
            <p:nvPr/>
          </p:nvSpPr>
          <p:spPr>
            <a:xfrm>
              <a:off x="10553003" y="1733550"/>
              <a:ext cx="420494"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10</a:t>
              </a:r>
            </a:p>
          </p:txBody>
        </p:sp>
        <p:sp>
          <p:nvSpPr>
            <p:cNvPr id="16" name="TextBox 16"/>
            <p:cNvSpPr txBox="1"/>
            <p:nvPr/>
          </p:nvSpPr>
          <p:spPr>
            <a:xfrm>
              <a:off x="10985906" y="1733550"/>
              <a:ext cx="507340"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мин</a:t>
              </a:r>
            </a:p>
          </p:txBody>
        </p:sp>
      </p:grpSp>
      <p:grpSp>
        <p:nvGrpSpPr>
          <p:cNvPr id="61" name="lane-tumbling"/>
          <p:cNvGrpSpPr/>
          <p:nvPr/>
        </p:nvGrpSpPr>
        <p:grpSpPr>
          <a:xfrm>
            <a:off x="600456" y="1981200"/>
            <a:ext cx="10886694" cy="803783"/>
            <a:chOff x="600456" y="1981200"/>
            <a:chExt cx="10886694" cy="803783"/>
          </a:xfrm>
        </p:grpSpPr>
        <p:sp>
          <p:nvSpPr>
            <p:cNvPr id="18" name="TextBox 18"/>
            <p:cNvSpPr txBox="1"/>
            <p:nvPr/>
          </p:nvSpPr>
          <p:spPr>
            <a:xfrm>
              <a:off x="600456" y="1981200"/>
              <a:ext cx="2251383"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Фиксированные</a:t>
              </a:r>
            </a:p>
          </p:txBody>
        </p:sp>
        <p:sp>
          <p:nvSpPr>
            <p:cNvPr id="19" name="TextBox 19"/>
            <p:cNvSpPr txBox="1"/>
            <p:nvPr/>
          </p:nvSpPr>
          <p:spPr>
            <a:xfrm>
              <a:off x="602742" y="2292350"/>
              <a:ext cx="178556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не пересекаются</a:t>
              </a:r>
            </a:p>
          </p:txBody>
        </p:sp>
        <p:sp>
          <p:nvSpPr>
            <p:cNvPr id="20" name="TextBox 20"/>
            <p:cNvSpPr txBox="1"/>
            <p:nvPr/>
          </p:nvSpPr>
          <p:spPr>
            <a:xfrm>
              <a:off x="602742" y="2520950"/>
              <a:ext cx="2762370" cy="264033"/>
            </a:xfrm>
            <a:prstGeom prst="rect">
              <a:avLst/>
            </a:prstGeom>
            <a:noFill/>
            <a:ln>
              <a:noFill/>
            </a:ln>
          </p:spPr>
          <p:txBody>
            <a:bodyPr wrap="square" lIns="0" tIns="0" rIns="0" bIns="0" anchor="t" anchorCtr="0">
              <a:spAutoFit/>
            </a:bodyPr>
            <a:lstStyle/>
            <a:p>
              <a:pPr algn="l"/>
              <a:r>
                <a:rPr lang="ru" sz="1350" dirty="0">
                  <a:solidFill>
                    <a:srgbClr val="0E6680"/>
                  </a:solidFill>
                  <a:latin typeface="+mn-lt"/>
                  <a:ea typeface="+mn-ea"/>
                  <a:cs typeface="+mn-cs"/>
                </a:rPr>
                <a:t>среднее за каждую минуту</a:t>
              </a:r>
            </a:p>
          </p:txBody>
        </p:sp>
        <p:sp>
          <p:nvSpPr>
            <p:cNvPr id="21" name="Line 21"/>
            <p:cNvSpPr/>
            <p:nvPr/>
          </p:nvSpPr>
          <p:spPr>
            <a:xfrm>
              <a:off x="3143250" y="2190750"/>
              <a:ext cx="8343900" cy="1"/>
            </a:xfrm>
            <a:prstGeom prst="line">
              <a:avLst/>
            </a:prstGeom>
            <a:noFill/>
            <a:ln w="19050">
              <a:solidFill>
                <a:srgbClr val="8A96A1"/>
              </a:solidFill>
              <a:tailEnd type="triangle" w="lg" len="lg"/>
            </a:ln>
          </p:spPr>
        </p:sp>
        <p:grpSp>
          <p:nvGrpSpPr>
            <p:cNvPr id="33" name="tumbling-ticks"/>
            <p:cNvGrpSpPr/>
            <p:nvPr/>
          </p:nvGrpSpPr>
          <p:grpSpPr>
            <a:xfrm>
              <a:off x="3143250" y="2143125"/>
              <a:ext cx="7629525" cy="95250"/>
              <a:chOff x="3143250" y="2143125"/>
              <a:chExt cx="7629525" cy="95250"/>
            </a:xfrm>
          </p:grpSpPr>
          <p:sp>
            <p:nvSpPr>
              <p:cNvPr id="22" name="Line 22"/>
              <p:cNvSpPr/>
              <p:nvPr/>
            </p:nvSpPr>
            <p:spPr>
              <a:xfrm>
                <a:off x="3143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3" name="Line 23"/>
              <p:cNvSpPr/>
              <p:nvPr/>
            </p:nvSpPr>
            <p:spPr>
              <a:xfrm>
                <a:off x="3905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4" name="Line 24"/>
              <p:cNvSpPr/>
              <p:nvPr/>
            </p:nvSpPr>
            <p:spPr>
              <a:xfrm>
                <a:off x="4667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5" name="Line 25"/>
              <p:cNvSpPr/>
              <p:nvPr/>
            </p:nvSpPr>
            <p:spPr>
              <a:xfrm>
                <a:off x="5429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6" name="Line 26"/>
              <p:cNvSpPr/>
              <p:nvPr/>
            </p:nvSpPr>
            <p:spPr>
              <a:xfrm>
                <a:off x="6191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7" name="Line 27"/>
              <p:cNvSpPr/>
              <p:nvPr/>
            </p:nvSpPr>
            <p:spPr>
              <a:xfrm>
                <a:off x="6953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8" name="Line 28"/>
              <p:cNvSpPr/>
              <p:nvPr/>
            </p:nvSpPr>
            <p:spPr>
              <a:xfrm>
                <a:off x="7715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9" name="Line 29"/>
              <p:cNvSpPr/>
              <p:nvPr/>
            </p:nvSpPr>
            <p:spPr>
              <a:xfrm>
                <a:off x="8477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30" name="Line 30"/>
              <p:cNvSpPr/>
              <p:nvPr/>
            </p:nvSpPr>
            <p:spPr>
              <a:xfrm>
                <a:off x="9239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31" name="Line 31"/>
              <p:cNvSpPr/>
              <p:nvPr/>
            </p:nvSpPr>
            <p:spPr>
              <a:xfrm>
                <a:off x="10001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32" name="Line 32"/>
              <p:cNvSpPr/>
              <p:nvPr/>
            </p:nvSpPr>
            <p:spPr>
              <a:xfrm>
                <a:off x="10763250" y="2143125"/>
                <a:ext cx="9525" cy="95250"/>
              </a:xfrm>
              <a:custGeom>
                <a:avLst/>
                <a:gdLst/>
                <a:ahLst/>
                <a:cxnLst/>
                <a:rect l="l" t="t" r="r" b="b"/>
                <a:pathLst>
                  <a:path w="9525" h="95250">
                    <a:moveTo>
                      <a:pt x="0" y="0"/>
                    </a:moveTo>
                    <a:lnTo>
                      <a:pt x="0" y="95250"/>
                    </a:lnTo>
                  </a:path>
                </a:pathLst>
              </a:custGeom>
              <a:noFill/>
              <a:ln w="19050">
                <a:solidFill>
                  <a:srgbClr val="8A96A1"/>
                </a:solidFill>
              </a:ln>
            </p:spPr>
          </p:sp>
        </p:grpSp>
        <p:grpSp>
          <p:nvGrpSpPr>
            <p:cNvPr id="49" name="tumbling-events"/>
            <p:cNvGrpSpPr/>
            <p:nvPr/>
          </p:nvGrpSpPr>
          <p:grpSpPr>
            <a:xfrm>
              <a:off x="3276600" y="2133600"/>
              <a:ext cx="7372350" cy="114300"/>
              <a:chOff x="3276600" y="2133600"/>
              <a:chExt cx="7372350" cy="114300"/>
            </a:xfrm>
          </p:grpSpPr>
          <p:sp>
            <p:nvSpPr>
              <p:cNvPr id="34" name="Ellipse 34"/>
              <p:cNvSpPr/>
              <p:nvPr/>
            </p:nvSpPr>
            <p:spPr>
              <a:xfrm>
                <a:off x="3276600" y="2133600"/>
                <a:ext cx="114300" cy="114300"/>
              </a:xfrm>
              <a:prstGeom prst="ellipse">
                <a:avLst/>
              </a:prstGeom>
              <a:solidFill>
                <a:srgbClr val="17212B"/>
              </a:solidFill>
              <a:ln>
                <a:noFill/>
              </a:ln>
            </p:spPr>
          </p:sp>
          <p:sp>
            <p:nvSpPr>
              <p:cNvPr id="35" name="Ellipse 35"/>
              <p:cNvSpPr/>
              <p:nvPr/>
            </p:nvSpPr>
            <p:spPr>
              <a:xfrm>
                <a:off x="3562350" y="2133600"/>
                <a:ext cx="114300" cy="114300"/>
              </a:xfrm>
              <a:prstGeom prst="ellipse">
                <a:avLst/>
              </a:prstGeom>
              <a:solidFill>
                <a:srgbClr val="17212B"/>
              </a:solidFill>
              <a:ln>
                <a:noFill/>
              </a:ln>
            </p:spPr>
          </p:sp>
          <p:sp>
            <p:nvSpPr>
              <p:cNvPr id="36" name="Ellipse 36"/>
              <p:cNvSpPr/>
              <p:nvPr/>
            </p:nvSpPr>
            <p:spPr>
              <a:xfrm>
                <a:off x="3943350" y="2133600"/>
                <a:ext cx="114300" cy="114300"/>
              </a:xfrm>
              <a:prstGeom prst="ellipse">
                <a:avLst/>
              </a:prstGeom>
              <a:solidFill>
                <a:srgbClr val="17212B"/>
              </a:solidFill>
              <a:ln>
                <a:noFill/>
              </a:ln>
            </p:spPr>
          </p:sp>
          <p:sp>
            <p:nvSpPr>
              <p:cNvPr id="37" name="Ellipse 37"/>
              <p:cNvSpPr/>
              <p:nvPr/>
            </p:nvSpPr>
            <p:spPr>
              <a:xfrm>
                <a:off x="4419600" y="2133600"/>
                <a:ext cx="114300" cy="114300"/>
              </a:xfrm>
              <a:prstGeom prst="ellipse">
                <a:avLst/>
              </a:prstGeom>
              <a:solidFill>
                <a:srgbClr val="17212B"/>
              </a:solidFill>
              <a:ln>
                <a:noFill/>
              </a:ln>
            </p:spPr>
          </p:sp>
          <p:sp>
            <p:nvSpPr>
              <p:cNvPr id="38" name="Ellipse 38"/>
              <p:cNvSpPr/>
              <p:nvPr/>
            </p:nvSpPr>
            <p:spPr>
              <a:xfrm>
                <a:off x="4895850" y="2133600"/>
                <a:ext cx="114300" cy="114300"/>
              </a:xfrm>
              <a:prstGeom prst="ellipse">
                <a:avLst/>
              </a:prstGeom>
              <a:solidFill>
                <a:srgbClr val="17212B"/>
              </a:solidFill>
              <a:ln>
                <a:noFill/>
              </a:ln>
            </p:spPr>
          </p:sp>
          <p:sp>
            <p:nvSpPr>
              <p:cNvPr id="39" name="Ellipse 39"/>
              <p:cNvSpPr/>
              <p:nvPr/>
            </p:nvSpPr>
            <p:spPr>
              <a:xfrm>
                <a:off x="5276850" y="2133600"/>
                <a:ext cx="114300" cy="114300"/>
              </a:xfrm>
              <a:prstGeom prst="ellipse">
                <a:avLst/>
              </a:prstGeom>
              <a:solidFill>
                <a:srgbClr val="17212B"/>
              </a:solidFill>
              <a:ln>
                <a:noFill/>
              </a:ln>
            </p:spPr>
          </p:sp>
          <p:sp>
            <p:nvSpPr>
              <p:cNvPr id="40" name="Ellipse 40"/>
              <p:cNvSpPr/>
              <p:nvPr/>
            </p:nvSpPr>
            <p:spPr>
              <a:xfrm>
                <a:off x="5562600" y="2133600"/>
                <a:ext cx="114300" cy="114300"/>
              </a:xfrm>
              <a:prstGeom prst="ellipse">
                <a:avLst/>
              </a:prstGeom>
              <a:solidFill>
                <a:srgbClr val="17212B"/>
              </a:solidFill>
              <a:ln>
                <a:noFill/>
              </a:ln>
            </p:spPr>
          </p:sp>
          <p:sp>
            <p:nvSpPr>
              <p:cNvPr id="41" name="Ellipse 41"/>
              <p:cNvSpPr/>
              <p:nvPr/>
            </p:nvSpPr>
            <p:spPr>
              <a:xfrm>
                <a:off x="7181850" y="2133600"/>
                <a:ext cx="114300" cy="114300"/>
              </a:xfrm>
              <a:prstGeom prst="ellipse">
                <a:avLst/>
              </a:prstGeom>
              <a:solidFill>
                <a:srgbClr val="17212B"/>
              </a:solidFill>
              <a:ln>
                <a:noFill/>
              </a:ln>
            </p:spPr>
          </p:sp>
          <p:sp>
            <p:nvSpPr>
              <p:cNvPr id="42" name="Ellipse 42"/>
              <p:cNvSpPr/>
              <p:nvPr/>
            </p:nvSpPr>
            <p:spPr>
              <a:xfrm>
                <a:off x="7467600" y="2133600"/>
                <a:ext cx="114300" cy="114300"/>
              </a:xfrm>
              <a:prstGeom prst="ellipse">
                <a:avLst/>
              </a:prstGeom>
              <a:solidFill>
                <a:srgbClr val="17212B"/>
              </a:solidFill>
              <a:ln>
                <a:noFill/>
              </a:ln>
            </p:spPr>
          </p:sp>
          <p:sp>
            <p:nvSpPr>
              <p:cNvPr id="43" name="Ellipse 43"/>
              <p:cNvSpPr/>
              <p:nvPr/>
            </p:nvSpPr>
            <p:spPr>
              <a:xfrm>
                <a:off x="7848600" y="2133600"/>
                <a:ext cx="114300" cy="114300"/>
              </a:xfrm>
              <a:prstGeom prst="ellipse">
                <a:avLst/>
              </a:prstGeom>
              <a:solidFill>
                <a:srgbClr val="17212B"/>
              </a:solidFill>
              <a:ln>
                <a:noFill/>
              </a:ln>
            </p:spPr>
          </p:sp>
          <p:sp>
            <p:nvSpPr>
              <p:cNvPr id="44" name="Ellipse 44"/>
              <p:cNvSpPr/>
              <p:nvPr/>
            </p:nvSpPr>
            <p:spPr>
              <a:xfrm>
                <a:off x="8134350" y="2133600"/>
                <a:ext cx="114300" cy="114300"/>
              </a:xfrm>
              <a:prstGeom prst="ellipse">
                <a:avLst/>
              </a:prstGeom>
              <a:solidFill>
                <a:srgbClr val="17212B"/>
              </a:solidFill>
              <a:ln>
                <a:noFill/>
              </a:ln>
            </p:spPr>
          </p:sp>
          <p:sp>
            <p:nvSpPr>
              <p:cNvPr id="45" name="Ellipse 45"/>
              <p:cNvSpPr/>
              <p:nvPr/>
            </p:nvSpPr>
            <p:spPr>
              <a:xfrm>
                <a:off x="9563100" y="2133600"/>
                <a:ext cx="114300" cy="114300"/>
              </a:xfrm>
              <a:prstGeom prst="ellipse">
                <a:avLst/>
              </a:prstGeom>
              <a:solidFill>
                <a:srgbClr val="17212B"/>
              </a:solidFill>
              <a:ln>
                <a:noFill/>
              </a:ln>
            </p:spPr>
          </p:sp>
          <p:sp>
            <p:nvSpPr>
              <p:cNvPr id="46" name="Ellipse 46"/>
              <p:cNvSpPr/>
              <p:nvPr/>
            </p:nvSpPr>
            <p:spPr>
              <a:xfrm>
                <a:off x="9944100" y="2133600"/>
                <a:ext cx="114300" cy="114300"/>
              </a:xfrm>
              <a:prstGeom prst="ellipse">
                <a:avLst/>
              </a:prstGeom>
              <a:solidFill>
                <a:srgbClr val="17212B"/>
              </a:solidFill>
              <a:ln>
                <a:noFill/>
              </a:ln>
            </p:spPr>
          </p:sp>
          <p:sp>
            <p:nvSpPr>
              <p:cNvPr id="47" name="Ellipse 47"/>
              <p:cNvSpPr/>
              <p:nvPr/>
            </p:nvSpPr>
            <p:spPr>
              <a:xfrm>
                <a:off x="10325100" y="2133600"/>
                <a:ext cx="114300" cy="114300"/>
              </a:xfrm>
              <a:prstGeom prst="ellipse">
                <a:avLst/>
              </a:prstGeom>
              <a:solidFill>
                <a:srgbClr val="17212B"/>
              </a:solidFill>
              <a:ln>
                <a:noFill/>
              </a:ln>
            </p:spPr>
          </p:sp>
          <p:sp>
            <p:nvSpPr>
              <p:cNvPr id="48" name="Ellipse 48"/>
              <p:cNvSpPr/>
              <p:nvPr/>
            </p:nvSpPr>
            <p:spPr>
              <a:xfrm>
                <a:off x="10534650" y="2133600"/>
                <a:ext cx="114300" cy="114300"/>
              </a:xfrm>
              <a:prstGeom prst="ellipse">
                <a:avLst/>
              </a:prstGeom>
              <a:solidFill>
                <a:srgbClr val="17212B"/>
              </a:solidFill>
              <a:ln>
                <a:noFill/>
              </a:ln>
            </p:spPr>
          </p:sp>
        </p:grpSp>
        <p:grpSp>
          <p:nvGrpSpPr>
            <p:cNvPr id="60" name="tumbling-windows"/>
            <p:cNvGrpSpPr/>
            <p:nvPr/>
          </p:nvGrpSpPr>
          <p:grpSpPr>
            <a:xfrm>
              <a:off x="3162300" y="2362200"/>
              <a:ext cx="7581900" cy="152400"/>
              <a:chOff x="3162300" y="2362200"/>
              <a:chExt cx="7581900" cy="152400"/>
            </a:xfrm>
          </p:grpSpPr>
          <p:sp>
            <p:nvSpPr>
              <p:cNvPr id="50" name="Rectangle 50"/>
              <p:cNvSpPr/>
              <p:nvPr/>
            </p:nvSpPr>
            <p:spPr>
              <a:xfrm>
                <a:off x="3162300" y="2362200"/>
                <a:ext cx="723900" cy="152400"/>
              </a:xfrm>
              <a:prstGeom prst="rect">
                <a:avLst/>
              </a:prstGeom>
              <a:solidFill>
                <a:srgbClr val="0E6680"/>
              </a:solidFill>
              <a:ln>
                <a:noFill/>
              </a:ln>
            </p:spPr>
          </p:sp>
          <p:sp>
            <p:nvSpPr>
              <p:cNvPr id="51" name="Rectangle 51"/>
              <p:cNvSpPr/>
              <p:nvPr/>
            </p:nvSpPr>
            <p:spPr>
              <a:xfrm>
                <a:off x="3924300" y="2362200"/>
                <a:ext cx="723900" cy="152400"/>
              </a:xfrm>
              <a:prstGeom prst="rect">
                <a:avLst/>
              </a:prstGeom>
              <a:solidFill>
                <a:srgbClr val="0E6680"/>
              </a:solidFill>
              <a:ln>
                <a:noFill/>
              </a:ln>
            </p:spPr>
          </p:sp>
          <p:sp>
            <p:nvSpPr>
              <p:cNvPr id="52" name="Rectangle 52"/>
              <p:cNvSpPr/>
              <p:nvPr/>
            </p:nvSpPr>
            <p:spPr>
              <a:xfrm>
                <a:off x="4686300" y="2362200"/>
                <a:ext cx="723900" cy="152400"/>
              </a:xfrm>
              <a:prstGeom prst="rect">
                <a:avLst/>
              </a:prstGeom>
              <a:solidFill>
                <a:srgbClr val="0E6680"/>
              </a:solidFill>
              <a:ln>
                <a:noFill/>
              </a:ln>
            </p:spPr>
          </p:sp>
          <p:sp>
            <p:nvSpPr>
              <p:cNvPr id="53" name="Rectangle 53"/>
              <p:cNvSpPr/>
              <p:nvPr/>
            </p:nvSpPr>
            <p:spPr>
              <a:xfrm>
                <a:off x="5448300" y="2362200"/>
                <a:ext cx="723900" cy="152400"/>
              </a:xfrm>
              <a:prstGeom prst="rect">
                <a:avLst/>
              </a:prstGeom>
              <a:solidFill>
                <a:srgbClr val="0E6680"/>
              </a:solidFill>
              <a:ln>
                <a:noFill/>
              </a:ln>
            </p:spPr>
          </p:sp>
          <p:sp>
            <p:nvSpPr>
              <p:cNvPr id="54" name="Rectangle 54"/>
              <p:cNvSpPr/>
              <p:nvPr/>
            </p:nvSpPr>
            <p:spPr>
              <a:xfrm>
                <a:off x="6210300" y="2362200"/>
                <a:ext cx="723900" cy="152400"/>
              </a:xfrm>
              <a:prstGeom prst="rect">
                <a:avLst/>
              </a:prstGeom>
              <a:solidFill>
                <a:srgbClr val="0E6680"/>
              </a:solidFill>
              <a:ln>
                <a:noFill/>
              </a:ln>
            </p:spPr>
          </p:sp>
          <p:sp>
            <p:nvSpPr>
              <p:cNvPr id="55" name="Rectangle 55"/>
              <p:cNvSpPr/>
              <p:nvPr/>
            </p:nvSpPr>
            <p:spPr>
              <a:xfrm>
                <a:off x="6972300" y="2362200"/>
                <a:ext cx="723900" cy="152400"/>
              </a:xfrm>
              <a:prstGeom prst="rect">
                <a:avLst/>
              </a:prstGeom>
              <a:solidFill>
                <a:srgbClr val="0E6680"/>
              </a:solidFill>
              <a:ln>
                <a:noFill/>
              </a:ln>
            </p:spPr>
          </p:sp>
          <p:sp>
            <p:nvSpPr>
              <p:cNvPr id="56" name="Rectangle 56"/>
              <p:cNvSpPr/>
              <p:nvPr/>
            </p:nvSpPr>
            <p:spPr>
              <a:xfrm>
                <a:off x="7734300" y="2362200"/>
                <a:ext cx="723900" cy="152400"/>
              </a:xfrm>
              <a:prstGeom prst="rect">
                <a:avLst/>
              </a:prstGeom>
              <a:solidFill>
                <a:srgbClr val="0E6680"/>
              </a:solidFill>
              <a:ln>
                <a:noFill/>
              </a:ln>
            </p:spPr>
          </p:sp>
          <p:sp>
            <p:nvSpPr>
              <p:cNvPr id="57" name="Rectangle 57"/>
              <p:cNvSpPr/>
              <p:nvPr/>
            </p:nvSpPr>
            <p:spPr>
              <a:xfrm>
                <a:off x="8496300" y="2362200"/>
                <a:ext cx="723900" cy="152400"/>
              </a:xfrm>
              <a:prstGeom prst="rect">
                <a:avLst/>
              </a:prstGeom>
              <a:solidFill>
                <a:srgbClr val="0E6680"/>
              </a:solidFill>
              <a:ln>
                <a:noFill/>
              </a:ln>
            </p:spPr>
          </p:sp>
          <p:sp>
            <p:nvSpPr>
              <p:cNvPr id="58" name="Rectangle 58"/>
              <p:cNvSpPr/>
              <p:nvPr/>
            </p:nvSpPr>
            <p:spPr>
              <a:xfrm>
                <a:off x="9258300" y="2362200"/>
                <a:ext cx="723900" cy="152400"/>
              </a:xfrm>
              <a:prstGeom prst="rect">
                <a:avLst/>
              </a:prstGeom>
              <a:solidFill>
                <a:srgbClr val="0E6680"/>
              </a:solidFill>
              <a:ln>
                <a:noFill/>
              </a:ln>
            </p:spPr>
          </p:sp>
          <p:sp>
            <p:nvSpPr>
              <p:cNvPr id="59" name="Rectangle 59"/>
              <p:cNvSpPr/>
              <p:nvPr/>
            </p:nvSpPr>
            <p:spPr>
              <a:xfrm>
                <a:off x="10020300" y="2362200"/>
                <a:ext cx="723900" cy="152400"/>
              </a:xfrm>
              <a:prstGeom prst="rect">
                <a:avLst/>
              </a:prstGeom>
              <a:solidFill>
                <a:srgbClr val="0E6680"/>
              </a:solidFill>
              <a:ln>
                <a:noFill/>
              </a:ln>
            </p:spPr>
          </p:sp>
        </p:grpSp>
      </p:grpSp>
      <p:grpSp>
        <p:nvGrpSpPr>
          <p:cNvPr id="100" name="lane-sliding"/>
          <p:cNvGrpSpPr/>
          <p:nvPr/>
        </p:nvGrpSpPr>
        <p:grpSpPr>
          <a:xfrm>
            <a:off x="600456" y="3124200"/>
            <a:ext cx="10886694" cy="1047750"/>
            <a:chOff x="600456" y="3124200"/>
            <a:chExt cx="10886694" cy="1047750"/>
          </a:xfrm>
        </p:grpSpPr>
        <p:sp>
          <p:nvSpPr>
            <p:cNvPr id="62" name="TextBox 62"/>
            <p:cNvSpPr txBox="1"/>
            <p:nvPr/>
          </p:nvSpPr>
          <p:spPr>
            <a:xfrm>
              <a:off x="600456" y="3124200"/>
              <a:ext cx="173921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Скользящие</a:t>
              </a:r>
            </a:p>
          </p:txBody>
        </p:sp>
        <p:sp>
          <p:nvSpPr>
            <p:cNvPr id="63" name="TextBox 63"/>
            <p:cNvSpPr txBox="1"/>
            <p:nvPr/>
          </p:nvSpPr>
          <p:spPr>
            <a:xfrm>
              <a:off x="602742" y="3435350"/>
              <a:ext cx="1480079"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пересекаются</a:t>
              </a:r>
            </a:p>
          </p:txBody>
        </p:sp>
        <p:sp>
          <p:nvSpPr>
            <p:cNvPr id="64" name="TextBox 64"/>
            <p:cNvSpPr txBox="1"/>
            <p:nvPr/>
          </p:nvSpPr>
          <p:spPr>
            <a:xfrm>
              <a:off x="602742" y="3663950"/>
              <a:ext cx="2218227" cy="264033"/>
            </a:xfrm>
            <a:prstGeom prst="rect">
              <a:avLst/>
            </a:prstGeom>
            <a:noFill/>
            <a:ln>
              <a:noFill/>
            </a:ln>
          </p:spPr>
          <p:txBody>
            <a:bodyPr wrap="square" lIns="0" tIns="0" rIns="0" bIns="0" anchor="t" anchorCtr="0">
              <a:spAutoFit/>
            </a:bodyPr>
            <a:lstStyle/>
            <a:p>
              <a:pPr algn="l"/>
              <a:r>
                <a:rPr lang="ru" sz="1350" dirty="0">
                  <a:solidFill>
                    <a:srgbClr val="0E6680"/>
                  </a:solidFill>
                  <a:latin typeface="+mn-lt"/>
                  <a:ea typeface="+mn-ea"/>
                  <a:cs typeface="+mn-cs"/>
                </a:rPr>
                <a:t>окно 5 мин, шаг 1 мин</a:t>
              </a:r>
            </a:p>
          </p:txBody>
        </p:sp>
        <p:sp>
          <p:nvSpPr>
            <p:cNvPr id="65" name="Line 65"/>
            <p:cNvSpPr/>
            <p:nvPr/>
          </p:nvSpPr>
          <p:spPr>
            <a:xfrm>
              <a:off x="3143250" y="3276600"/>
              <a:ext cx="8343900" cy="1"/>
            </a:xfrm>
            <a:prstGeom prst="line">
              <a:avLst/>
            </a:prstGeom>
            <a:noFill/>
            <a:ln w="19050">
              <a:solidFill>
                <a:srgbClr val="8A96A1"/>
              </a:solidFill>
              <a:tailEnd type="triangle" w="lg" len="lg"/>
            </a:ln>
          </p:spPr>
        </p:sp>
        <p:grpSp>
          <p:nvGrpSpPr>
            <p:cNvPr id="77" name="sliding-ticks"/>
            <p:cNvGrpSpPr/>
            <p:nvPr/>
          </p:nvGrpSpPr>
          <p:grpSpPr>
            <a:xfrm>
              <a:off x="3143250" y="3228975"/>
              <a:ext cx="7629525" cy="95250"/>
              <a:chOff x="3143250" y="3228975"/>
              <a:chExt cx="7629525" cy="95250"/>
            </a:xfrm>
          </p:grpSpPr>
          <p:sp>
            <p:nvSpPr>
              <p:cNvPr id="66" name="Line 66"/>
              <p:cNvSpPr/>
              <p:nvPr/>
            </p:nvSpPr>
            <p:spPr>
              <a:xfrm>
                <a:off x="3143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67" name="Line 67"/>
              <p:cNvSpPr/>
              <p:nvPr/>
            </p:nvSpPr>
            <p:spPr>
              <a:xfrm>
                <a:off x="3905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68" name="Line 68"/>
              <p:cNvSpPr/>
              <p:nvPr/>
            </p:nvSpPr>
            <p:spPr>
              <a:xfrm>
                <a:off x="4667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69" name="Line 69"/>
              <p:cNvSpPr/>
              <p:nvPr/>
            </p:nvSpPr>
            <p:spPr>
              <a:xfrm>
                <a:off x="5429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0" name="Line 70"/>
              <p:cNvSpPr/>
              <p:nvPr/>
            </p:nvSpPr>
            <p:spPr>
              <a:xfrm>
                <a:off x="6191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1" name="Line 71"/>
              <p:cNvSpPr/>
              <p:nvPr/>
            </p:nvSpPr>
            <p:spPr>
              <a:xfrm>
                <a:off x="6953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2" name="Line 72"/>
              <p:cNvSpPr/>
              <p:nvPr/>
            </p:nvSpPr>
            <p:spPr>
              <a:xfrm>
                <a:off x="7715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3" name="Line 73"/>
              <p:cNvSpPr/>
              <p:nvPr/>
            </p:nvSpPr>
            <p:spPr>
              <a:xfrm>
                <a:off x="8477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4" name="Line 74"/>
              <p:cNvSpPr/>
              <p:nvPr/>
            </p:nvSpPr>
            <p:spPr>
              <a:xfrm>
                <a:off x="9239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5" name="Line 75"/>
              <p:cNvSpPr/>
              <p:nvPr/>
            </p:nvSpPr>
            <p:spPr>
              <a:xfrm>
                <a:off x="10001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6" name="Line 76"/>
              <p:cNvSpPr/>
              <p:nvPr/>
            </p:nvSpPr>
            <p:spPr>
              <a:xfrm>
                <a:off x="10763250" y="3228975"/>
                <a:ext cx="9525" cy="95250"/>
              </a:xfrm>
              <a:custGeom>
                <a:avLst/>
                <a:gdLst/>
                <a:ahLst/>
                <a:cxnLst/>
                <a:rect l="l" t="t" r="r" b="b"/>
                <a:pathLst>
                  <a:path w="9525" h="95250">
                    <a:moveTo>
                      <a:pt x="0" y="0"/>
                    </a:moveTo>
                    <a:lnTo>
                      <a:pt x="0" y="95250"/>
                    </a:lnTo>
                  </a:path>
                </a:pathLst>
              </a:custGeom>
              <a:noFill/>
              <a:ln w="19050">
                <a:solidFill>
                  <a:srgbClr val="8A96A1"/>
                </a:solidFill>
              </a:ln>
            </p:spPr>
          </p:sp>
        </p:grpSp>
        <p:grpSp>
          <p:nvGrpSpPr>
            <p:cNvPr id="93" name="sliding-events"/>
            <p:cNvGrpSpPr/>
            <p:nvPr/>
          </p:nvGrpSpPr>
          <p:grpSpPr>
            <a:xfrm>
              <a:off x="3276600" y="3219450"/>
              <a:ext cx="7372350" cy="114300"/>
              <a:chOff x="3276600" y="3219450"/>
              <a:chExt cx="7372350" cy="114300"/>
            </a:xfrm>
          </p:grpSpPr>
          <p:sp>
            <p:nvSpPr>
              <p:cNvPr id="78" name="Ellipse 78"/>
              <p:cNvSpPr/>
              <p:nvPr/>
            </p:nvSpPr>
            <p:spPr>
              <a:xfrm>
                <a:off x="3276600" y="3219450"/>
                <a:ext cx="114300" cy="114300"/>
              </a:xfrm>
              <a:prstGeom prst="ellipse">
                <a:avLst/>
              </a:prstGeom>
              <a:solidFill>
                <a:srgbClr val="17212B"/>
              </a:solidFill>
              <a:ln>
                <a:noFill/>
              </a:ln>
            </p:spPr>
          </p:sp>
          <p:sp>
            <p:nvSpPr>
              <p:cNvPr id="79" name="Ellipse 79"/>
              <p:cNvSpPr/>
              <p:nvPr/>
            </p:nvSpPr>
            <p:spPr>
              <a:xfrm>
                <a:off x="3562350" y="3219450"/>
                <a:ext cx="114300" cy="114300"/>
              </a:xfrm>
              <a:prstGeom prst="ellipse">
                <a:avLst/>
              </a:prstGeom>
              <a:solidFill>
                <a:srgbClr val="17212B"/>
              </a:solidFill>
              <a:ln>
                <a:noFill/>
              </a:ln>
            </p:spPr>
          </p:sp>
          <p:sp>
            <p:nvSpPr>
              <p:cNvPr id="80" name="Ellipse 80"/>
              <p:cNvSpPr/>
              <p:nvPr/>
            </p:nvSpPr>
            <p:spPr>
              <a:xfrm>
                <a:off x="3943350" y="3219450"/>
                <a:ext cx="114300" cy="114300"/>
              </a:xfrm>
              <a:prstGeom prst="ellipse">
                <a:avLst/>
              </a:prstGeom>
              <a:solidFill>
                <a:srgbClr val="17212B"/>
              </a:solidFill>
              <a:ln>
                <a:noFill/>
              </a:ln>
            </p:spPr>
          </p:sp>
          <p:sp>
            <p:nvSpPr>
              <p:cNvPr id="81" name="Ellipse 81"/>
              <p:cNvSpPr/>
              <p:nvPr/>
            </p:nvSpPr>
            <p:spPr>
              <a:xfrm>
                <a:off x="4419600" y="3219450"/>
                <a:ext cx="114300" cy="114300"/>
              </a:xfrm>
              <a:prstGeom prst="ellipse">
                <a:avLst/>
              </a:prstGeom>
              <a:solidFill>
                <a:srgbClr val="17212B"/>
              </a:solidFill>
              <a:ln>
                <a:noFill/>
              </a:ln>
            </p:spPr>
          </p:sp>
          <p:sp>
            <p:nvSpPr>
              <p:cNvPr id="82" name="Ellipse 82"/>
              <p:cNvSpPr/>
              <p:nvPr/>
            </p:nvSpPr>
            <p:spPr>
              <a:xfrm>
                <a:off x="4895850" y="3219450"/>
                <a:ext cx="114300" cy="114300"/>
              </a:xfrm>
              <a:prstGeom prst="ellipse">
                <a:avLst/>
              </a:prstGeom>
              <a:solidFill>
                <a:srgbClr val="17212B"/>
              </a:solidFill>
              <a:ln>
                <a:noFill/>
              </a:ln>
            </p:spPr>
          </p:sp>
          <p:sp>
            <p:nvSpPr>
              <p:cNvPr id="83" name="Ellipse 83"/>
              <p:cNvSpPr/>
              <p:nvPr/>
            </p:nvSpPr>
            <p:spPr>
              <a:xfrm>
                <a:off x="5276850" y="3219450"/>
                <a:ext cx="114300" cy="114300"/>
              </a:xfrm>
              <a:prstGeom prst="ellipse">
                <a:avLst/>
              </a:prstGeom>
              <a:solidFill>
                <a:srgbClr val="17212B"/>
              </a:solidFill>
              <a:ln>
                <a:noFill/>
              </a:ln>
            </p:spPr>
          </p:sp>
          <p:sp>
            <p:nvSpPr>
              <p:cNvPr id="84" name="Ellipse 84"/>
              <p:cNvSpPr/>
              <p:nvPr/>
            </p:nvSpPr>
            <p:spPr>
              <a:xfrm>
                <a:off x="5562600" y="3219450"/>
                <a:ext cx="114300" cy="114300"/>
              </a:xfrm>
              <a:prstGeom prst="ellipse">
                <a:avLst/>
              </a:prstGeom>
              <a:solidFill>
                <a:srgbClr val="17212B"/>
              </a:solidFill>
              <a:ln>
                <a:noFill/>
              </a:ln>
            </p:spPr>
          </p:sp>
          <p:sp>
            <p:nvSpPr>
              <p:cNvPr id="85" name="Ellipse 85"/>
              <p:cNvSpPr/>
              <p:nvPr/>
            </p:nvSpPr>
            <p:spPr>
              <a:xfrm>
                <a:off x="7181850" y="3219450"/>
                <a:ext cx="114300" cy="114300"/>
              </a:xfrm>
              <a:prstGeom prst="ellipse">
                <a:avLst/>
              </a:prstGeom>
              <a:solidFill>
                <a:srgbClr val="17212B"/>
              </a:solidFill>
              <a:ln>
                <a:noFill/>
              </a:ln>
            </p:spPr>
          </p:sp>
          <p:sp>
            <p:nvSpPr>
              <p:cNvPr id="86" name="Ellipse 86"/>
              <p:cNvSpPr/>
              <p:nvPr/>
            </p:nvSpPr>
            <p:spPr>
              <a:xfrm>
                <a:off x="7467600" y="3219450"/>
                <a:ext cx="114300" cy="114300"/>
              </a:xfrm>
              <a:prstGeom prst="ellipse">
                <a:avLst/>
              </a:prstGeom>
              <a:solidFill>
                <a:srgbClr val="17212B"/>
              </a:solidFill>
              <a:ln>
                <a:noFill/>
              </a:ln>
            </p:spPr>
          </p:sp>
          <p:sp>
            <p:nvSpPr>
              <p:cNvPr id="87" name="Ellipse 87"/>
              <p:cNvSpPr/>
              <p:nvPr/>
            </p:nvSpPr>
            <p:spPr>
              <a:xfrm>
                <a:off x="7848600" y="3219450"/>
                <a:ext cx="114300" cy="114300"/>
              </a:xfrm>
              <a:prstGeom prst="ellipse">
                <a:avLst/>
              </a:prstGeom>
              <a:solidFill>
                <a:srgbClr val="17212B"/>
              </a:solidFill>
              <a:ln>
                <a:noFill/>
              </a:ln>
            </p:spPr>
          </p:sp>
          <p:sp>
            <p:nvSpPr>
              <p:cNvPr id="88" name="Ellipse 88"/>
              <p:cNvSpPr/>
              <p:nvPr/>
            </p:nvSpPr>
            <p:spPr>
              <a:xfrm>
                <a:off x="8134350" y="3219450"/>
                <a:ext cx="114300" cy="114300"/>
              </a:xfrm>
              <a:prstGeom prst="ellipse">
                <a:avLst/>
              </a:prstGeom>
              <a:solidFill>
                <a:srgbClr val="17212B"/>
              </a:solidFill>
              <a:ln>
                <a:noFill/>
              </a:ln>
            </p:spPr>
          </p:sp>
          <p:sp>
            <p:nvSpPr>
              <p:cNvPr id="89" name="Ellipse 89"/>
              <p:cNvSpPr/>
              <p:nvPr/>
            </p:nvSpPr>
            <p:spPr>
              <a:xfrm>
                <a:off x="9563100" y="3219450"/>
                <a:ext cx="114300" cy="114300"/>
              </a:xfrm>
              <a:prstGeom prst="ellipse">
                <a:avLst/>
              </a:prstGeom>
              <a:solidFill>
                <a:srgbClr val="17212B"/>
              </a:solidFill>
              <a:ln>
                <a:noFill/>
              </a:ln>
            </p:spPr>
          </p:sp>
          <p:sp>
            <p:nvSpPr>
              <p:cNvPr id="90" name="Ellipse 90"/>
              <p:cNvSpPr/>
              <p:nvPr/>
            </p:nvSpPr>
            <p:spPr>
              <a:xfrm>
                <a:off x="9944100" y="3219450"/>
                <a:ext cx="114300" cy="114300"/>
              </a:xfrm>
              <a:prstGeom prst="ellipse">
                <a:avLst/>
              </a:prstGeom>
              <a:solidFill>
                <a:srgbClr val="17212B"/>
              </a:solidFill>
              <a:ln>
                <a:noFill/>
              </a:ln>
            </p:spPr>
          </p:sp>
          <p:sp>
            <p:nvSpPr>
              <p:cNvPr id="91" name="Ellipse 91"/>
              <p:cNvSpPr/>
              <p:nvPr/>
            </p:nvSpPr>
            <p:spPr>
              <a:xfrm>
                <a:off x="10325100" y="3219450"/>
                <a:ext cx="114300" cy="114300"/>
              </a:xfrm>
              <a:prstGeom prst="ellipse">
                <a:avLst/>
              </a:prstGeom>
              <a:solidFill>
                <a:srgbClr val="17212B"/>
              </a:solidFill>
              <a:ln>
                <a:noFill/>
              </a:ln>
            </p:spPr>
          </p:sp>
          <p:sp>
            <p:nvSpPr>
              <p:cNvPr id="92" name="Ellipse 92"/>
              <p:cNvSpPr/>
              <p:nvPr/>
            </p:nvSpPr>
            <p:spPr>
              <a:xfrm>
                <a:off x="10534650" y="3219450"/>
                <a:ext cx="114300" cy="114300"/>
              </a:xfrm>
              <a:prstGeom prst="ellipse">
                <a:avLst/>
              </a:prstGeom>
              <a:solidFill>
                <a:srgbClr val="17212B"/>
              </a:solidFill>
              <a:ln>
                <a:noFill/>
              </a:ln>
            </p:spPr>
          </p:sp>
        </p:grpSp>
        <p:grpSp>
          <p:nvGrpSpPr>
            <p:cNvPr id="99" name="sliding-windows"/>
            <p:cNvGrpSpPr/>
            <p:nvPr/>
          </p:nvGrpSpPr>
          <p:grpSpPr>
            <a:xfrm>
              <a:off x="3162300" y="3448050"/>
              <a:ext cx="6819900" cy="723900"/>
              <a:chOff x="3162300" y="3448050"/>
              <a:chExt cx="6819900" cy="723900"/>
            </a:xfrm>
          </p:grpSpPr>
          <p:sp>
            <p:nvSpPr>
              <p:cNvPr id="94" name="Rectangle 94"/>
              <p:cNvSpPr/>
              <p:nvPr/>
            </p:nvSpPr>
            <p:spPr>
              <a:xfrm>
                <a:off x="3162300" y="3448050"/>
                <a:ext cx="3771900" cy="114300"/>
              </a:xfrm>
              <a:prstGeom prst="rect">
                <a:avLst/>
              </a:prstGeom>
              <a:solidFill>
                <a:srgbClr val="0E6680"/>
              </a:solidFill>
              <a:ln>
                <a:noFill/>
              </a:ln>
            </p:spPr>
          </p:sp>
          <p:sp>
            <p:nvSpPr>
              <p:cNvPr id="95" name="Rectangle 95"/>
              <p:cNvSpPr/>
              <p:nvPr/>
            </p:nvSpPr>
            <p:spPr>
              <a:xfrm>
                <a:off x="3924300" y="3600450"/>
                <a:ext cx="3771900" cy="114300"/>
              </a:xfrm>
              <a:prstGeom prst="rect">
                <a:avLst/>
              </a:prstGeom>
              <a:solidFill>
                <a:srgbClr val="0E6680"/>
              </a:solidFill>
              <a:ln>
                <a:noFill/>
              </a:ln>
            </p:spPr>
          </p:sp>
          <p:sp>
            <p:nvSpPr>
              <p:cNvPr id="96" name="Rectangle 96"/>
              <p:cNvSpPr/>
              <p:nvPr/>
            </p:nvSpPr>
            <p:spPr>
              <a:xfrm>
                <a:off x="4686300" y="3752850"/>
                <a:ext cx="3771900" cy="114300"/>
              </a:xfrm>
              <a:prstGeom prst="rect">
                <a:avLst/>
              </a:prstGeom>
              <a:solidFill>
                <a:srgbClr val="0E6680"/>
              </a:solidFill>
              <a:ln>
                <a:noFill/>
              </a:ln>
            </p:spPr>
          </p:sp>
          <p:sp>
            <p:nvSpPr>
              <p:cNvPr id="97" name="Rectangle 97"/>
              <p:cNvSpPr/>
              <p:nvPr/>
            </p:nvSpPr>
            <p:spPr>
              <a:xfrm>
                <a:off x="5448300" y="3905250"/>
                <a:ext cx="3771900" cy="114300"/>
              </a:xfrm>
              <a:prstGeom prst="rect">
                <a:avLst/>
              </a:prstGeom>
              <a:solidFill>
                <a:srgbClr val="0E6680"/>
              </a:solidFill>
              <a:ln>
                <a:noFill/>
              </a:ln>
            </p:spPr>
          </p:sp>
          <p:sp>
            <p:nvSpPr>
              <p:cNvPr id="98" name="Rectangle 98"/>
              <p:cNvSpPr/>
              <p:nvPr/>
            </p:nvSpPr>
            <p:spPr>
              <a:xfrm>
                <a:off x="6210300" y="4057650"/>
                <a:ext cx="3771900" cy="114300"/>
              </a:xfrm>
              <a:prstGeom prst="rect">
                <a:avLst/>
              </a:prstGeom>
              <a:solidFill>
                <a:srgbClr val="0E6680"/>
              </a:solidFill>
              <a:ln>
                <a:noFill/>
              </a:ln>
            </p:spPr>
          </p:sp>
        </p:grpSp>
      </p:grpSp>
      <p:grpSp>
        <p:nvGrpSpPr>
          <p:cNvPr id="138" name="lane-session"/>
          <p:cNvGrpSpPr/>
          <p:nvPr/>
        </p:nvGrpSpPr>
        <p:grpSpPr>
          <a:xfrm>
            <a:off x="600456" y="4514850"/>
            <a:ext cx="10886694" cy="803783"/>
            <a:chOff x="600456" y="4514850"/>
            <a:chExt cx="10886694" cy="803783"/>
          </a:xfrm>
        </p:grpSpPr>
        <p:sp>
          <p:nvSpPr>
            <p:cNvPr id="101" name="TextBox 101"/>
            <p:cNvSpPr txBox="1"/>
            <p:nvPr/>
          </p:nvSpPr>
          <p:spPr>
            <a:xfrm>
              <a:off x="600456" y="4514850"/>
              <a:ext cx="173921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Сессионные</a:t>
              </a:r>
            </a:p>
          </p:txBody>
        </p:sp>
        <p:sp>
          <p:nvSpPr>
            <p:cNvPr id="102" name="TextBox 102"/>
            <p:cNvSpPr txBox="1"/>
            <p:nvPr/>
          </p:nvSpPr>
          <p:spPr>
            <a:xfrm>
              <a:off x="602742" y="4826000"/>
              <a:ext cx="2700776"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закрываются после паузы</a:t>
              </a:r>
            </a:p>
          </p:txBody>
        </p:sp>
        <p:sp>
          <p:nvSpPr>
            <p:cNvPr id="103" name="TextBox 103"/>
            <p:cNvSpPr txBox="1"/>
            <p:nvPr/>
          </p:nvSpPr>
          <p:spPr>
            <a:xfrm>
              <a:off x="602742" y="5054600"/>
              <a:ext cx="2151400" cy="264033"/>
            </a:xfrm>
            <a:prstGeom prst="rect">
              <a:avLst/>
            </a:prstGeom>
            <a:noFill/>
            <a:ln>
              <a:noFill/>
            </a:ln>
          </p:spPr>
          <p:txBody>
            <a:bodyPr wrap="square" lIns="0" tIns="0" rIns="0" bIns="0" anchor="t" anchorCtr="0">
              <a:spAutoFit/>
            </a:bodyPr>
            <a:lstStyle/>
            <a:p>
              <a:pPr algn="l"/>
              <a:r>
                <a:rPr lang="ru" sz="1350" dirty="0">
                  <a:solidFill>
                    <a:srgbClr val="0E6680"/>
                  </a:solidFill>
                  <a:latin typeface="+mn-lt"/>
                  <a:ea typeface="+mn-ea"/>
                  <a:cs typeface="+mn-cs"/>
                </a:rPr>
                <a:t>периоды активности</a:t>
              </a:r>
            </a:p>
          </p:txBody>
        </p:sp>
        <p:sp>
          <p:nvSpPr>
            <p:cNvPr id="104" name="Line 104"/>
            <p:cNvSpPr/>
            <p:nvPr/>
          </p:nvSpPr>
          <p:spPr>
            <a:xfrm>
              <a:off x="3143250" y="4667250"/>
              <a:ext cx="8343900" cy="1"/>
            </a:xfrm>
            <a:prstGeom prst="line">
              <a:avLst/>
            </a:prstGeom>
            <a:noFill/>
            <a:ln w="19050">
              <a:solidFill>
                <a:srgbClr val="8A96A1"/>
              </a:solidFill>
              <a:tailEnd type="triangle" w="lg" len="lg"/>
            </a:ln>
          </p:spPr>
        </p:sp>
        <p:grpSp>
          <p:nvGrpSpPr>
            <p:cNvPr id="116" name="session-ticks"/>
            <p:cNvGrpSpPr/>
            <p:nvPr/>
          </p:nvGrpSpPr>
          <p:grpSpPr>
            <a:xfrm>
              <a:off x="3143250" y="4619625"/>
              <a:ext cx="7629525" cy="95250"/>
              <a:chOff x="3143250" y="4619625"/>
              <a:chExt cx="7629525" cy="95250"/>
            </a:xfrm>
          </p:grpSpPr>
          <p:sp>
            <p:nvSpPr>
              <p:cNvPr id="105" name="Line 105"/>
              <p:cNvSpPr/>
              <p:nvPr/>
            </p:nvSpPr>
            <p:spPr>
              <a:xfrm>
                <a:off x="3143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06" name="Line 106"/>
              <p:cNvSpPr/>
              <p:nvPr/>
            </p:nvSpPr>
            <p:spPr>
              <a:xfrm>
                <a:off x="3905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07" name="Line 107"/>
              <p:cNvSpPr/>
              <p:nvPr/>
            </p:nvSpPr>
            <p:spPr>
              <a:xfrm>
                <a:off x="4667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08" name="Line 108"/>
              <p:cNvSpPr/>
              <p:nvPr/>
            </p:nvSpPr>
            <p:spPr>
              <a:xfrm>
                <a:off x="5429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09" name="Line 109"/>
              <p:cNvSpPr/>
              <p:nvPr/>
            </p:nvSpPr>
            <p:spPr>
              <a:xfrm>
                <a:off x="6191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0" name="Line 110"/>
              <p:cNvSpPr/>
              <p:nvPr/>
            </p:nvSpPr>
            <p:spPr>
              <a:xfrm>
                <a:off x="6953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1" name="Line 111"/>
              <p:cNvSpPr/>
              <p:nvPr/>
            </p:nvSpPr>
            <p:spPr>
              <a:xfrm>
                <a:off x="7715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2" name="Line 112"/>
              <p:cNvSpPr/>
              <p:nvPr/>
            </p:nvSpPr>
            <p:spPr>
              <a:xfrm>
                <a:off x="8477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3" name="Line 113"/>
              <p:cNvSpPr/>
              <p:nvPr/>
            </p:nvSpPr>
            <p:spPr>
              <a:xfrm>
                <a:off x="9239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4" name="Line 114"/>
              <p:cNvSpPr/>
              <p:nvPr/>
            </p:nvSpPr>
            <p:spPr>
              <a:xfrm>
                <a:off x="10001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5" name="Line 115"/>
              <p:cNvSpPr/>
              <p:nvPr/>
            </p:nvSpPr>
            <p:spPr>
              <a:xfrm>
                <a:off x="10763250" y="4619625"/>
                <a:ext cx="9525" cy="95250"/>
              </a:xfrm>
              <a:custGeom>
                <a:avLst/>
                <a:gdLst/>
                <a:ahLst/>
                <a:cxnLst/>
                <a:rect l="l" t="t" r="r" b="b"/>
                <a:pathLst>
                  <a:path w="9525" h="95250">
                    <a:moveTo>
                      <a:pt x="0" y="0"/>
                    </a:moveTo>
                    <a:lnTo>
                      <a:pt x="0" y="95250"/>
                    </a:lnTo>
                  </a:path>
                </a:pathLst>
              </a:custGeom>
              <a:noFill/>
              <a:ln w="19050">
                <a:solidFill>
                  <a:srgbClr val="8A96A1"/>
                </a:solidFill>
              </a:ln>
            </p:spPr>
          </p:sp>
        </p:grpSp>
        <p:grpSp>
          <p:nvGrpSpPr>
            <p:cNvPr id="132" name="session-events"/>
            <p:cNvGrpSpPr/>
            <p:nvPr/>
          </p:nvGrpSpPr>
          <p:grpSpPr>
            <a:xfrm>
              <a:off x="3276600" y="4610100"/>
              <a:ext cx="7372350" cy="114300"/>
              <a:chOff x="3276600" y="4610100"/>
              <a:chExt cx="7372350" cy="114300"/>
            </a:xfrm>
          </p:grpSpPr>
          <p:sp>
            <p:nvSpPr>
              <p:cNvPr id="117" name="Ellipse 117"/>
              <p:cNvSpPr/>
              <p:nvPr/>
            </p:nvSpPr>
            <p:spPr>
              <a:xfrm>
                <a:off x="3276600" y="4610100"/>
                <a:ext cx="114300" cy="114300"/>
              </a:xfrm>
              <a:prstGeom prst="ellipse">
                <a:avLst/>
              </a:prstGeom>
              <a:solidFill>
                <a:srgbClr val="17212B"/>
              </a:solidFill>
              <a:ln>
                <a:noFill/>
              </a:ln>
            </p:spPr>
          </p:sp>
          <p:sp>
            <p:nvSpPr>
              <p:cNvPr id="118" name="Ellipse 118"/>
              <p:cNvSpPr/>
              <p:nvPr/>
            </p:nvSpPr>
            <p:spPr>
              <a:xfrm>
                <a:off x="3562350" y="4610100"/>
                <a:ext cx="114300" cy="114300"/>
              </a:xfrm>
              <a:prstGeom prst="ellipse">
                <a:avLst/>
              </a:prstGeom>
              <a:solidFill>
                <a:srgbClr val="17212B"/>
              </a:solidFill>
              <a:ln>
                <a:noFill/>
              </a:ln>
            </p:spPr>
          </p:sp>
          <p:sp>
            <p:nvSpPr>
              <p:cNvPr id="119" name="Ellipse 119"/>
              <p:cNvSpPr/>
              <p:nvPr/>
            </p:nvSpPr>
            <p:spPr>
              <a:xfrm>
                <a:off x="3943350" y="4610100"/>
                <a:ext cx="114300" cy="114300"/>
              </a:xfrm>
              <a:prstGeom prst="ellipse">
                <a:avLst/>
              </a:prstGeom>
              <a:solidFill>
                <a:srgbClr val="17212B"/>
              </a:solidFill>
              <a:ln>
                <a:noFill/>
              </a:ln>
            </p:spPr>
          </p:sp>
          <p:sp>
            <p:nvSpPr>
              <p:cNvPr id="120" name="Ellipse 120"/>
              <p:cNvSpPr/>
              <p:nvPr/>
            </p:nvSpPr>
            <p:spPr>
              <a:xfrm>
                <a:off x="4419600" y="4610100"/>
                <a:ext cx="114300" cy="114300"/>
              </a:xfrm>
              <a:prstGeom prst="ellipse">
                <a:avLst/>
              </a:prstGeom>
              <a:solidFill>
                <a:srgbClr val="17212B"/>
              </a:solidFill>
              <a:ln>
                <a:noFill/>
              </a:ln>
            </p:spPr>
          </p:sp>
          <p:sp>
            <p:nvSpPr>
              <p:cNvPr id="121" name="Ellipse 121"/>
              <p:cNvSpPr/>
              <p:nvPr/>
            </p:nvSpPr>
            <p:spPr>
              <a:xfrm>
                <a:off x="4895850" y="4610100"/>
                <a:ext cx="114300" cy="114300"/>
              </a:xfrm>
              <a:prstGeom prst="ellipse">
                <a:avLst/>
              </a:prstGeom>
              <a:solidFill>
                <a:srgbClr val="17212B"/>
              </a:solidFill>
              <a:ln>
                <a:noFill/>
              </a:ln>
            </p:spPr>
          </p:sp>
          <p:sp>
            <p:nvSpPr>
              <p:cNvPr id="122" name="Ellipse 122"/>
              <p:cNvSpPr/>
              <p:nvPr/>
            </p:nvSpPr>
            <p:spPr>
              <a:xfrm>
                <a:off x="5276850" y="4610100"/>
                <a:ext cx="114300" cy="114300"/>
              </a:xfrm>
              <a:prstGeom prst="ellipse">
                <a:avLst/>
              </a:prstGeom>
              <a:solidFill>
                <a:srgbClr val="17212B"/>
              </a:solidFill>
              <a:ln>
                <a:noFill/>
              </a:ln>
            </p:spPr>
          </p:sp>
          <p:sp>
            <p:nvSpPr>
              <p:cNvPr id="123" name="Ellipse 123"/>
              <p:cNvSpPr/>
              <p:nvPr/>
            </p:nvSpPr>
            <p:spPr>
              <a:xfrm>
                <a:off x="5562600" y="4610100"/>
                <a:ext cx="114300" cy="114300"/>
              </a:xfrm>
              <a:prstGeom prst="ellipse">
                <a:avLst/>
              </a:prstGeom>
              <a:solidFill>
                <a:srgbClr val="17212B"/>
              </a:solidFill>
              <a:ln>
                <a:noFill/>
              </a:ln>
            </p:spPr>
          </p:sp>
          <p:sp>
            <p:nvSpPr>
              <p:cNvPr id="124" name="Ellipse 124"/>
              <p:cNvSpPr/>
              <p:nvPr/>
            </p:nvSpPr>
            <p:spPr>
              <a:xfrm>
                <a:off x="7181850" y="4610100"/>
                <a:ext cx="114300" cy="114300"/>
              </a:xfrm>
              <a:prstGeom prst="ellipse">
                <a:avLst/>
              </a:prstGeom>
              <a:solidFill>
                <a:srgbClr val="17212B"/>
              </a:solidFill>
              <a:ln>
                <a:noFill/>
              </a:ln>
            </p:spPr>
          </p:sp>
          <p:sp>
            <p:nvSpPr>
              <p:cNvPr id="125" name="Ellipse 125"/>
              <p:cNvSpPr/>
              <p:nvPr/>
            </p:nvSpPr>
            <p:spPr>
              <a:xfrm>
                <a:off x="7467600" y="4610100"/>
                <a:ext cx="114300" cy="114300"/>
              </a:xfrm>
              <a:prstGeom prst="ellipse">
                <a:avLst/>
              </a:prstGeom>
              <a:solidFill>
                <a:srgbClr val="17212B"/>
              </a:solidFill>
              <a:ln>
                <a:noFill/>
              </a:ln>
            </p:spPr>
          </p:sp>
          <p:sp>
            <p:nvSpPr>
              <p:cNvPr id="126" name="Ellipse 126"/>
              <p:cNvSpPr/>
              <p:nvPr/>
            </p:nvSpPr>
            <p:spPr>
              <a:xfrm>
                <a:off x="7848600" y="4610100"/>
                <a:ext cx="114300" cy="114300"/>
              </a:xfrm>
              <a:prstGeom prst="ellipse">
                <a:avLst/>
              </a:prstGeom>
              <a:solidFill>
                <a:srgbClr val="17212B"/>
              </a:solidFill>
              <a:ln>
                <a:noFill/>
              </a:ln>
            </p:spPr>
          </p:sp>
          <p:sp>
            <p:nvSpPr>
              <p:cNvPr id="127" name="Ellipse 127"/>
              <p:cNvSpPr/>
              <p:nvPr/>
            </p:nvSpPr>
            <p:spPr>
              <a:xfrm>
                <a:off x="8134350" y="4610100"/>
                <a:ext cx="114300" cy="114300"/>
              </a:xfrm>
              <a:prstGeom prst="ellipse">
                <a:avLst/>
              </a:prstGeom>
              <a:solidFill>
                <a:srgbClr val="17212B"/>
              </a:solidFill>
              <a:ln>
                <a:noFill/>
              </a:ln>
            </p:spPr>
          </p:sp>
          <p:sp>
            <p:nvSpPr>
              <p:cNvPr id="128" name="Ellipse 128"/>
              <p:cNvSpPr/>
              <p:nvPr/>
            </p:nvSpPr>
            <p:spPr>
              <a:xfrm>
                <a:off x="9563100" y="4610100"/>
                <a:ext cx="114300" cy="114300"/>
              </a:xfrm>
              <a:prstGeom prst="ellipse">
                <a:avLst/>
              </a:prstGeom>
              <a:solidFill>
                <a:srgbClr val="17212B"/>
              </a:solidFill>
              <a:ln>
                <a:noFill/>
              </a:ln>
            </p:spPr>
          </p:sp>
          <p:sp>
            <p:nvSpPr>
              <p:cNvPr id="129" name="Ellipse 129"/>
              <p:cNvSpPr/>
              <p:nvPr/>
            </p:nvSpPr>
            <p:spPr>
              <a:xfrm>
                <a:off x="9944100" y="4610100"/>
                <a:ext cx="114300" cy="114300"/>
              </a:xfrm>
              <a:prstGeom prst="ellipse">
                <a:avLst/>
              </a:prstGeom>
              <a:solidFill>
                <a:srgbClr val="17212B"/>
              </a:solidFill>
              <a:ln>
                <a:noFill/>
              </a:ln>
            </p:spPr>
          </p:sp>
          <p:sp>
            <p:nvSpPr>
              <p:cNvPr id="130" name="Ellipse 130"/>
              <p:cNvSpPr/>
              <p:nvPr/>
            </p:nvSpPr>
            <p:spPr>
              <a:xfrm>
                <a:off x="10325100" y="4610100"/>
                <a:ext cx="114300" cy="114300"/>
              </a:xfrm>
              <a:prstGeom prst="ellipse">
                <a:avLst/>
              </a:prstGeom>
              <a:solidFill>
                <a:srgbClr val="17212B"/>
              </a:solidFill>
              <a:ln>
                <a:noFill/>
              </a:ln>
            </p:spPr>
          </p:sp>
          <p:sp>
            <p:nvSpPr>
              <p:cNvPr id="131" name="Ellipse 131"/>
              <p:cNvSpPr/>
              <p:nvPr/>
            </p:nvSpPr>
            <p:spPr>
              <a:xfrm>
                <a:off x="10534650" y="4610100"/>
                <a:ext cx="114300" cy="114300"/>
              </a:xfrm>
              <a:prstGeom prst="ellipse">
                <a:avLst/>
              </a:prstGeom>
              <a:solidFill>
                <a:srgbClr val="17212B"/>
              </a:solidFill>
              <a:ln>
                <a:noFill/>
              </a:ln>
            </p:spPr>
          </p:sp>
        </p:grpSp>
        <p:grpSp>
          <p:nvGrpSpPr>
            <p:cNvPr id="136" name="session-windows"/>
            <p:cNvGrpSpPr/>
            <p:nvPr/>
          </p:nvGrpSpPr>
          <p:grpSpPr>
            <a:xfrm>
              <a:off x="3219450" y="4838700"/>
              <a:ext cx="7486650" cy="152400"/>
              <a:chOff x="3219450" y="4838700"/>
              <a:chExt cx="7486650" cy="152400"/>
            </a:xfrm>
          </p:grpSpPr>
          <p:sp>
            <p:nvSpPr>
              <p:cNvPr id="133" name="Rectangle 133"/>
              <p:cNvSpPr/>
              <p:nvPr/>
            </p:nvSpPr>
            <p:spPr>
              <a:xfrm>
                <a:off x="3219450" y="4838700"/>
                <a:ext cx="2514600" cy="152400"/>
              </a:xfrm>
              <a:prstGeom prst="rect">
                <a:avLst/>
              </a:prstGeom>
              <a:solidFill>
                <a:srgbClr val="0E6680"/>
              </a:solidFill>
              <a:ln>
                <a:noFill/>
              </a:ln>
            </p:spPr>
          </p:sp>
          <p:sp>
            <p:nvSpPr>
              <p:cNvPr id="134" name="Rectangle 134"/>
              <p:cNvSpPr/>
              <p:nvPr/>
            </p:nvSpPr>
            <p:spPr>
              <a:xfrm>
                <a:off x="7124700" y="4838700"/>
                <a:ext cx="1181100" cy="152400"/>
              </a:xfrm>
              <a:prstGeom prst="rect">
                <a:avLst/>
              </a:prstGeom>
              <a:solidFill>
                <a:srgbClr val="0E6680"/>
              </a:solidFill>
              <a:ln>
                <a:noFill/>
              </a:ln>
            </p:spPr>
          </p:sp>
          <p:sp>
            <p:nvSpPr>
              <p:cNvPr id="135" name="Rectangle 135"/>
              <p:cNvSpPr/>
              <p:nvPr/>
            </p:nvSpPr>
            <p:spPr>
              <a:xfrm>
                <a:off x="9505950" y="4838700"/>
                <a:ext cx="1200150" cy="152400"/>
              </a:xfrm>
              <a:prstGeom prst="rect">
                <a:avLst/>
              </a:prstGeom>
              <a:solidFill>
                <a:srgbClr val="0E6680"/>
              </a:solidFill>
              <a:ln>
                <a:noFill/>
              </a:ln>
            </p:spPr>
          </p:sp>
        </p:grpSp>
        <p:sp>
          <p:nvSpPr>
            <p:cNvPr id="137" name="TextBox 137"/>
            <p:cNvSpPr txBox="1"/>
            <p:nvPr/>
          </p:nvSpPr>
          <p:spPr>
            <a:xfrm>
              <a:off x="5444823" y="5054600"/>
              <a:ext cx="1969103" cy="264033"/>
            </a:xfrm>
            <a:prstGeom prst="rect">
              <a:avLst/>
            </a:prstGeom>
            <a:noFill/>
            <a:ln>
              <a:noFill/>
            </a:ln>
          </p:spPr>
          <p:txBody>
            <a:bodyPr wrap="square" lIns="0" tIns="0" rIns="0" bIns="0" anchor="t" anchorCtr="0">
              <a:spAutoFit/>
            </a:bodyPr>
            <a:lstStyle/>
            <a:p>
              <a:pPr algn="ctr"/>
              <a:r>
                <a:rPr lang="ru" sz="1350" dirty="0">
                  <a:solidFill>
                    <a:srgbClr val="5F6B76"/>
                  </a:solidFill>
                  <a:latin typeface="+mn-lt"/>
                  <a:ea typeface="+mn-ea"/>
                  <a:cs typeface="+mn-cs"/>
                </a:rPr>
                <a:t>пауза без событий</a:t>
              </a:r>
            </a:p>
          </p:txBody>
        </p:sp>
      </p:grpSp>
      <p:grpSp>
        <p:nvGrpSpPr>
          <p:cNvPr id="140" name="windows-source"/>
          <p:cNvGrpSpPr/>
          <p:nvPr/>
        </p:nvGrpSpPr>
        <p:grpSpPr>
          <a:xfrm>
            <a:off x="8492440" y="5905500"/>
            <a:ext cx="3096056" cy="234696"/>
            <a:chOff x="8492440" y="5905500"/>
            <a:chExt cx="3096056" cy="234696"/>
          </a:xfrm>
        </p:grpSpPr>
        <p:sp>
          <p:nvSpPr>
            <p:cNvPr id="139" name="TextBox 139"/>
            <p:cNvSpPr txBox="1"/>
            <p:nvPr/>
          </p:nvSpPr>
          <p:spPr>
            <a:xfrm>
              <a:off x="7811308" y="5905500"/>
              <a:ext cx="3777188"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Типы окон по документации Apache Flink</a:t>
              </a:r>
            </a:p>
          </p:txBody>
        </p:sp>
      </p:grpSp>
      <p:grpSp>
        <p:nvGrpSpPr>
          <p:cNvPr id="144" name="footer"/>
          <p:cNvGrpSpPr/>
          <p:nvPr/>
        </p:nvGrpSpPr>
        <p:grpSpPr>
          <a:xfrm>
            <a:off x="603504" y="6400800"/>
            <a:ext cx="10984992" cy="348996"/>
            <a:chOff x="603504" y="6400800"/>
            <a:chExt cx="10984992" cy="348996"/>
          </a:xfrm>
        </p:grpSpPr>
        <p:sp>
          <p:nvSpPr>
            <p:cNvPr id="141" name="Line 141"/>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42" name="TextBox 142"/>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143" name="TextBox 143"/>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8 / 12</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956671" cy="1127379"/>
            <a:chOff x="596646" y="381000"/>
            <a:chExt cx="7956671"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707138"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Потоковую систему строят из брокера сообщений</a:t>
              </a:r>
              <a:br>
                <a:rPr lang="ru" sz="2550" b="1" dirty="0">
                  <a:solidFill>
                    <a:srgbClr val="17212B"/>
                  </a:solidFill>
                  <a:latin typeface="+mn-lt"/>
                  <a:ea typeface="+mn-ea"/>
                  <a:cs typeface="+mn-cs"/>
                </a:rPr>
              </a:br>
              <a:r>
                <a:rPr lang="ru" sz="2550" b="1" dirty="0">
                  <a:solidFill>
                    <a:srgbClr val="17212B"/>
                  </a:solidFill>
                  <a:latin typeface="+mn-lt"/>
                  <a:ea typeface="+mn-ea"/>
                  <a:cs typeface="+mn-cs"/>
                </a:rPr>
                <a:t>и движка обработки</a:t>
              </a:r>
            </a:p>
          </p:txBody>
        </p:sp>
      </p:grpSp>
      <p:grpSp>
        <p:nvGrpSpPr>
          <p:cNvPr id="24" name="pipeline"/>
          <p:cNvGrpSpPr/>
          <p:nvPr/>
        </p:nvGrpSpPr>
        <p:grpSpPr>
          <a:xfrm>
            <a:off x="609600" y="1790700"/>
            <a:ext cx="10972800" cy="1356233"/>
            <a:chOff x="609600" y="1790700"/>
            <a:chExt cx="10972800" cy="1356233"/>
          </a:xfrm>
        </p:grpSpPr>
        <p:grpSp>
          <p:nvGrpSpPr>
            <p:cNvPr id="7" name="node-sources"/>
            <p:cNvGrpSpPr/>
            <p:nvPr/>
          </p:nvGrpSpPr>
          <p:grpSpPr>
            <a:xfrm>
              <a:off x="609600" y="1790700"/>
              <a:ext cx="2000250" cy="990600"/>
              <a:chOff x="609600" y="1790700"/>
              <a:chExt cx="2000250" cy="990600"/>
            </a:xfrm>
          </p:grpSpPr>
          <p:sp>
            <p:nvSpPr>
              <p:cNvPr id="5" name="Rectangle 5"/>
              <p:cNvSpPr/>
              <p:nvPr/>
            </p:nvSpPr>
            <p:spPr>
              <a:xfrm>
                <a:off x="609600" y="1790700"/>
                <a:ext cx="2000250" cy="990600"/>
              </a:xfrm>
              <a:prstGeom prst="rect">
                <a:avLst/>
              </a:prstGeom>
              <a:solidFill>
                <a:srgbClr val="F3F5F7"/>
              </a:solidFill>
              <a:ln>
                <a:noFill/>
              </a:ln>
            </p:spPr>
          </p:sp>
          <p:sp>
            <p:nvSpPr>
              <p:cNvPr id="6" name="TextBox 6"/>
              <p:cNvSpPr txBox="1"/>
              <p:nvPr/>
            </p:nvSpPr>
            <p:spPr>
              <a:xfrm>
                <a:off x="791718" y="2025650"/>
                <a:ext cx="1496836" cy="589407"/>
              </a:xfrm>
              <a:prstGeom prst="rect">
                <a:avLst/>
              </a:prstGeom>
              <a:noFill/>
              <a:ln>
                <a:noFill/>
              </a:ln>
            </p:spPr>
            <p:txBody>
              <a:bodyPr wrap="square" lIns="0" tIns="0" rIns="0" bIns="0" anchor="t" anchorCtr="0">
                <a:spAutoFit/>
              </a:bodyPr>
              <a:lstStyle/>
              <a:p>
                <a:pPr algn="l">
                  <a:lnSpc>
                    <a:spcPts val="2100"/>
                  </a:lnSpc>
                </a:pPr>
                <a:r>
                  <a:rPr lang="ru" sz="1650" b="1" dirty="0">
                    <a:solidFill>
                      <a:srgbClr val="17212B"/>
                    </a:solidFill>
                    <a:latin typeface="+mn-lt"/>
                    <a:ea typeface="+mn-ea"/>
                    <a:cs typeface="+mn-cs"/>
                  </a:rPr>
                  <a:t>Устройства</a:t>
                </a:r>
                <a:br>
                  <a:rPr lang="ru" sz="1650" b="1" dirty="0">
                    <a:solidFill>
                      <a:srgbClr val="17212B"/>
                    </a:solidFill>
                    <a:latin typeface="+mn-lt"/>
                    <a:ea typeface="+mn-ea"/>
                    <a:cs typeface="+mn-cs"/>
                  </a:rPr>
                </a:br>
                <a:r>
                  <a:rPr lang="ru" sz="1650" b="1" dirty="0">
                    <a:solidFill>
                      <a:srgbClr val="17212B"/>
                    </a:solidFill>
                    <a:latin typeface="+mn-lt"/>
                    <a:ea typeface="+mn-ea"/>
                    <a:cs typeface="+mn-cs"/>
                  </a:rPr>
                  <a:t>и шлюзы</a:t>
                </a:r>
              </a:p>
            </p:txBody>
          </p:sp>
        </p:grpSp>
        <p:sp>
          <p:nvSpPr>
            <p:cNvPr id="8" name="Freeform 8"/>
            <p:cNvSpPr/>
            <p:nvPr/>
          </p:nvSpPr>
          <p:spPr>
            <a:xfrm>
              <a:off x="2667000" y="2152650"/>
              <a:ext cx="266700" cy="266700"/>
            </a:xfrm>
            <a:prstGeom prst="rightArrow">
              <a:avLst/>
            </a:prstGeom>
            <a:solidFill>
              <a:srgbClr val="8A96A1"/>
            </a:solidFill>
            <a:ln>
              <a:noFill/>
            </a:ln>
          </p:spPr>
        </p:sp>
        <p:grpSp>
          <p:nvGrpSpPr>
            <p:cNvPr id="13" name="node-broker"/>
            <p:cNvGrpSpPr/>
            <p:nvPr/>
          </p:nvGrpSpPr>
          <p:grpSpPr>
            <a:xfrm>
              <a:off x="2983992" y="1790700"/>
              <a:ext cx="2671294" cy="1356233"/>
              <a:chOff x="2983992" y="1790700"/>
              <a:chExt cx="2671294" cy="1356233"/>
            </a:xfrm>
          </p:grpSpPr>
          <p:sp>
            <p:nvSpPr>
              <p:cNvPr id="9" name="Rectangle 9"/>
              <p:cNvSpPr/>
              <p:nvPr/>
            </p:nvSpPr>
            <p:spPr>
              <a:xfrm>
                <a:off x="2990850" y="1790700"/>
                <a:ext cx="2571750" cy="990600"/>
              </a:xfrm>
              <a:prstGeom prst="rect">
                <a:avLst/>
              </a:prstGeom>
              <a:solidFill>
                <a:srgbClr val="0E6680"/>
              </a:solidFill>
              <a:ln>
                <a:noFill/>
              </a:ln>
            </p:spPr>
          </p:sp>
          <p:sp>
            <p:nvSpPr>
              <p:cNvPr id="10" name="TextBox 10"/>
              <p:cNvSpPr txBox="1"/>
              <p:nvPr/>
            </p:nvSpPr>
            <p:spPr>
              <a:xfrm>
                <a:off x="3172968" y="2025650"/>
                <a:ext cx="2452326" cy="322707"/>
              </a:xfrm>
              <a:prstGeom prst="rect">
                <a:avLst/>
              </a:prstGeom>
              <a:noFill/>
              <a:ln>
                <a:noFill/>
              </a:ln>
            </p:spPr>
            <p:txBody>
              <a:bodyPr wrap="square" lIns="0" tIns="0" rIns="0" bIns="0" anchor="t" anchorCtr="0">
                <a:spAutoFit/>
              </a:bodyPr>
              <a:lstStyle/>
              <a:p>
                <a:pPr algn="l"/>
                <a:r>
                  <a:rPr lang="ru" sz="1650" b="1" dirty="0">
                    <a:solidFill>
                      <a:srgbClr val="FFFFFF"/>
                    </a:solidFill>
                    <a:latin typeface="+mn-lt"/>
                    <a:ea typeface="+mn-ea"/>
                    <a:cs typeface="+mn-cs"/>
                  </a:rPr>
                  <a:t>Брокер сообщений</a:t>
                </a:r>
              </a:p>
            </p:txBody>
          </p:sp>
          <p:sp>
            <p:nvSpPr>
              <p:cNvPr id="11" name="TextBox 11"/>
              <p:cNvSpPr txBox="1"/>
              <p:nvPr/>
            </p:nvSpPr>
            <p:spPr>
              <a:xfrm>
                <a:off x="3172968" y="2292350"/>
                <a:ext cx="1725219" cy="322707"/>
              </a:xfrm>
              <a:prstGeom prst="rect">
                <a:avLst/>
              </a:prstGeom>
              <a:noFill/>
              <a:ln>
                <a:noFill/>
              </a:ln>
            </p:spPr>
            <p:txBody>
              <a:bodyPr wrap="square" lIns="0" tIns="0" rIns="0" bIns="0" anchor="t" anchorCtr="0">
                <a:spAutoFit/>
              </a:bodyPr>
              <a:lstStyle/>
              <a:p>
                <a:pPr algn="l"/>
                <a:r>
                  <a:rPr lang="en-US" sz="1650" dirty="0">
                    <a:solidFill>
                      <a:srgbClr val="FFFFFF"/>
                    </a:solidFill>
                    <a:latin typeface="+mn-lt"/>
                    <a:ea typeface="+mn-ea"/>
                    <a:cs typeface="+mn-cs"/>
                  </a:rPr>
                  <a:t>Apache Kafka</a:t>
                </a:r>
              </a:p>
            </p:txBody>
          </p:sp>
          <p:sp>
            <p:nvSpPr>
              <p:cNvPr id="12" name="TextBox 12"/>
              <p:cNvSpPr txBox="1"/>
              <p:nvPr/>
            </p:nvSpPr>
            <p:spPr>
              <a:xfrm>
                <a:off x="2983992" y="2882900"/>
                <a:ext cx="3258978"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журнал событий; LinkedIn, 2011</a:t>
                </a:r>
              </a:p>
            </p:txBody>
          </p:sp>
        </p:grpSp>
        <p:sp>
          <p:nvSpPr>
            <p:cNvPr id="14" name="Freeform 14"/>
            <p:cNvSpPr/>
            <p:nvPr/>
          </p:nvSpPr>
          <p:spPr>
            <a:xfrm>
              <a:off x="5619750" y="2152650"/>
              <a:ext cx="266700" cy="266700"/>
            </a:xfrm>
            <a:prstGeom prst="rightArrow">
              <a:avLst/>
            </a:prstGeom>
            <a:solidFill>
              <a:srgbClr val="8A96A1"/>
            </a:solidFill>
            <a:ln>
              <a:noFill/>
            </a:ln>
          </p:spPr>
        </p:sp>
        <p:grpSp>
          <p:nvGrpSpPr>
            <p:cNvPr id="19" name="node-engine"/>
            <p:cNvGrpSpPr/>
            <p:nvPr/>
          </p:nvGrpSpPr>
          <p:grpSpPr>
            <a:xfrm>
              <a:off x="5936742" y="1790700"/>
              <a:ext cx="3245358" cy="1356233"/>
              <a:chOff x="5936742" y="1790700"/>
              <a:chExt cx="3245358" cy="1356233"/>
            </a:xfrm>
          </p:grpSpPr>
          <p:sp>
            <p:nvSpPr>
              <p:cNvPr id="15" name="Rectangle 15"/>
              <p:cNvSpPr/>
              <p:nvPr/>
            </p:nvSpPr>
            <p:spPr>
              <a:xfrm>
                <a:off x="5943600" y="1790700"/>
                <a:ext cx="3238500" cy="990600"/>
              </a:xfrm>
              <a:prstGeom prst="rect">
                <a:avLst/>
              </a:prstGeom>
              <a:solidFill>
                <a:srgbClr val="0E6680"/>
              </a:solidFill>
              <a:ln>
                <a:noFill/>
              </a:ln>
            </p:spPr>
          </p:sp>
          <p:sp>
            <p:nvSpPr>
              <p:cNvPr id="16" name="TextBox 16"/>
              <p:cNvSpPr txBox="1"/>
              <p:nvPr/>
            </p:nvSpPr>
            <p:spPr>
              <a:xfrm>
                <a:off x="6125718" y="1892300"/>
                <a:ext cx="2452326" cy="322707"/>
              </a:xfrm>
              <a:prstGeom prst="rect">
                <a:avLst/>
              </a:prstGeom>
              <a:noFill/>
              <a:ln>
                <a:noFill/>
              </a:ln>
            </p:spPr>
            <p:txBody>
              <a:bodyPr wrap="square" lIns="0" tIns="0" rIns="0" bIns="0" anchor="t" anchorCtr="0">
                <a:spAutoFit/>
              </a:bodyPr>
              <a:lstStyle/>
              <a:p>
                <a:pPr algn="l"/>
                <a:r>
                  <a:rPr lang="ru" sz="1650" b="1" dirty="0">
                    <a:solidFill>
                      <a:srgbClr val="FFFFFF"/>
                    </a:solidFill>
                    <a:latin typeface="+mn-lt"/>
                    <a:ea typeface="+mn-ea"/>
                    <a:cs typeface="+mn-cs"/>
                  </a:rPr>
                  <a:t>Движок обработки</a:t>
                </a:r>
              </a:p>
            </p:txBody>
          </p:sp>
          <p:sp>
            <p:nvSpPr>
              <p:cNvPr id="17" name="TextBox 17"/>
              <p:cNvSpPr txBox="1"/>
              <p:nvPr/>
            </p:nvSpPr>
            <p:spPr>
              <a:xfrm>
                <a:off x="6125718" y="2159000"/>
                <a:ext cx="3174980" cy="589407"/>
              </a:xfrm>
              <a:prstGeom prst="rect">
                <a:avLst/>
              </a:prstGeom>
              <a:noFill/>
              <a:ln>
                <a:noFill/>
              </a:ln>
            </p:spPr>
            <p:txBody>
              <a:bodyPr wrap="square" lIns="0" tIns="0" rIns="0" bIns="0" anchor="t" anchorCtr="0">
                <a:spAutoFit/>
              </a:bodyPr>
              <a:lstStyle/>
              <a:p>
                <a:pPr algn="l">
                  <a:lnSpc>
                    <a:spcPts val="2100"/>
                  </a:lnSpc>
                </a:pPr>
                <a:r>
                  <a:rPr lang="en-US" sz="1650" dirty="0">
                    <a:solidFill>
                      <a:srgbClr val="FFFFFF"/>
                    </a:solidFill>
                    <a:latin typeface="+mn-lt"/>
                    <a:ea typeface="+mn-ea"/>
                    <a:cs typeface="+mn-cs"/>
                  </a:rPr>
                  <a:t>Apache Flink,</a:t>
                </a:r>
                <a:br>
                  <a:rPr lang="en-US" sz="1650" dirty="0">
                    <a:solidFill>
                      <a:srgbClr val="FFFFFF"/>
                    </a:solidFill>
                    <a:latin typeface="+mn-lt"/>
                    <a:ea typeface="+mn-ea"/>
                    <a:cs typeface="+mn-cs"/>
                  </a:rPr>
                </a:br>
                <a:r>
                  <a:rPr lang="en-US" sz="1650" dirty="0">
                    <a:solidFill>
                      <a:srgbClr val="FFFFFF"/>
                    </a:solidFill>
                    <a:latin typeface="+mn-lt"/>
                    <a:ea typeface="+mn-ea"/>
                    <a:cs typeface="+mn-cs"/>
                  </a:rPr>
                  <a:t>Spark Structured Streaming</a:t>
                </a:r>
              </a:p>
            </p:txBody>
          </p:sp>
          <p:sp>
            <p:nvSpPr>
              <p:cNvPr id="18" name="TextBox 18"/>
              <p:cNvSpPr txBox="1"/>
              <p:nvPr/>
            </p:nvSpPr>
            <p:spPr>
              <a:xfrm>
                <a:off x="5936742" y="2882900"/>
                <a:ext cx="258007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окна, агрегаты, правила</a:t>
                </a:r>
              </a:p>
            </p:txBody>
          </p:sp>
        </p:grpSp>
        <p:sp>
          <p:nvSpPr>
            <p:cNvPr id="20" name="Freeform 20"/>
            <p:cNvSpPr/>
            <p:nvPr/>
          </p:nvSpPr>
          <p:spPr>
            <a:xfrm>
              <a:off x="9239250" y="2152650"/>
              <a:ext cx="266700" cy="266700"/>
            </a:xfrm>
            <a:prstGeom prst="rightArrow">
              <a:avLst/>
            </a:prstGeom>
            <a:solidFill>
              <a:srgbClr val="8A96A1"/>
            </a:solidFill>
            <a:ln>
              <a:noFill/>
            </a:ln>
          </p:spPr>
        </p:sp>
        <p:grpSp>
          <p:nvGrpSpPr>
            <p:cNvPr id="23" name="node-sinks"/>
            <p:cNvGrpSpPr/>
            <p:nvPr/>
          </p:nvGrpSpPr>
          <p:grpSpPr>
            <a:xfrm>
              <a:off x="9563100" y="1790700"/>
              <a:ext cx="2019300" cy="990600"/>
              <a:chOff x="9563100" y="1790700"/>
              <a:chExt cx="2019300" cy="990600"/>
            </a:xfrm>
          </p:grpSpPr>
          <p:sp>
            <p:nvSpPr>
              <p:cNvPr id="21" name="Rectangle 21"/>
              <p:cNvSpPr/>
              <p:nvPr/>
            </p:nvSpPr>
            <p:spPr>
              <a:xfrm>
                <a:off x="9563100" y="1790700"/>
                <a:ext cx="2019300" cy="990600"/>
              </a:xfrm>
              <a:prstGeom prst="rect">
                <a:avLst/>
              </a:prstGeom>
              <a:solidFill>
                <a:srgbClr val="F3F5F7"/>
              </a:solidFill>
              <a:ln>
                <a:noFill/>
              </a:ln>
            </p:spPr>
          </p:sp>
          <p:sp>
            <p:nvSpPr>
              <p:cNvPr id="22" name="TextBox 22"/>
              <p:cNvSpPr txBox="1"/>
              <p:nvPr/>
            </p:nvSpPr>
            <p:spPr>
              <a:xfrm>
                <a:off x="9745218" y="2025650"/>
                <a:ext cx="1715494" cy="589407"/>
              </a:xfrm>
              <a:prstGeom prst="rect">
                <a:avLst/>
              </a:prstGeom>
              <a:noFill/>
              <a:ln>
                <a:noFill/>
              </a:ln>
            </p:spPr>
            <p:txBody>
              <a:bodyPr wrap="square" lIns="0" tIns="0" rIns="0" bIns="0" anchor="t" anchorCtr="0">
                <a:spAutoFit/>
              </a:bodyPr>
              <a:lstStyle/>
              <a:p>
                <a:pPr algn="l">
                  <a:lnSpc>
                    <a:spcPts val="2100"/>
                  </a:lnSpc>
                </a:pPr>
                <a:r>
                  <a:rPr lang="ru" sz="1650" b="1" dirty="0">
                    <a:solidFill>
                      <a:srgbClr val="17212B"/>
                    </a:solidFill>
                    <a:latin typeface="+mn-lt"/>
                    <a:ea typeface="+mn-ea"/>
                    <a:cs typeface="+mn-cs"/>
                  </a:rPr>
                  <a:t>Хранилище</a:t>
                </a:r>
                <a:br>
                  <a:rPr lang="ru" sz="1650" b="1" dirty="0">
                    <a:solidFill>
                      <a:srgbClr val="17212B"/>
                    </a:solidFill>
                    <a:latin typeface="+mn-lt"/>
                    <a:ea typeface="+mn-ea"/>
                    <a:cs typeface="+mn-cs"/>
                  </a:rPr>
                </a:br>
                <a:r>
                  <a:rPr lang="ru" sz="1650" b="1" dirty="0">
                    <a:solidFill>
                      <a:srgbClr val="17212B"/>
                    </a:solidFill>
                    <a:latin typeface="+mn-lt"/>
                    <a:ea typeface="+mn-ea"/>
                    <a:cs typeface="+mn-cs"/>
                  </a:rPr>
                  <a:t>и приложения</a:t>
                </a:r>
              </a:p>
            </p:txBody>
          </p:sp>
        </p:grpSp>
      </p:grpSp>
      <p:grpSp>
        <p:nvGrpSpPr>
          <p:cNvPr id="43" name="panel-lambda"/>
          <p:cNvGrpSpPr/>
          <p:nvPr/>
        </p:nvGrpSpPr>
        <p:grpSpPr>
          <a:xfrm>
            <a:off x="609600" y="3352800"/>
            <a:ext cx="5372100" cy="2743200"/>
            <a:chOff x="609600" y="3352800"/>
            <a:chExt cx="5372100" cy="2743200"/>
          </a:xfrm>
        </p:grpSpPr>
        <p:sp>
          <p:nvSpPr>
            <p:cNvPr id="25" name="Rectangle 25"/>
            <p:cNvSpPr/>
            <p:nvPr/>
          </p:nvSpPr>
          <p:spPr>
            <a:xfrm>
              <a:off x="609600" y="3352800"/>
              <a:ext cx="5372100" cy="2743200"/>
            </a:xfrm>
            <a:prstGeom prst="rect">
              <a:avLst/>
            </a:prstGeom>
            <a:solidFill>
              <a:srgbClr val="F3F5F7"/>
            </a:solidFill>
            <a:ln>
              <a:noFill/>
            </a:ln>
          </p:spPr>
        </p:sp>
        <p:sp>
          <p:nvSpPr>
            <p:cNvPr id="26" name="TextBox 26"/>
            <p:cNvSpPr txBox="1"/>
            <p:nvPr/>
          </p:nvSpPr>
          <p:spPr>
            <a:xfrm>
              <a:off x="829056" y="3505200"/>
              <a:ext cx="3136426"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Архитектура Lambda</a:t>
              </a:r>
            </a:p>
          </p:txBody>
        </p:sp>
        <p:sp>
          <p:nvSpPr>
            <p:cNvPr id="27" name="TextBox 27"/>
            <p:cNvSpPr txBox="1"/>
            <p:nvPr/>
          </p:nvSpPr>
          <p:spPr>
            <a:xfrm>
              <a:off x="4146184" y="3581400"/>
              <a:ext cx="1613012"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Натан Марц, 2011</a:t>
              </a:r>
            </a:p>
          </p:txBody>
        </p:sp>
        <p:grpSp>
          <p:nvGrpSpPr>
            <p:cNvPr id="32" name="lambda-edges"/>
            <p:cNvGrpSpPr/>
            <p:nvPr/>
          </p:nvGrpSpPr>
          <p:grpSpPr>
            <a:xfrm>
              <a:off x="1790700" y="4210050"/>
              <a:ext cx="2552700" cy="952500"/>
              <a:chOff x="1790700" y="4210050"/>
              <a:chExt cx="2552700" cy="952500"/>
            </a:xfrm>
          </p:grpSpPr>
          <p:sp>
            <p:nvSpPr>
              <p:cNvPr id="28" name="Line 28"/>
              <p:cNvSpPr/>
              <p:nvPr/>
            </p:nvSpPr>
            <p:spPr>
              <a:xfrm flipV="1">
                <a:off x="1790700" y="4267200"/>
                <a:ext cx="342900" cy="419100"/>
              </a:xfrm>
              <a:prstGeom prst="line">
                <a:avLst/>
              </a:prstGeom>
              <a:noFill/>
              <a:ln w="19050">
                <a:solidFill>
                  <a:srgbClr val="4A5663"/>
                </a:solidFill>
                <a:tailEnd type="triangle" w="lg" len="lg"/>
              </a:ln>
            </p:spPr>
          </p:sp>
          <p:sp>
            <p:nvSpPr>
              <p:cNvPr id="29" name="Line 29"/>
              <p:cNvSpPr/>
              <p:nvPr/>
            </p:nvSpPr>
            <p:spPr>
              <a:xfrm>
                <a:off x="1790700" y="4686300"/>
                <a:ext cx="342900" cy="419100"/>
              </a:xfrm>
              <a:prstGeom prst="line">
                <a:avLst/>
              </a:prstGeom>
              <a:noFill/>
              <a:ln w="19050">
                <a:solidFill>
                  <a:srgbClr val="4A5663"/>
                </a:solidFill>
                <a:tailEnd type="triangle" w="lg" len="lg"/>
              </a:ln>
            </p:spPr>
          </p:sp>
          <p:sp>
            <p:nvSpPr>
              <p:cNvPr id="30" name="Line 30"/>
              <p:cNvSpPr/>
              <p:nvPr/>
            </p:nvSpPr>
            <p:spPr>
              <a:xfrm>
                <a:off x="4038600" y="4210050"/>
                <a:ext cx="304800" cy="400050"/>
              </a:xfrm>
              <a:prstGeom prst="line">
                <a:avLst/>
              </a:prstGeom>
              <a:noFill/>
              <a:ln w="19050">
                <a:solidFill>
                  <a:srgbClr val="4A5663"/>
                </a:solidFill>
                <a:tailEnd type="triangle" w="lg" len="lg"/>
              </a:ln>
            </p:spPr>
          </p:sp>
          <p:sp>
            <p:nvSpPr>
              <p:cNvPr id="31" name="Line 31"/>
              <p:cNvSpPr/>
              <p:nvPr/>
            </p:nvSpPr>
            <p:spPr>
              <a:xfrm flipV="1">
                <a:off x="4038600" y="4762500"/>
                <a:ext cx="304800" cy="400050"/>
              </a:xfrm>
              <a:prstGeom prst="line">
                <a:avLst/>
              </a:prstGeom>
              <a:noFill/>
              <a:ln w="19050">
                <a:solidFill>
                  <a:srgbClr val="4A5663"/>
                </a:solidFill>
                <a:tailEnd type="triangle" w="lg" len="lg"/>
              </a:ln>
            </p:spPr>
          </p:sp>
        </p:grpSp>
        <p:grpSp>
          <p:nvGrpSpPr>
            <p:cNvPr id="41" name="lambda-nodes"/>
            <p:cNvGrpSpPr/>
            <p:nvPr/>
          </p:nvGrpSpPr>
          <p:grpSpPr>
            <a:xfrm>
              <a:off x="838200" y="4000500"/>
              <a:ext cx="4914900" cy="1371600"/>
              <a:chOff x="838200" y="4000500"/>
              <a:chExt cx="4914900" cy="1371600"/>
            </a:xfrm>
          </p:grpSpPr>
          <p:sp>
            <p:nvSpPr>
              <p:cNvPr id="33" name="Rectangle 33"/>
              <p:cNvSpPr/>
              <p:nvPr/>
            </p:nvSpPr>
            <p:spPr>
              <a:xfrm>
                <a:off x="838200" y="4476750"/>
                <a:ext cx="952500" cy="419100"/>
              </a:xfrm>
              <a:prstGeom prst="rect">
                <a:avLst/>
              </a:prstGeom>
              <a:solidFill>
                <a:srgbClr val="FFFFFF"/>
              </a:solidFill>
              <a:ln w="14288">
                <a:solidFill>
                  <a:srgbClr val="8A96A1"/>
                </a:solidFill>
              </a:ln>
            </p:spPr>
          </p:sp>
          <p:sp>
            <p:nvSpPr>
              <p:cNvPr id="34" name="TextBox 34"/>
              <p:cNvSpPr txBox="1"/>
              <p:nvPr/>
            </p:nvSpPr>
            <p:spPr>
              <a:xfrm>
                <a:off x="875462" y="4578350"/>
                <a:ext cx="877975"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Данные</a:t>
                </a:r>
              </a:p>
            </p:txBody>
          </p:sp>
          <p:sp>
            <p:nvSpPr>
              <p:cNvPr id="35" name="Rectangle 35"/>
              <p:cNvSpPr/>
              <p:nvPr/>
            </p:nvSpPr>
            <p:spPr>
              <a:xfrm>
                <a:off x="2171700" y="4000500"/>
                <a:ext cx="1866900" cy="419100"/>
              </a:xfrm>
              <a:prstGeom prst="rect">
                <a:avLst/>
              </a:prstGeom>
              <a:solidFill>
                <a:srgbClr val="FFFFFF"/>
              </a:solidFill>
              <a:ln w="14288">
                <a:solidFill>
                  <a:srgbClr val="8A96A1"/>
                </a:solidFill>
              </a:ln>
            </p:spPr>
          </p:sp>
          <p:sp>
            <p:nvSpPr>
              <p:cNvPr id="36" name="TextBox 36"/>
              <p:cNvSpPr txBox="1"/>
              <p:nvPr/>
            </p:nvSpPr>
            <p:spPr>
              <a:xfrm>
                <a:off x="2165938" y="4102100"/>
                <a:ext cx="1878423"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Пакетный контур</a:t>
                </a:r>
              </a:p>
            </p:txBody>
          </p:sp>
          <p:sp>
            <p:nvSpPr>
              <p:cNvPr id="37" name="Rectangle 37"/>
              <p:cNvSpPr/>
              <p:nvPr/>
            </p:nvSpPr>
            <p:spPr>
              <a:xfrm>
                <a:off x="2171700" y="4953000"/>
                <a:ext cx="1866900" cy="419100"/>
              </a:xfrm>
              <a:prstGeom prst="rect">
                <a:avLst/>
              </a:prstGeom>
              <a:solidFill>
                <a:srgbClr val="0E6680"/>
              </a:solidFill>
              <a:ln>
                <a:noFill/>
              </a:ln>
            </p:spPr>
          </p:sp>
          <p:sp>
            <p:nvSpPr>
              <p:cNvPr id="38" name="TextBox 38"/>
              <p:cNvSpPr txBox="1"/>
              <p:nvPr/>
            </p:nvSpPr>
            <p:spPr>
              <a:xfrm>
                <a:off x="2101926" y="5054600"/>
                <a:ext cx="2006449" cy="264033"/>
              </a:xfrm>
              <a:prstGeom prst="rect">
                <a:avLst/>
              </a:prstGeom>
              <a:noFill/>
              <a:ln>
                <a:noFill/>
              </a:ln>
            </p:spPr>
            <p:txBody>
              <a:bodyPr wrap="square" lIns="0" tIns="0" rIns="0" bIns="0" anchor="t" anchorCtr="0">
                <a:spAutoFit/>
              </a:bodyPr>
              <a:lstStyle/>
              <a:p>
                <a:pPr algn="ctr"/>
                <a:r>
                  <a:rPr lang="ru" sz="1350" b="1" dirty="0">
                    <a:solidFill>
                      <a:srgbClr val="FFFFFF"/>
                    </a:solidFill>
                    <a:latin typeface="+mn-lt"/>
                    <a:ea typeface="+mn-ea"/>
                    <a:cs typeface="+mn-cs"/>
                  </a:rPr>
                  <a:t>Потоковый контур</a:t>
                </a:r>
              </a:p>
            </p:txBody>
          </p:sp>
          <p:sp>
            <p:nvSpPr>
              <p:cNvPr id="39" name="Rectangle 39"/>
              <p:cNvSpPr/>
              <p:nvPr/>
            </p:nvSpPr>
            <p:spPr>
              <a:xfrm>
                <a:off x="4381500" y="4476750"/>
                <a:ext cx="1371600" cy="419100"/>
              </a:xfrm>
              <a:prstGeom prst="rect">
                <a:avLst/>
              </a:prstGeom>
              <a:solidFill>
                <a:srgbClr val="FFFFFF"/>
              </a:solidFill>
              <a:ln w="14288">
                <a:solidFill>
                  <a:srgbClr val="8A96A1"/>
                </a:solidFill>
              </a:ln>
            </p:spPr>
          </p:sp>
          <p:sp>
            <p:nvSpPr>
              <p:cNvPr id="40" name="TextBox 40"/>
              <p:cNvSpPr txBox="1"/>
              <p:nvPr/>
            </p:nvSpPr>
            <p:spPr>
              <a:xfrm>
                <a:off x="4351074" y="4578350"/>
                <a:ext cx="1432452"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Объединение</a:t>
                </a:r>
              </a:p>
            </p:txBody>
          </p:sp>
        </p:grpSp>
        <p:sp>
          <p:nvSpPr>
            <p:cNvPr id="42" name="TextBox 42"/>
            <p:cNvSpPr txBox="1"/>
            <p:nvPr/>
          </p:nvSpPr>
          <p:spPr>
            <a:xfrm>
              <a:off x="829818" y="5645150"/>
              <a:ext cx="5173588"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Логику обработки поддерживают дважды</a:t>
              </a:r>
            </a:p>
          </p:txBody>
        </p:sp>
      </p:grpSp>
      <p:grpSp>
        <p:nvGrpSpPr>
          <p:cNvPr id="63" name="panel-kappa"/>
          <p:cNvGrpSpPr/>
          <p:nvPr/>
        </p:nvGrpSpPr>
        <p:grpSpPr>
          <a:xfrm>
            <a:off x="6210300" y="3352800"/>
            <a:ext cx="5372100" cy="2743200"/>
            <a:chOff x="6210300" y="3352800"/>
            <a:chExt cx="5372100" cy="2743200"/>
          </a:xfrm>
        </p:grpSpPr>
        <p:sp>
          <p:nvSpPr>
            <p:cNvPr id="44" name="Rectangle 44"/>
            <p:cNvSpPr/>
            <p:nvPr/>
          </p:nvSpPr>
          <p:spPr>
            <a:xfrm>
              <a:off x="6210300" y="3352800"/>
              <a:ext cx="5372100" cy="2743200"/>
            </a:xfrm>
            <a:prstGeom prst="rect">
              <a:avLst/>
            </a:prstGeom>
            <a:solidFill>
              <a:srgbClr val="F3F5F7"/>
            </a:solidFill>
            <a:ln>
              <a:noFill/>
            </a:ln>
          </p:spPr>
        </p:sp>
        <p:sp>
          <p:nvSpPr>
            <p:cNvPr id="45" name="TextBox 45"/>
            <p:cNvSpPr txBox="1"/>
            <p:nvPr/>
          </p:nvSpPr>
          <p:spPr>
            <a:xfrm>
              <a:off x="6429756" y="3505200"/>
              <a:ext cx="2906148"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Архитектура Kappa</a:t>
              </a:r>
            </a:p>
          </p:txBody>
        </p:sp>
        <p:sp>
          <p:nvSpPr>
            <p:cNvPr id="46" name="TextBox 46"/>
            <p:cNvSpPr txBox="1"/>
            <p:nvPr/>
          </p:nvSpPr>
          <p:spPr>
            <a:xfrm>
              <a:off x="9746884" y="3581400"/>
              <a:ext cx="1613012"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Джей Крепс, 2014</a:t>
              </a:r>
            </a:p>
          </p:txBody>
        </p:sp>
        <p:grpSp>
          <p:nvGrpSpPr>
            <p:cNvPr id="49" name="kappa-edges"/>
            <p:cNvGrpSpPr/>
            <p:nvPr/>
          </p:nvGrpSpPr>
          <p:grpSpPr>
            <a:xfrm>
              <a:off x="7486650" y="4686300"/>
              <a:ext cx="2667000" cy="1"/>
              <a:chOff x="7486650" y="4686300"/>
              <a:chExt cx="2667000" cy="1"/>
            </a:xfrm>
          </p:grpSpPr>
          <p:sp>
            <p:nvSpPr>
              <p:cNvPr id="47" name="Line 47"/>
              <p:cNvSpPr/>
              <p:nvPr/>
            </p:nvSpPr>
            <p:spPr>
              <a:xfrm>
                <a:off x="7486650" y="4686300"/>
                <a:ext cx="400050" cy="1"/>
              </a:xfrm>
              <a:prstGeom prst="line">
                <a:avLst/>
              </a:prstGeom>
              <a:noFill/>
              <a:ln w="19050">
                <a:solidFill>
                  <a:srgbClr val="4A5663"/>
                </a:solidFill>
                <a:tailEnd type="triangle" w="lg" len="lg"/>
              </a:ln>
            </p:spPr>
          </p:sp>
          <p:sp>
            <p:nvSpPr>
              <p:cNvPr id="48" name="Line 48"/>
              <p:cNvSpPr/>
              <p:nvPr/>
            </p:nvSpPr>
            <p:spPr>
              <a:xfrm>
                <a:off x="9791700" y="4686300"/>
                <a:ext cx="361950" cy="1"/>
              </a:xfrm>
              <a:prstGeom prst="line">
                <a:avLst/>
              </a:prstGeom>
              <a:noFill/>
              <a:ln w="19050">
                <a:solidFill>
                  <a:srgbClr val="4A5663"/>
                </a:solidFill>
                <a:tailEnd type="triangle" w="lg" len="lg"/>
              </a:ln>
            </p:spPr>
          </p:sp>
        </p:grpSp>
        <p:grpSp>
          <p:nvGrpSpPr>
            <p:cNvPr id="53" name="kappa-replay"/>
            <p:cNvGrpSpPr/>
            <p:nvPr/>
          </p:nvGrpSpPr>
          <p:grpSpPr>
            <a:xfrm>
              <a:off x="6962775" y="4895850"/>
              <a:ext cx="1895476" cy="333375"/>
              <a:chOff x="6962775" y="4895850"/>
              <a:chExt cx="1895476" cy="333375"/>
            </a:xfrm>
          </p:grpSpPr>
          <p:sp>
            <p:nvSpPr>
              <p:cNvPr id="50" name="Line 50"/>
              <p:cNvSpPr/>
              <p:nvPr/>
            </p:nvSpPr>
            <p:spPr>
              <a:xfrm>
                <a:off x="6962775" y="4895850"/>
                <a:ext cx="9525" cy="323850"/>
              </a:xfrm>
              <a:custGeom>
                <a:avLst/>
                <a:gdLst/>
                <a:ahLst/>
                <a:cxnLst/>
                <a:rect l="l" t="t" r="r" b="b"/>
                <a:pathLst>
                  <a:path w="9525" h="323850">
                    <a:moveTo>
                      <a:pt x="0" y="0"/>
                    </a:moveTo>
                    <a:lnTo>
                      <a:pt x="0" y="323850"/>
                    </a:lnTo>
                  </a:path>
                </a:pathLst>
              </a:custGeom>
              <a:noFill/>
              <a:ln w="19050">
                <a:solidFill>
                  <a:srgbClr val="4A5663"/>
                </a:solidFill>
                <a:custDash>
                  <a:ds d="300000" sp="200000"/>
                </a:custDash>
              </a:ln>
            </p:spPr>
          </p:sp>
          <p:sp>
            <p:nvSpPr>
              <p:cNvPr id="51" name="Line 51"/>
              <p:cNvSpPr/>
              <p:nvPr/>
            </p:nvSpPr>
            <p:spPr>
              <a:xfrm>
                <a:off x="6962775" y="5219700"/>
                <a:ext cx="1895475" cy="9525"/>
              </a:xfrm>
              <a:custGeom>
                <a:avLst/>
                <a:gdLst/>
                <a:ahLst/>
                <a:cxnLst/>
                <a:rect l="l" t="t" r="r" b="b"/>
                <a:pathLst>
                  <a:path w="1895475" h="9525">
                    <a:moveTo>
                      <a:pt x="0" y="0"/>
                    </a:moveTo>
                    <a:lnTo>
                      <a:pt x="1895475" y="0"/>
                    </a:lnTo>
                  </a:path>
                </a:pathLst>
              </a:custGeom>
              <a:noFill/>
              <a:ln w="19050">
                <a:solidFill>
                  <a:srgbClr val="4A5663"/>
                </a:solidFill>
                <a:custDash>
                  <a:ds d="300000" sp="200000"/>
                </a:custDash>
              </a:ln>
            </p:spPr>
          </p:sp>
          <p:sp>
            <p:nvSpPr>
              <p:cNvPr id="52" name="Line 52"/>
              <p:cNvSpPr/>
              <p:nvPr/>
            </p:nvSpPr>
            <p:spPr>
              <a:xfrm flipV="1">
                <a:off x="8858250" y="4953000"/>
                <a:ext cx="1" cy="266700"/>
              </a:xfrm>
              <a:prstGeom prst="line">
                <a:avLst/>
              </a:prstGeom>
              <a:noFill/>
              <a:ln w="19050">
                <a:solidFill>
                  <a:srgbClr val="4A5663"/>
                </a:solidFill>
                <a:custDash>
                  <a:ds d="300000" sp="200000"/>
                </a:custDash>
                <a:tailEnd type="triangle" w="lg" len="lg"/>
              </a:ln>
            </p:spPr>
          </p:sp>
        </p:grpSp>
        <p:sp>
          <p:nvSpPr>
            <p:cNvPr id="54" name="TextBox 54"/>
            <p:cNvSpPr txBox="1"/>
            <p:nvPr/>
          </p:nvSpPr>
          <p:spPr>
            <a:xfrm>
              <a:off x="6951996" y="5302250"/>
              <a:ext cx="1907510" cy="264033"/>
            </a:xfrm>
            <a:prstGeom prst="rect">
              <a:avLst/>
            </a:prstGeom>
            <a:noFill/>
            <a:ln>
              <a:noFill/>
            </a:ln>
          </p:spPr>
          <p:txBody>
            <a:bodyPr wrap="square" lIns="0" tIns="0" rIns="0" bIns="0" anchor="t" anchorCtr="0">
              <a:spAutoFit/>
            </a:bodyPr>
            <a:lstStyle/>
            <a:p>
              <a:pPr algn="ctr"/>
              <a:r>
                <a:rPr lang="ru" sz="1350" dirty="0">
                  <a:solidFill>
                    <a:srgbClr val="5F6B76"/>
                  </a:solidFill>
                  <a:latin typeface="+mn-lt"/>
                  <a:ea typeface="+mn-ea"/>
                  <a:cs typeface="+mn-cs"/>
                </a:rPr>
                <a:t>повторное чтение</a:t>
              </a:r>
            </a:p>
          </p:txBody>
        </p:sp>
        <p:grpSp>
          <p:nvGrpSpPr>
            <p:cNvPr id="61" name="kappa-nodes"/>
            <p:cNvGrpSpPr/>
            <p:nvPr/>
          </p:nvGrpSpPr>
          <p:grpSpPr>
            <a:xfrm>
              <a:off x="6438900" y="4476750"/>
              <a:ext cx="4914900" cy="419100"/>
              <a:chOff x="6438900" y="4476750"/>
              <a:chExt cx="4914900" cy="419100"/>
            </a:xfrm>
          </p:grpSpPr>
          <p:sp>
            <p:nvSpPr>
              <p:cNvPr id="55" name="Rectangle 55"/>
              <p:cNvSpPr/>
              <p:nvPr/>
            </p:nvSpPr>
            <p:spPr>
              <a:xfrm>
                <a:off x="6438900" y="4476750"/>
                <a:ext cx="1047750" cy="419100"/>
              </a:xfrm>
              <a:prstGeom prst="rect">
                <a:avLst/>
              </a:prstGeom>
              <a:solidFill>
                <a:srgbClr val="FFFFFF"/>
              </a:solidFill>
              <a:ln w="14288">
                <a:solidFill>
                  <a:srgbClr val="8A96A1"/>
                </a:solidFill>
              </a:ln>
            </p:spPr>
          </p:sp>
          <p:sp>
            <p:nvSpPr>
              <p:cNvPr id="56" name="TextBox 56"/>
              <p:cNvSpPr txBox="1"/>
              <p:nvPr/>
            </p:nvSpPr>
            <p:spPr>
              <a:xfrm>
                <a:off x="6523787" y="4578350"/>
                <a:ext cx="877975"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Журнал</a:t>
                </a:r>
              </a:p>
            </p:txBody>
          </p:sp>
          <p:sp>
            <p:nvSpPr>
              <p:cNvPr id="57" name="Rectangle 57"/>
              <p:cNvSpPr/>
              <p:nvPr/>
            </p:nvSpPr>
            <p:spPr>
              <a:xfrm>
                <a:off x="7924800" y="4476750"/>
                <a:ext cx="1866900" cy="419100"/>
              </a:xfrm>
              <a:prstGeom prst="rect">
                <a:avLst/>
              </a:prstGeom>
              <a:solidFill>
                <a:srgbClr val="0E6680"/>
              </a:solidFill>
              <a:ln>
                <a:noFill/>
              </a:ln>
            </p:spPr>
          </p:sp>
          <p:sp>
            <p:nvSpPr>
              <p:cNvPr id="58" name="TextBox 58"/>
              <p:cNvSpPr txBox="1"/>
              <p:nvPr/>
            </p:nvSpPr>
            <p:spPr>
              <a:xfrm>
                <a:off x="7855026" y="4578350"/>
                <a:ext cx="2006449" cy="264033"/>
              </a:xfrm>
              <a:prstGeom prst="rect">
                <a:avLst/>
              </a:prstGeom>
              <a:noFill/>
              <a:ln>
                <a:noFill/>
              </a:ln>
            </p:spPr>
            <p:txBody>
              <a:bodyPr wrap="square" lIns="0" tIns="0" rIns="0" bIns="0" anchor="t" anchorCtr="0">
                <a:spAutoFit/>
              </a:bodyPr>
              <a:lstStyle/>
              <a:p>
                <a:pPr algn="ctr"/>
                <a:r>
                  <a:rPr lang="ru" sz="1350" b="1" dirty="0">
                    <a:solidFill>
                      <a:srgbClr val="FFFFFF"/>
                    </a:solidFill>
                    <a:latin typeface="+mn-lt"/>
                    <a:ea typeface="+mn-ea"/>
                    <a:cs typeface="+mn-cs"/>
                  </a:rPr>
                  <a:t>Потоковый контур</a:t>
                </a:r>
              </a:p>
            </p:txBody>
          </p:sp>
          <p:sp>
            <p:nvSpPr>
              <p:cNvPr id="59" name="Rectangle 59"/>
              <p:cNvSpPr/>
              <p:nvPr/>
            </p:nvSpPr>
            <p:spPr>
              <a:xfrm>
                <a:off x="10191750" y="4476750"/>
                <a:ext cx="1162050" cy="419100"/>
              </a:xfrm>
              <a:prstGeom prst="rect">
                <a:avLst/>
              </a:prstGeom>
              <a:solidFill>
                <a:srgbClr val="FFFFFF"/>
              </a:solidFill>
              <a:ln w="14288">
                <a:solidFill>
                  <a:srgbClr val="8A96A1"/>
                </a:solidFill>
              </a:ln>
            </p:spPr>
          </p:sp>
          <p:sp>
            <p:nvSpPr>
              <p:cNvPr id="60" name="TextBox 60"/>
              <p:cNvSpPr txBox="1"/>
              <p:nvPr/>
            </p:nvSpPr>
            <p:spPr>
              <a:xfrm>
                <a:off x="10176358" y="4578350"/>
                <a:ext cx="1192835"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Результат</a:t>
                </a:r>
              </a:p>
            </p:txBody>
          </p:sp>
        </p:grpSp>
        <p:sp>
          <p:nvSpPr>
            <p:cNvPr id="62" name="TextBox 62"/>
            <p:cNvSpPr txBox="1"/>
            <p:nvPr/>
          </p:nvSpPr>
          <p:spPr>
            <a:xfrm>
              <a:off x="6430518" y="5645150"/>
              <a:ext cx="5570982"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Пересчёт истории: повторное чтение журнала</a:t>
              </a:r>
            </a:p>
          </p:txBody>
        </p:sp>
      </p:grpSp>
      <p:grpSp>
        <p:nvGrpSpPr>
          <p:cNvPr id="67" name="footer"/>
          <p:cNvGrpSpPr/>
          <p:nvPr/>
        </p:nvGrpSpPr>
        <p:grpSpPr>
          <a:xfrm>
            <a:off x="603504" y="6400800"/>
            <a:ext cx="10984992" cy="348996"/>
            <a:chOff x="603504" y="6400800"/>
            <a:chExt cx="10984992" cy="348996"/>
          </a:xfrm>
        </p:grpSpPr>
        <p:sp>
          <p:nvSpPr>
            <p:cNvPr id="64" name="Line 64"/>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65" name="TextBox 65"/>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66" name="TextBox 66"/>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9 / 12</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6949465" cy="1127379"/>
            <a:chOff x="596646" y="381000"/>
            <a:chExt cx="6949465"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8478347"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Мониторинг насосов: оповещение приходит</a:t>
              </a:r>
              <a:br>
                <a:rPr lang="ru" sz="2550" b="1" dirty="0">
                  <a:solidFill>
                    <a:srgbClr val="17212B"/>
                  </a:solidFill>
                  <a:latin typeface="+mn-lt"/>
                  <a:ea typeface="+mn-ea"/>
                  <a:cs typeface="+mn-cs"/>
                </a:rPr>
              </a:br>
              <a:r>
                <a:rPr lang="ru" sz="2550" b="1" dirty="0">
                  <a:solidFill>
                    <a:srgbClr val="17212B"/>
                  </a:solidFill>
                  <a:latin typeface="+mn-lt"/>
                  <a:ea typeface="+mn-ea"/>
                  <a:cs typeface="+mn-cs"/>
                </a:rPr>
                <a:t>после закрытия минутного окна</a:t>
              </a:r>
            </a:p>
          </p:txBody>
        </p:sp>
      </p:grpSp>
      <p:grpSp>
        <p:nvGrpSpPr>
          <p:cNvPr id="8" name="kpi-window"/>
          <p:cNvGrpSpPr/>
          <p:nvPr/>
        </p:nvGrpSpPr>
        <p:grpSpPr>
          <a:xfrm>
            <a:off x="590550" y="1898650"/>
            <a:ext cx="2876162" cy="1229233"/>
            <a:chOff x="590550" y="1898650"/>
            <a:chExt cx="2876162" cy="1229233"/>
          </a:xfrm>
        </p:grpSpPr>
        <p:sp>
          <p:nvSpPr>
            <p:cNvPr id="5" name="TextBox 5"/>
            <p:cNvSpPr txBox="1"/>
            <p:nvPr/>
          </p:nvSpPr>
          <p:spPr>
            <a:xfrm>
              <a:off x="590550" y="1898650"/>
              <a:ext cx="1943289" cy="876300"/>
            </a:xfrm>
            <a:prstGeom prst="rect">
              <a:avLst/>
            </a:prstGeom>
            <a:noFill/>
            <a:ln>
              <a:noFill/>
            </a:ln>
          </p:spPr>
          <p:txBody>
            <a:bodyPr wrap="square" lIns="0" tIns="0" rIns="0" bIns="0" anchor="t" anchorCtr="0">
              <a:spAutoFit/>
            </a:bodyPr>
            <a:lstStyle/>
            <a:p>
              <a:pPr algn="l"/>
              <a:r>
                <a:rPr lang="ru" sz="4500" b="1" dirty="0">
                  <a:solidFill>
                    <a:srgbClr val="0E6680"/>
                  </a:solidFill>
                  <a:latin typeface="+mn-lt"/>
                  <a:ea typeface="+mn-ea"/>
                  <a:cs typeface="+mn-cs"/>
                </a:rPr>
                <a:t>1 мин</a:t>
              </a:r>
            </a:p>
          </p:txBody>
        </p:sp>
        <p:sp>
          <p:nvSpPr>
            <p:cNvPr id="6" name="TextBox 6"/>
            <p:cNvSpPr txBox="1"/>
            <p:nvPr/>
          </p:nvSpPr>
          <p:spPr>
            <a:xfrm>
              <a:off x="601218" y="2578100"/>
              <a:ext cx="3227185"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окно по времени события</a:t>
              </a:r>
            </a:p>
          </p:txBody>
        </p:sp>
        <p:sp>
          <p:nvSpPr>
            <p:cNvPr id="7" name="TextBox 7"/>
            <p:cNvSpPr txBox="1"/>
            <p:nvPr/>
          </p:nvSpPr>
          <p:spPr>
            <a:xfrm>
              <a:off x="602742" y="2863850"/>
              <a:ext cx="349404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оповещение после закрытия окна</a:t>
              </a:r>
            </a:p>
          </p:txBody>
        </p:sp>
      </p:grpSp>
      <p:grpSp>
        <p:nvGrpSpPr>
          <p:cNvPr id="12" name="kpi-rate"/>
          <p:cNvGrpSpPr/>
          <p:nvPr/>
        </p:nvGrpSpPr>
        <p:grpSpPr>
          <a:xfrm>
            <a:off x="4940046" y="2139950"/>
            <a:ext cx="3233249" cy="987933"/>
            <a:chOff x="4940046" y="2139950"/>
            <a:chExt cx="3233249" cy="987933"/>
          </a:xfrm>
        </p:grpSpPr>
        <p:sp>
          <p:nvSpPr>
            <p:cNvPr id="9" name="TextBox 9"/>
            <p:cNvSpPr txBox="1"/>
            <p:nvPr/>
          </p:nvSpPr>
          <p:spPr>
            <a:xfrm>
              <a:off x="4940046" y="2139950"/>
              <a:ext cx="1113603"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2 000</a:t>
              </a:r>
            </a:p>
          </p:txBody>
        </p:sp>
        <p:sp>
          <p:nvSpPr>
            <p:cNvPr id="10" name="TextBox 10"/>
            <p:cNvSpPr txBox="1"/>
            <p:nvPr/>
          </p:nvSpPr>
          <p:spPr>
            <a:xfrm>
              <a:off x="4944618" y="2578100"/>
              <a:ext cx="2406681"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событий в секунду</a:t>
              </a:r>
            </a:p>
          </p:txBody>
        </p:sp>
        <p:sp>
          <p:nvSpPr>
            <p:cNvPr id="11" name="TextBox 11"/>
            <p:cNvSpPr txBox="1"/>
            <p:nvPr/>
          </p:nvSpPr>
          <p:spPr>
            <a:xfrm>
              <a:off x="4946142" y="2863850"/>
              <a:ext cx="3937126"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200 датчиков × 10 замеров в секунду</a:t>
              </a:r>
            </a:p>
          </p:txBody>
        </p:sp>
      </p:grpSp>
      <p:grpSp>
        <p:nvGrpSpPr>
          <p:cNvPr id="14" name="illustration-label"/>
          <p:cNvGrpSpPr/>
          <p:nvPr/>
        </p:nvGrpSpPr>
        <p:grpSpPr>
          <a:xfrm>
            <a:off x="8358846" y="1854200"/>
            <a:ext cx="3230412" cy="264033"/>
            <a:chOff x="8358846" y="1854200"/>
            <a:chExt cx="3230412" cy="264033"/>
          </a:xfrm>
        </p:grpSpPr>
        <p:sp>
          <p:nvSpPr>
            <p:cNvPr id="13" name="TextBox 13"/>
            <p:cNvSpPr txBox="1"/>
            <p:nvPr/>
          </p:nvSpPr>
          <p:spPr>
            <a:xfrm>
              <a:off x="7648156" y="1854200"/>
              <a:ext cx="3941102" cy="264033"/>
            </a:xfrm>
            <a:prstGeom prst="rect">
              <a:avLst/>
            </a:prstGeom>
            <a:noFill/>
            <a:ln>
              <a:noFill/>
            </a:ln>
          </p:spPr>
          <p:txBody>
            <a:bodyPr wrap="square" lIns="0" tIns="0" rIns="0" bIns="0" anchor="t" anchorCtr="0">
              <a:spAutoFit/>
            </a:bodyPr>
            <a:lstStyle/>
            <a:p>
              <a:pPr algn="r"/>
              <a:r>
                <a:rPr lang="ru" sz="1350" dirty="0">
                  <a:solidFill>
                    <a:srgbClr val="B35A12"/>
                  </a:solidFill>
                  <a:latin typeface="+mn-lt"/>
                  <a:ea typeface="+mn-ea"/>
                  <a:cs typeface="+mn-cs"/>
                </a:rPr>
                <a:t>Пример-иллюстрация: числа условные</a:t>
              </a:r>
            </a:p>
          </p:txBody>
        </p:sp>
      </p:grpSp>
      <p:grpSp>
        <p:nvGrpSpPr>
          <p:cNvPr id="31" name="pipeline-spine"/>
          <p:cNvGrpSpPr/>
          <p:nvPr/>
        </p:nvGrpSpPr>
        <p:grpSpPr>
          <a:xfrm>
            <a:off x="1390650" y="3600450"/>
            <a:ext cx="9382125" cy="571500"/>
            <a:chOff x="1390650" y="3600450"/>
            <a:chExt cx="9382125" cy="571500"/>
          </a:xfrm>
        </p:grpSpPr>
        <p:sp>
          <p:nvSpPr>
            <p:cNvPr id="15" name="Line 15"/>
            <p:cNvSpPr/>
            <p:nvPr/>
          </p:nvSpPr>
          <p:spPr>
            <a:xfrm>
              <a:off x="1676400" y="3886200"/>
              <a:ext cx="8810625" cy="9525"/>
            </a:xfrm>
            <a:custGeom>
              <a:avLst/>
              <a:gdLst/>
              <a:ahLst/>
              <a:cxnLst/>
              <a:rect l="l" t="t" r="r" b="b"/>
              <a:pathLst>
                <a:path w="8810625" h="9525">
                  <a:moveTo>
                    <a:pt x="0" y="0"/>
                  </a:moveTo>
                  <a:lnTo>
                    <a:pt x="8810625" y="0"/>
                  </a:lnTo>
                </a:path>
              </a:pathLst>
            </a:custGeom>
            <a:noFill/>
            <a:ln w="19050">
              <a:solidFill>
                <a:srgbClr val="8A96A1"/>
              </a:solidFill>
            </a:ln>
          </p:spPr>
        </p:sp>
        <p:grpSp>
          <p:nvGrpSpPr>
            <p:cNvPr id="21" name="step-markers"/>
            <p:cNvGrpSpPr/>
            <p:nvPr/>
          </p:nvGrpSpPr>
          <p:grpSpPr>
            <a:xfrm>
              <a:off x="1390650" y="3600450"/>
              <a:ext cx="9382125" cy="571500"/>
              <a:chOff x="1390650" y="3600450"/>
              <a:chExt cx="9382125" cy="571500"/>
            </a:xfrm>
          </p:grpSpPr>
          <p:sp>
            <p:nvSpPr>
              <p:cNvPr id="16" name="Ellipse 16"/>
              <p:cNvSpPr/>
              <p:nvPr/>
            </p:nvSpPr>
            <p:spPr>
              <a:xfrm>
                <a:off x="1390650" y="3600450"/>
                <a:ext cx="571500" cy="571500"/>
              </a:xfrm>
              <a:prstGeom prst="ellipse">
                <a:avLst/>
              </a:prstGeom>
              <a:solidFill>
                <a:srgbClr val="0E6680"/>
              </a:solidFill>
              <a:ln>
                <a:noFill/>
              </a:ln>
            </p:spPr>
          </p:sp>
          <p:sp>
            <p:nvSpPr>
              <p:cNvPr id="17" name="Ellipse 17"/>
              <p:cNvSpPr/>
              <p:nvPr/>
            </p:nvSpPr>
            <p:spPr>
              <a:xfrm>
                <a:off x="3581400" y="3600450"/>
                <a:ext cx="571500" cy="571500"/>
              </a:xfrm>
              <a:prstGeom prst="ellipse">
                <a:avLst/>
              </a:prstGeom>
              <a:solidFill>
                <a:srgbClr val="0E6680"/>
              </a:solidFill>
              <a:ln>
                <a:noFill/>
              </a:ln>
            </p:spPr>
          </p:sp>
          <p:sp>
            <p:nvSpPr>
              <p:cNvPr id="18" name="Ellipse 18"/>
              <p:cNvSpPr/>
              <p:nvPr/>
            </p:nvSpPr>
            <p:spPr>
              <a:xfrm>
                <a:off x="5781675" y="3600450"/>
                <a:ext cx="571500" cy="571500"/>
              </a:xfrm>
              <a:prstGeom prst="ellipse">
                <a:avLst/>
              </a:prstGeom>
              <a:solidFill>
                <a:srgbClr val="0E6680"/>
              </a:solidFill>
              <a:ln>
                <a:noFill/>
              </a:ln>
            </p:spPr>
          </p:sp>
          <p:sp>
            <p:nvSpPr>
              <p:cNvPr id="19" name="Ellipse 19"/>
              <p:cNvSpPr/>
              <p:nvPr/>
            </p:nvSpPr>
            <p:spPr>
              <a:xfrm>
                <a:off x="7972425" y="3600450"/>
                <a:ext cx="571500" cy="571500"/>
              </a:xfrm>
              <a:prstGeom prst="ellipse">
                <a:avLst/>
              </a:prstGeom>
              <a:solidFill>
                <a:srgbClr val="0E6680"/>
              </a:solidFill>
              <a:ln>
                <a:noFill/>
              </a:ln>
            </p:spPr>
          </p:sp>
          <p:sp>
            <p:nvSpPr>
              <p:cNvPr id="20" name="Ellipse 20"/>
              <p:cNvSpPr/>
              <p:nvPr/>
            </p:nvSpPr>
            <p:spPr>
              <a:xfrm>
                <a:off x="10201275" y="3600450"/>
                <a:ext cx="571500" cy="571500"/>
              </a:xfrm>
              <a:prstGeom prst="ellipse">
                <a:avLst/>
              </a:prstGeom>
              <a:solidFill>
                <a:srgbClr val="0E6680"/>
              </a:solidFill>
              <a:ln>
                <a:noFill/>
              </a:ln>
            </p:spPr>
          </p:sp>
        </p:grpSp>
        <p:sp>
          <p:nvSpPr>
            <p:cNvPr id="22" name="Freeform 22"/>
            <p:cNvSpPr/>
            <p:nvPr/>
          </p:nvSpPr>
          <p:spPr>
            <a:xfrm>
              <a:off x="1549400" y="3753511"/>
              <a:ext cx="267081" cy="267518"/>
            </a:xfrm>
            <a:custGeom>
              <a:avLst/>
              <a:gdLst/>
              <a:ahLst/>
              <a:cxnLst/>
              <a:rect l="l" t="t" r="r" b="b"/>
              <a:pathLst>
                <a:path w="267081" h="267518">
                  <a:moveTo>
                    <a:pt x="190500" y="22707"/>
                  </a:moveTo>
                  <a:cubicBezTo>
                    <a:pt x="243425" y="53266"/>
                    <a:pt x="267081" y="117187"/>
                    <a:pt x="246798" y="174837"/>
                  </a:cubicBezTo>
                  <a:cubicBezTo>
                    <a:pt x="226516" y="232488"/>
                    <a:pt x="168049" y="267518"/>
                    <a:pt x="107648" y="258207"/>
                  </a:cubicBezTo>
                  <a:cubicBezTo>
                    <a:pt x="47247" y="248896"/>
                    <a:pt x="2043" y="197886"/>
                    <a:pt x="63" y="136803"/>
                  </a:cubicBezTo>
                  <a:lnTo>
                    <a:pt x="0" y="132688"/>
                  </a:lnTo>
                  <a:lnTo>
                    <a:pt x="63" y="128574"/>
                  </a:lnTo>
                  <a:cubicBezTo>
                    <a:pt x="1510" y="83958"/>
                    <a:pt x="26274" y="43379"/>
                    <a:pt x="65289" y="21689"/>
                  </a:cubicBezTo>
                  <a:cubicBezTo>
                    <a:pt x="104304" y="0"/>
                    <a:pt x="151842" y="386"/>
                    <a:pt x="190500" y="22707"/>
                  </a:cubicBezTo>
                  <a:close/>
                  <a:moveTo>
                    <a:pt x="186778" y="72910"/>
                  </a:moveTo>
                  <a:cubicBezTo>
                    <a:pt x="181819" y="67952"/>
                    <a:pt x="173780" y="67952"/>
                    <a:pt x="168821" y="72910"/>
                  </a:cubicBezTo>
                  <a:lnTo>
                    <a:pt x="135928" y="105803"/>
                  </a:lnTo>
                  <a:lnTo>
                    <a:pt x="134874" y="106996"/>
                  </a:lnTo>
                  <a:lnTo>
                    <a:pt x="134010" y="108266"/>
                  </a:lnTo>
                  <a:cubicBezTo>
                    <a:pt x="126661" y="106159"/>
                    <a:pt x="118754" y="107472"/>
                    <a:pt x="112481" y="111841"/>
                  </a:cubicBezTo>
                  <a:cubicBezTo>
                    <a:pt x="106207" y="116211"/>
                    <a:pt x="102234" y="123172"/>
                    <a:pt x="101663" y="130796"/>
                  </a:cubicBezTo>
                  <a:lnTo>
                    <a:pt x="101600" y="132688"/>
                  </a:lnTo>
                  <a:lnTo>
                    <a:pt x="101663" y="134593"/>
                  </a:lnTo>
                  <a:cubicBezTo>
                    <a:pt x="102391" y="144260"/>
                    <a:pt x="108558" y="152670"/>
                    <a:pt x="117559" y="156270"/>
                  </a:cubicBezTo>
                  <a:cubicBezTo>
                    <a:pt x="126559" y="159870"/>
                    <a:pt x="136825" y="158033"/>
                    <a:pt x="144018" y="151535"/>
                  </a:cubicBezTo>
                  <a:cubicBezTo>
                    <a:pt x="151212" y="145036"/>
                    <a:pt x="154079" y="135010"/>
                    <a:pt x="151409" y="125691"/>
                  </a:cubicBezTo>
                  <a:cubicBezTo>
                    <a:pt x="152314" y="125156"/>
                    <a:pt x="153146" y="124507"/>
                    <a:pt x="153886" y="123760"/>
                  </a:cubicBezTo>
                  <a:lnTo>
                    <a:pt x="186778" y="90867"/>
                  </a:lnTo>
                  <a:lnTo>
                    <a:pt x="187833" y="89674"/>
                  </a:lnTo>
                  <a:cubicBezTo>
                    <a:pt x="191754" y="84618"/>
                    <a:pt x="191303" y="77434"/>
                    <a:pt x="186778" y="72910"/>
                  </a:cubicBezTo>
                  <a:close/>
                  <a:moveTo>
                    <a:pt x="127000" y="56489"/>
                  </a:moveTo>
                  <a:cubicBezTo>
                    <a:pt x="106790" y="56489"/>
                    <a:pt x="87409" y="64517"/>
                    <a:pt x="73118" y="78807"/>
                  </a:cubicBezTo>
                  <a:cubicBezTo>
                    <a:pt x="58828" y="93097"/>
                    <a:pt x="50800" y="112479"/>
                    <a:pt x="50800" y="132688"/>
                  </a:cubicBezTo>
                  <a:cubicBezTo>
                    <a:pt x="50800" y="139702"/>
                    <a:pt x="56486" y="145388"/>
                    <a:pt x="63500" y="145388"/>
                  </a:cubicBezTo>
                  <a:cubicBezTo>
                    <a:pt x="70514" y="145388"/>
                    <a:pt x="76200" y="139702"/>
                    <a:pt x="76200" y="132688"/>
                  </a:cubicBezTo>
                  <a:cubicBezTo>
                    <a:pt x="76200" y="104632"/>
                    <a:pt x="98944" y="81889"/>
                    <a:pt x="127000" y="81889"/>
                  </a:cubicBezTo>
                  <a:cubicBezTo>
                    <a:pt x="134014" y="81889"/>
                    <a:pt x="139700" y="76203"/>
                    <a:pt x="139700" y="69189"/>
                  </a:cubicBezTo>
                  <a:cubicBezTo>
                    <a:pt x="139700" y="62175"/>
                    <a:pt x="134014" y="56489"/>
                    <a:pt x="127000" y="56489"/>
                  </a:cubicBezTo>
                  <a:close/>
                </a:path>
              </a:pathLst>
            </a:custGeom>
            <a:solidFill>
              <a:srgbClr val="FFFFFF"/>
            </a:solidFill>
            <a:ln>
              <a:noFill/>
            </a:ln>
          </p:spPr>
        </p:sp>
        <p:sp>
          <p:nvSpPr>
            <p:cNvPr id="23" name="Freeform 23"/>
            <p:cNvSpPr/>
            <p:nvPr/>
          </p:nvSpPr>
          <p:spPr>
            <a:xfrm>
              <a:off x="3752850" y="3771900"/>
              <a:ext cx="228604" cy="241942"/>
            </a:xfrm>
            <a:custGeom>
              <a:avLst/>
              <a:gdLst/>
              <a:ahLst/>
              <a:cxnLst/>
              <a:rect l="l" t="t" r="r" b="b"/>
              <a:pathLst>
                <a:path w="228604" h="241942">
                  <a:moveTo>
                    <a:pt x="215899" y="0"/>
                  </a:moveTo>
                  <a:lnTo>
                    <a:pt x="12700" y="0"/>
                  </a:lnTo>
                  <a:cubicBezTo>
                    <a:pt x="5686" y="0"/>
                    <a:pt x="0" y="5686"/>
                    <a:pt x="0" y="12700"/>
                  </a:cubicBezTo>
                  <a:lnTo>
                    <a:pt x="0" y="40983"/>
                  </a:lnTo>
                  <a:lnTo>
                    <a:pt x="102" y="43815"/>
                  </a:lnTo>
                  <a:cubicBezTo>
                    <a:pt x="734" y="52295"/>
                    <a:pt x="4185" y="60320"/>
                    <a:pt x="9906" y="66611"/>
                  </a:cubicBezTo>
                  <a:lnTo>
                    <a:pt x="63500" y="125552"/>
                  </a:lnTo>
                  <a:lnTo>
                    <a:pt x="63500" y="228599"/>
                  </a:lnTo>
                  <a:cubicBezTo>
                    <a:pt x="63499" y="232682"/>
                    <a:pt x="65460" y="236516"/>
                    <a:pt x="68772" y="238903"/>
                  </a:cubicBezTo>
                  <a:cubicBezTo>
                    <a:pt x="72083" y="241291"/>
                    <a:pt x="76340" y="241942"/>
                    <a:pt x="80213" y="240652"/>
                  </a:cubicBezTo>
                  <a:lnTo>
                    <a:pt x="156413" y="215252"/>
                  </a:lnTo>
                  <a:lnTo>
                    <a:pt x="157784" y="214706"/>
                  </a:lnTo>
                  <a:cubicBezTo>
                    <a:pt x="162249" y="212615"/>
                    <a:pt x="165101" y="208130"/>
                    <a:pt x="165100" y="203199"/>
                  </a:cubicBezTo>
                  <a:lnTo>
                    <a:pt x="165100" y="119558"/>
                  </a:lnTo>
                  <a:lnTo>
                    <a:pt x="217436" y="67234"/>
                  </a:lnTo>
                  <a:cubicBezTo>
                    <a:pt x="224588" y="60084"/>
                    <a:pt x="228604" y="50384"/>
                    <a:pt x="228599" y="40272"/>
                  </a:cubicBezTo>
                  <a:lnTo>
                    <a:pt x="228599" y="12700"/>
                  </a:lnTo>
                  <a:cubicBezTo>
                    <a:pt x="228599" y="5686"/>
                    <a:pt x="222913" y="0"/>
                    <a:pt x="215899" y="0"/>
                  </a:cubicBezTo>
                  <a:close/>
                </a:path>
              </a:pathLst>
            </a:custGeom>
            <a:solidFill>
              <a:srgbClr val="FFFFFF"/>
            </a:solidFill>
            <a:ln>
              <a:noFill/>
            </a:ln>
          </p:spPr>
        </p:sp>
        <p:sp>
          <p:nvSpPr>
            <p:cNvPr id="24" name="Freeform 24"/>
            <p:cNvSpPr/>
            <p:nvPr/>
          </p:nvSpPr>
          <p:spPr>
            <a:xfrm>
              <a:off x="5951748" y="3771900"/>
              <a:ext cx="231774" cy="229039"/>
            </a:xfrm>
            <a:custGeom>
              <a:avLst/>
              <a:gdLst/>
              <a:ahLst/>
              <a:cxnLst/>
              <a:rect l="l" t="t" r="r" b="b"/>
              <a:pathLst>
                <a:path w="231774" h="229039">
                  <a:moveTo>
                    <a:pt x="228630" y="159423"/>
                  </a:moveTo>
                  <a:cubicBezTo>
                    <a:pt x="231761" y="165693"/>
                    <a:pt x="229221" y="173316"/>
                    <a:pt x="222953" y="176453"/>
                  </a:cubicBezTo>
                  <a:lnTo>
                    <a:pt x="121353" y="227253"/>
                  </a:lnTo>
                  <a:cubicBezTo>
                    <a:pt x="117779" y="229039"/>
                    <a:pt x="113573" y="229039"/>
                    <a:pt x="109999" y="227253"/>
                  </a:cubicBezTo>
                  <a:lnTo>
                    <a:pt x="8400" y="176453"/>
                  </a:lnTo>
                  <a:cubicBezTo>
                    <a:pt x="2361" y="173197"/>
                    <a:pt x="0" y="165732"/>
                    <a:pt x="3068" y="159596"/>
                  </a:cubicBezTo>
                  <a:cubicBezTo>
                    <a:pt x="6137" y="153459"/>
                    <a:pt x="13525" y="150869"/>
                    <a:pt x="19753" y="153746"/>
                  </a:cubicBezTo>
                  <a:lnTo>
                    <a:pt x="115676" y="201675"/>
                  </a:lnTo>
                  <a:lnTo>
                    <a:pt x="211612" y="153733"/>
                  </a:lnTo>
                  <a:cubicBezTo>
                    <a:pt x="217883" y="150601"/>
                    <a:pt x="225505" y="153142"/>
                    <a:pt x="228643" y="159410"/>
                  </a:cubicBezTo>
                  <a:moveTo>
                    <a:pt x="228643" y="108610"/>
                  </a:moveTo>
                  <a:cubicBezTo>
                    <a:pt x="231774" y="114881"/>
                    <a:pt x="229233" y="122503"/>
                    <a:pt x="222966" y="125641"/>
                  </a:cubicBezTo>
                  <a:lnTo>
                    <a:pt x="121366" y="176441"/>
                  </a:lnTo>
                  <a:cubicBezTo>
                    <a:pt x="117792" y="178227"/>
                    <a:pt x="113586" y="178227"/>
                    <a:pt x="110012" y="176441"/>
                  </a:cubicBezTo>
                  <a:lnTo>
                    <a:pt x="8412" y="125641"/>
                  </a:lnTo>
                  <a:cubicBezTo>
                    <a:pt x="2373" y="122384"/>
                    <a:pt x="13" y="114920"/>
                    <a:pt x="3081" y="108783"/>
                  </a:cubicBezTo>
                  <a:cubicBezTo>
                    <a:pt x="6150" y="102646"/>
                    <a:pt x="13537" y="100056"/>
                    <a:pt x="19766" y="102933"/>
                  </a:cubicBezTo>
                  <a:lnTo>
                    <a:pt x="115676" y="150876"/>
                  </a:lnTo>
                  <a:lnTo>
                    <a:pt x="211612" y="102933"/>
                  </a:lnTo>
                  <a:cubicBezTo>
                    <a:pt x="217883" y="99802"/>
                    <a:pt x="225505" y="102342"/>
                    <a:pt x="228643" y="108610"/>
                  </a:cubicBezTo>
                  <a:moveTo>
                    <a:pt x="115778" y="0"/>
                  </a:moveTo>
                  <a:cubicBezTo>
                    <a:pt x="116252" y="0"/>
                    <a:pt x="116722" y="30"/>
                    <a:pt x="117188" y="89"/>
                  </a:cubicBezTo>
                  <a:lnTo>
                    <a:pt x="118597" y="343"/>
                  </a:lnTo>
                  <a:lnTo>
                    <a:pt x="119690" y="648"/>
                  </a:lnTo>
                  <a:lnTo>
                    <a:pt x="119842" y="724"/>
                  </a:lnTo>
                  <a:lnTo>
                    <a:pt x="119994" y="749"/>
                  </a:lnTo>
                  <a:lnTo>
                    <a:pt x="120363" y="927"/>
                  </a:lnTo>
                  <a:lnTo>
                    <a:pt x="120998" y="1168"/>
                  </a:lnTo>
                  <a:lnTo>
                    <a:pt x="121201" y="1283"/>
                  </a:lnTo>
                  <a:lnTo>
                    <a:pt x="121353" y="1346"/>
                  </a:lnTo>
                  <a:lnTo>
                    <a:pt x="222953" y="52146"/>
                  </a:lnTo>
                  <a:cubicBezTo>
                    <a:pt x="227250" y="54299"/>
                    <a:pt x="229962" y="58694"/>
                    <a:pt x="229962" y="63500"/>
                  </a:cubicBezTo>
                  <a:cubicBezTo>
                    <a:pt x="229962" y="68306"/>
                    <a:pt x="227250" y="72700"/>
                    <a:pt x="222953" y="74854"/>
                  </a:cubicBezTo>
                  <a:lnTo>
                    <a:pt x="121353" y="125653"/>
                  </a:lnTo>
                  <a:cubicBezTo>
                    <a:pt x="117779" y="127439"/>
                    <a:pt x="113573" y="127439"/>
                    <a:pt x="109999" y="125653"/>
                  </a:cubicBezTo>
                  <a:lnTo>
                    <a:pt x="8400" y="74854"/>
                  </a:lnTo>
                  <a:cubicBezTo>
                    <a:pt x="4103" y="72700"/>
                    <a:pt x="1390" y="68306"/>
                    <a:pt x="1390" y="63500"/>
                  </a:cubicBezTo>
                  <a:cubicBezTo>
                    <a:pt x="1390" y="58694"/>
                    <a:pt x="4103" y="54299"/>
                    <a:pt x="8400" y="52146"/>
                  </a:cubicBezTo>
                  <a:lnTo>
                    <a:pt x="109999" y="1346"/>
                  </a:lnTo>
                  <a:lnTo>
                    <a:pt x="110139" y="1283"/>
                  </a:lnTo>
                  <a:lnTo>
                    <a:pt x="110368" y="1156"/>
                  </a:lnTo>
                  <a:lnTo>
                    <a:pt x="111358" y="749"/>
                  </a:lnTo>
                  <a:lnTo>
                    <a:pt x="111498" y="724"/>
                  </a:lnTo>
                  <a:lnTo>
                    <a:pt x="111663" y="648"/>
                  </a:lnTo>
                  <a:lnTo>
                    <a:pt x="112755" y="343"/>
                  </a:lnTo>
                  <a:lnTo>
                    <a:pt x="114152" y="89"/>
                  </a:lnTo>
                  <a:lnTo>
                    <a:pt x="114864" y="25"/>
                  </a:lnTo>
                  <a:close/>
                </a:path>
              </a:pathLst>
            </a:custGeom>
            <a:solidFill>
              <a:srgbClr val="FFFFFF"/>
            </a:solidFill>
            <a:ln>
              <a:noFill/>
            </a:ln>
          </p:spPr>
        </p:sp>
        <p:sp>
          <p:nvSpPr>
            <p:cNvPr id="25" name="Freeform 25"/>
            <p:cNvSpPr/>
            <p:nvPr/>
          </p:nvSpPr>
          <p:spPr>
            <a:xfrm>
              <a:off x="8118475" y="3754603"/>
              <a:ext cx="279399" cy="258597"/>
            </a:xfrm>
            <a:custGeom>
              <a:avLst/>
              <a:gdLst/>
              <a:ahLst/>
              <a:cxnLst/>
              <a:rect l="l" t="t" r="r" b="b"/>
              <a:pathLst>
                <a:path w="279399" h="258597">
                  <a:moveTo>
                    <a:pt x="101600" y="233197"/>
                  </a:moveTo>
                  <a:cubicBezTo>
                    <a:pt x="101600" y="247225"/>
                    <a:pt x="90228" y="258597"/>
                    <a:pt x="76200" y="258597"/>
                  </a:cubicBezTo>
                  <a:lnTo>
                    <a:pt x="25400" y="258597"/>
                  </a:lnTo>
                  <a:cubicBezTo>
                    <a:pt x="18386" y="258597"/>
                    <a:pt x="12700" y="252911"/>
                    <a:pt x="12700" y="245897"/>
                  </a:cubicBezTo>
                  <a:cubicBezTo>
                    <a:pt x="12700" y="238883"/>
                    <a:pt x="18386" y="233197"/>
                    <a:pt x="25400" y="233197"/>
                  </a:cubicBezTo>
                  <a:lnTo>
                    <a:pt x="76200" y="233197"/>
                  </a:lnTo>
                  <a:lnTo>
                    <a:pt x="76200" y="195135"/>
                  </a:lnTo>
                  <a:lnTo>
                    <a:pt x="71844" y="195148"/>
                  </a:lnTo>
                  <a:cubicBezTo>
                    <a:pt x="71347" y="195147"/>
                    <a:pt x="70851" y="195117"/>
                    <a:pt x="70358" y="195059"/>
                  </a:cubicBezTo>
                  <a:lnTo>
                    <a:pt x="69024" y="195046"/>
                  </a:lnTo>
                  <a:cubicBezTo>
                    <a:pt x="31686" y="193649"/>
                    <a:pt x="1499" y="164579"/>
                    <a:pt x="63" y="128206"/>
                  </a:cubicBezTo>
                  <a:lnTo>
                    <a:pt x="0" y="125463"/>
                  </a:lnTo>
                  <a:cubicBezTo>
                    <a:pt x="0" y="90576"/>
                    <a:pt x="26416" y="61836"/>
                    <a:pt x="60757" y="56667"/>
                  </a:cubicBezTo>
                  <a:lnTo>
                    <a:pt x="62204" y="56464"/>
                  </a:lnTo>
                  <a:lnTo>
                    <a:pt x="63093" y="54165"/>
                  </a:lnTo>
                  <a:cubicBezTo>
                    <a:pt x="71514" y="33591"/>
                    <a:pt x="89205" y="17259"/>
                    <a:pt x="111722" y="9487"/>
                  </a:cubicBezTo>
                  <a:lnTo>
                    <a:pt x="114820" y="8471"/>
                  </a:lnTo>
                  <a:cubicBezTo>
                    <a:pt x="142684" y="0"/>
                    <a:pt x="173418" y="5626"/>
                    <a:pt x="195592" y="23406"/>
                  </a:cubicBezTo>
                  <a:cubicBezTo>
                    <a:pt x="213182" y="37478"/>
                    <a:pt x="223367" y="57518"/>
                    <a:pt x="224167" y="78524"/>
                  </a:cubicBezTo>
                  <a:lnTo>
                    <a:pt x="224218" y="81216"/>
                  </a:lnTo>
                  <a:lnTo>
                    <a:pt x="225374" y="81254"/>
                  </a:lnTo>
                  <a:cubicBezTo>
                    <a:pt x="254584" y="82613"/>
                    <a:pt x="277990" y="106159"/>
                    <a:pt x="279349" y="135483"/>
                  </a:cubicBezTo>
                  <a:lnTo>
                    <a:pt x="279399" y="138163"/>
                  </a:lnTo>
                  <a:cubicBezTo>
                    <a:pt x="279399" y="169633"/>
                    <a:pt x="254037" y="195148"/>
                    <a:pt x="222694" y="195148"/>
                  </a:cubicBezTo>
                  <a:lnTo>
                    <a:pt x="203199" y="195148"/>
                  </a:lnTo>
                  <a:lnTo>
                    <a:pt x="203199" y="233197"/>
                  </a:lnTo>
                  <a:lnTo>
                    <a:pt x="253999" y="233197"/>
                  </a:lnTo>
                  <a:cubicBezTo>
                    <a:pt x="261013" y="233197"/>
                    <a:pt x="266699" y="238883"/>
                    <a:pt x="266699" y="245897"/>
                  </a:cubicBezTo>
                  <a:cubicBezTo>
                    <a:pt x="266699" y="252911"/>
                    <a:pt x="261013" y="258597"/>
                    <a:pt x="253999" y="258597"/>
                  </a:cubicBezTo>
                  <a:lnTo>
                    <a:pt x="203199" y="258597"/>
                  </a:lnTo>
                  <a:cubicBezTo>
                    <a:pt x="189171" y="258597"/>
                    <a:pt x="177800" y="247225"/>
                    <a:pt x="177800" y="233197"/>
                  </a:cubicBezTo>
                  <a:lnTo>
                    <a:pt x="177800" y="195135"/>
                  </a:lnTo>
                  <a:lnTo>
                    <a:pt x="152400" y="195135"/>
                  </a:lnTo>
                  <a:lnTo>
                    <a:pt x="152400" y="245897"/>
                  </a:lnTo>
                  <a:cubicBezTo>
                    <a:pt x="152400" y="252911"/>
                    <a:pt x="146714" y="258597"/>
                    <a:pt x="139700" y="258597"/>
                  </a:cubicBezTo>
                  <a:cubicBezTo>
                    <a:pt x="132686" y="258597"/>
                    <a:pt x="127000" y="252911"/>
                    <a:pt x="127000" y="245897"/>
                  </a:cubicBezTo>
                  <a:lnTo>
                    <a:pt x="127000" y="195135"/>
                  </a:lnTo>
                  <a:lnTo>
                    <a:pt x="101600" y="195135"/>
                  </a:lnTo>
                  <a:close/>
                </a:path>
              </a:pathLst>
            </a:custGeom>
            <a:solidFill>
              <a:srgbClr val="FFFFFF"/>
            </a:solidFill>
            <a:ln>
              <a:noFill/>
            </a:ln>
          </p:spPr>
        </p:sp>
        <p:grpSp>
          <p:nvGrpSpPr>
            <p:cNvPr id="30" name="Group 30"/>
            <p:cNvGrpSpPr/>
            <p:nvPr/>
          </p:nvGrpSpPr>
          <p:grpSpPr>
            <a:xfrm>
              <a:off x="10359189" y="3757710"/>
              <a:ext cx="255576" cy="255501"/>
              <a:chOff x="10359189" y="3757710"/>
              <a:chExt cx="255576" cy="255501"/>
            </a:xfrm>
          </p:grpSpPr>
          <p:sp>
            <p:nvSpPr>
              <p:cNvPr id="26" name="Freeform 26"/>
              <p:cNvSpPr/>
              <p:nvPr/>
            </p:nvSpPr>
            <p:spPr>
              <a:xfrm>
                <a:off x="10551661" y="3757718"/>
                <a:ext cx="63104" cy="74587"/>
              </a:xfrm>
              <a:custGeom>
                <a:avLst/>
                <a:gdLst/>
                <a:ahLst/>
                <a:cxnLst/>
                <a:rect l="l" t="t" r="r" b="b"/>
                <a:pathLst>
                  <a:path w="63104" h="74587">
                    <a:moveTo>
                      <a:pt x="4591" y="5851"/>
                    </a:moveTo>
                    <a:cubicBezTo>
                      <a:pt x="9190" y="563"/>
                      <a:pt x="17204" y="0"/>
                      <a:pt x="22498" y="4594"/>
                    </a:cubicBezTo>
                    <a:cubicBezTo>
                      <a:pt x="38922" y="18852"/>
                      <a:pt x="52118" y="36447"/>
                      <a:pt x="61207" y="56207"/>
                    </a:cubicBezTo>
                    <a:cubicBezTo>
                      <a:pt x="63104" y="60331"/>
                      <a:pt x="62656" y="65154"/>
                      <a:pt x="60032" y="68858"/>
                    </a:cubicBezTo>
                    <a:cubicBezTo>
                      <a:pt x="57409" y="72563"/>
                      <a:pt x="53008" y="74587"/>
                      <a:pt x="48488" y="74167"/>
                    </a:cubicBezTo>
                    <a:cubicBezTo>
                      <a:pt x="43968" y="73747"/>
                      <a:pt x="40015" y="70948"/>
                      <a:pt x="38119" y="66824"/>
                    </a:cubicBezTo>
                    <a:cubicBezTo>
                      <a:pt x="30547" y="50344"/>
                      <a:pt x="19550" y="35667"/>
                      <a:pt x="5861" y="23771"/>
                    </a:cubicBezTo>
                    <a:cubicBezTo>
                      <a:pt x="568" y="19175"/>
                      <a:pt x="0" y="11161"/>
                      <a:pt x="4591" y="5864"/>
                    </a:cubicBezTo>
                    <a:close/>
                  </a:path>
                </a:pathLst>
              </a:custGeom>
              <a:solidFill>
                <a:srgbClr val="FFFFFF"/>
              </a:solidFill>
              <a:ln>
                <a:noFill/>
              </a:ln>
            </p:spPr>
          </p:sp>
          <p:sp>
            <p:nvSpPr>
              <p:cNvPr id="27" name="Freeform 27"/>
              <p:cNvSpPr/>
              <p:nvPr/>
            </p:nvSpPr>
            <p:spPr>
              <a:xfrm>
                <a:off x="10359189" y="3757710"/>
                <a:ext cx="63184" cy="74827"/>
              </a:xfrm>
              <a:custGeom>
                <a:avLst/>
                <a:gdLst/>
                <a:ahLst/>
                <a:cxnLst/>
                <a:rect l="l" t="t" r="r" b="b"/>
                <a:pathLst>
                  <a:path w="63184" h="74827">
                    <a:moveTo>
                      <a:pt x="40663" y="4601"/>
                    </a:moveTo>
                    <a:cubicBezTo>
                      <a:pt x="45959" y="0"/>
                      <a:pt x="53982" y="563"/>
                      <a:pt x="58583" y="5858"/>
                    </a:cubicBezTo>
                    <a:cubicBezTo>
                      <a:pt x="63184" y="11154"/>
                      <a:pt x="62621" y="19177"/>
                      <a:pt x="57326" y="23778"/>
                    </a:cubicBezTo>
                    <a:cubicBezTo>
                      <a:pt x="43636" y="35674"/>
                      <a:pt x="32639" y="50351"/>
                      <a:pt x="25068" y="66831"/>
                    </a:cubicBezTo>
                    <a:cubicBezTo>
                      <a:pt x="23225" y="71037"/>
                      <a:pt x="19257" y="73921"/>
                      <a:pt x="14687" y="74374"/>
                    </a:cubicBezTo>
                    <a:cubicBezTo>
                      <a:pt x="10118" y="74827"/>
                      <a:pt x="5660" y="72778"/>
                      <a:pt x="3028" y="69016"/>
                    </a:cubicBezTo>
                    <a:cubicBezTo>
                      <a:pt x="396" y="65254"/>
                      <a:pt x="0" y="60364"/>
                      <a:pt x="1992" y="56227"/>
                    </a:cubicBezTo>
                    <a:cubicBezTo>
                      <a:pt x="11068" y="36466"/>
                      <a:pt x="24251" y="18867"/>
                      <a:pt x="40663" y="4601"/>
                    </a:cubicBezTo>
                    <a:close/>
                  </a:path>
                </a:pathLst>
              </a:custGeom>
              <a:solidFill>
                <a:srgbClr val="FFFFFF"/>
              </a:solidFill>
              <a:ln>
                <a:noFill/>
              </a:ln>
            </p:spPr>
          </p:sp>
          <p:sp>
            <p:nvSpPr>
              <p:cNvPr id="28" name="Freeform 28"/>
              <p:cNvSpPr/>
              <p:nvPr/>
            </p:nvSpPr>
            <p:spPr>
              <a:xfrm>
                <a:off x="10442168" y="3975099"/>
                <a:ext cx="90030" cy="38112"/>
              </a:xfrm>
              <a:custGeom>
                <a:avLst/>
                <a:gdLst/>
                <a:ahLst/>
                <a:cxnLst/>
                <a:rect l="l" t="t" r="r" b="b"/>
                <a:pathLst>
                  <a:path w="90030" h="38112">
                    <a:moveTo>
                      <a:pt x="73241" y="0"/>
                    </a:moveTo>
                    <a:cubicBezTo>
                      <a:pt x="84226" y="0"/>
                      <a:pt x="90030" y="13005"/>
                      <a:pt x="82702" y="21184"/>
                    </a:cubicBezTo>
                    <a:cubicBezTo>
                      <a:pt x="73074" y="31958"/>
                      <a:pt x="59306" y="38112"/>
                      <a:pt x="44856" y="38100"/>
                    </a:cubicBezTo>
                    <a:cubicBezTo>
                      <a:pt x="30407" y="38112"/>
                      <a:pt x="16639" y="31958"/>
                      <a:pt x="7010" y="21184"/>
                    </a:cubicBezTo>
                    <a:cubicBezTo>
                      <a:pt x="0" y="13360"/>
                      <a:pt x="5004" y="1130"/>
                      <a:pt x="15062" y="89"/>
                    </a:cubicBezTo>
                    <a:lnTo>
                      <a:pt x="16459" y="13"/>
                    </a:lnTo>
                    <a:lnTo>
                      <a:pt x="73241" y="13"/>
                    </a:lnTo>
                    <a:close/>
                  </a:path>
                </a:pathLst>
              </a:custGeom>
              <a:solidFill>
                <a:srgbClr val="FFFFFF"/>
              </a:solidFill>
              <a:ln>
                <a:noFill/>
              </a:ln>
            </p:spPr>
          </p:sp>
          <p:sp>
            <p:nvSpPr>
              <p:cNvPr id="29" name="Freeform 29"/>
              <p:cNvSpPr/>
              <p:nvPr/>
            </p:nvSpPr>
            <p:spPr>
              <a:xfrm>
                <a:off x="10367810" y="3759200"/>
                <a:ext cx="237997" cy="203199"/>
              </a:xfrm>
              <a:custGeom>
                <a:avLst/>
                <a:gdLst/>
                <a:ahLst/>
                <a:cxnLst/>
                <a:rect l="l" t="t" r="r" b="b"/>
                <a:pathLst>
                  <a:path w="237997" h="203199">
                    <a:moveTo>
                      <a:pt x="119215" y="0"/>
                    </a:moveTo>
                    <a:cubicBezTo>
                      <a:pt x="136461" y="0"/>
                      <a:pt x="151041" y="11468"/>
                      <a:pt x="155727" y="27191"/>
                    </a:cubicBezTo>
                    <a:lnTo>
                      <a:pt x="156311" y="29362"/>
                    </a:lnTo>
                    <a:lnTo>
                      <a:pt x="156413" y="29908"/>
                    </a:lnTo>
                    <a:cubicBezTo>
                      <a:pt x="184812" y="45930"/>
                      <a:pt x="203814" y="74589"/>
                      <a:pt x="207517" y="106985"/>
                    </a:cubicBezTo>
                    <a:lnTo>
                      <a:pt x="207873" y="110629"/>
                    </a:lnTo>
                    <a:lnTo>
                      <a:pt x="208114" y="114300"/>
                    </a:lnTo>
                    <a:lnTo>
                      <a:pt x="208114" y="151523"/>
                    </a:lnTo>
                    <a:lnTo>
                      <a:pt x="208381" y="153251"/>
                    </a:lnTo>
                    <a:cubicBezTo>
                      <a:pt x="210120" y="162608"/>
                      <a:pt x="215298" y="170976"/>
                      <a:pt x="222897" y="176707"/>
                    </a:cubicBezTo>
                    <a:lnTo>
                      <a:pt x="225018" y="178193"/>
                    </a:lnTo>
                    <a:lnTo>
                      <a:pt x="227075" y="179451"/>
                    </a:lnTo>
                    <a:cubicBezTo>
                      <a:pt x="237997" y="185635"/>
                      <a:pt x="234187" y="201879"/>
                      <a:pt x="222288" y="203123"/>
                    </a:cubicBezTo>
                    <a:lnTo>
                      <a:pt x="220814" y="203199"/>
                    </a:lnTo>
                    <a:lnTo>
                      <a:pt x="17615" y="203199"/>
                    </a:lnTo>
                    <a:cubicBezTo>
                      <a:pt x="4559" y="203199"/>
                      <a:pt x="0" y="185877"/>
                      <a:pt x="11354" y="179451"/>
                    </a:cubicBezTo>
                    <a:cubicBezTo>
                      <a:pt x="21149" y="173907"/>
                      <a:pt x="27992" y="164316"/>
                      <a:pt x="30048" y="153251"/>
                    </a:cubicBezTo>
                    <a:lnTo>
                      <a:pt x="30315" y="151434"/>
                    </a:lnTo>
                    <a:lnTo>
                      <a:pt x="30328" y="113716"/>
                    </a:lnTo>
                    <a:cubicBezTo>
                      <a:pt x="31900" y="80034"/>
                      <a:pt x="50080" y="49327"/>
                      <a:pt x="78854" y="31750"/>
                    </a:cubicBezTo>
                    <a:lnTo>
                      <a:pt x="82004" y="29896"/>
                    </a:lnTo>
                    <a:lnTo>
                      <a:pt x="82131" y="29350"/>
                    </a:lnTo>
                    <a:cubicBezTo>
                      <a:pt x="85810" y="13795"/>
                      <a:pt x="98799" y="2185"/>
                      <a:pt x="114668" y="267"/>
                    </a:cubicBezTo>
                    <a:lnTo>
                      <a:pt x="116979" y="51"/>
                    </a:lnTo>
                    <a:lnTo>
                      <a:pt x="119215" y="0"/>
                    </a:lnTo>
                    <a:close/>
                  </a:path>
                </a:pathLst>
              </a:custGeom>
              <a:solidFill>
                <a:srgbClr val="FFFFFF"/>
              </a:solidFill>
              <a:ln>
                <a:noFill/>
              </a:ln>
            </p:spPr>
          </p:sp>
        </p:grpSp>
      </p:grpSp>
      <p:grpSp>
        <p:nvGrpSpPr>
          <p:cNvPr id="34" name="step-sensors"/>
          <p:cNvGrpSpPr/>
          <p:nvPr/>
        </p:nvGrpSpPr>
        <p:grpSpPr>
          <a:xfrm>
            <a:off x="887884" y="4311650"/>
            <a:ext cx="1577031" cy="894207"/>
            <a:chOff x="887884" y="4311650"/>
            <a:chExt cx="1577031" cy="894207"/>
          </a:xfrm>
        </p:grpSpPr>
        <p:sp>
          <p:nvSpPr>
            <p:cNvPr id="32" name="TextBox 32"/>
            <p:cNvSpPr txBox="1"/>
            <p:nvPr/>
          </p:nvSpPr>
          <p:spPr>
            <a:xfrm>
              <a:off x="962145" y="4311650"/>
              <a:ext cx="1428510" cy="322707"/>
            </a:xfrm>
            <a:prstGeom prst="rect">
              <a:avLst/>
            </a:prstGeom>
            <a:noFill/>
            <a:ln>
              <a:noFill/>
            </a:ln>
          </p:spPr>
          <p:txBody>
            <a:bodyPr wrap="square" lIns="0" tIns="0" rIns="0" bIns="0" anchor="t" anchorCtr="0">
              <a:spAutoFit/>
            </a:bodyPr>
            <a:lstStyle/>
            <a:p>
              <a:pPr algn="ctr"/>
              <a:r>
                <a:rPr lang="ru" sz="1650" b="1" dirty="0">
                  <a:solidFill>
                    <a:srgbClr val="17212B"/>
                  </a:solidFill>
                  <a:latin typeface="+mn-lt"/>
                  <a:ea typeface="+mn-ea"/>
                  <a:cs typeface="+mn-cs"/>
                </a:rPr>
                <a:t>1. Датчики</a:t>
              </a:r>
            </a:p>
          </p:txBody>
        </p:sp>
        <p:sp>
          <p:nvSpPr>
            <p:cNvPr id="33" name="TextBox 33"/>
            <p:cNvSpPr txBox="1"/>
            <p:nvPr/>
          </p:nvSpPr>
          <p:spPr>
            <a:xfrm>
              <a:off x="714411" y="4616450"/>
              <a:ext cx="1923977" cy="589407"/>
            </a:xfrm>
            <a:prstGeom prst="rect">
              <a:avLst/>
            </a:prstGeom>
            <a:noFill/>
            <a:ln>
              <a:noFill/>
            </a:ln>
          </p:spPr>
          <p:txBody>
            <a:bodyPr wrap="square" lIns="0" tIns="0" rIns="0" bIns="0" anchor="t" anchorCtr="0">
              <a:spAutoFit/>
            </a:bodyPr>
            <a:lstStyle/>
            <a:p>
              <a:pPr algn="ctr">
                <a:lnSpc>
                  <a:spcPts val="2100"/>
                </a:lnSpc>
              </a:pPr>
              <a:r>
                <a:rPr lang="ru" sz="1650" dirty="0">
                  <a:solidFill>
                    <a:srgbClr val="4A5663"/>
                  </a:solidFill>
                  <a:latin typeface="+mn-lt"/>
                  <a:ea typeface="+mn-ea"/>
                  <a:cs typeface="+mn-cs"/>
                </a:rPr>
                <a:t>200 датчиков</a:t>
              </a:r>
              <a:br>
                <a:rPr lang="ru" sz="1650" dirty="0">
                  <a:solidFill>
                    <a:srgbClr val="4A5663"/>
                  </a:solidFill>
                  <a:latin typeface="+mn-lt"/>
                  <a:ea typeface="+mn-ea"/>
                  <a:cs typeface="+mn-cs"/>
                </a:rPr>
              </a:br>
              <a:r>
                <a:rPr lang="ru" sz="1650" dirty="0">
                  <a:solidFill>
                    <a:srgbClr val="4A5663"/>
                  </a:solidFill>
                  <a:latin typeface="+mn-lt"/>
                  <a:ea typeface="+mn-ea"/>
                  <a:cs typeface="+mn-cs"/>
                </a:rPr>
                <a:t>по 10 замеров/с</a:t>
              </a:r>
            </a:p>
          </p:txBody>
        </p:sp>
      </p:grpSp>
      <p:grpSp>
        <p:nvGrpSpPr>
          <p:cNvPr id="37" name="step-gateway"/>
          <p:cNvGrpSpPr/>
          <p:nvPr/>
        </p:nvGrpSpPr>
        <p:grpSpPr>
          <a:xfrm>
            <a:off x="2907642" y="4311650"/>
            <a:ext cx="1919017" cy="894207"/>
            <a:chOff x="2907642" y="4311650"/>
            <a:chExt cx="1919017" cy="894207"/>
          </a:xfrm>
        </p:grpSpPr>
        <p:sp>
          <p:nvSpPr>
            <p:cNvPr id="35" name="TextBox 35"/>
            <p:cNvSpPr txBox="1"/>
            <p:nvPr/>
          </p:nvSpPr>
          <p:spPr>
            <a:xfrm>
              <a:off x="3359060" y="4311650"/>
              <a:ext cx="1016180" cy="322707"/>
            </a:xfrm>
            <a:prstGeom prst="rect">
              <a:avLst/>
            </a:prstGeom>
            <a:noFill/>
            <a:ln>
              <a:noFill/>
            </a:ln>
          </p:spPr>
          <p:txBody>
            <a:bodyPr wrap="square" lIns="0" tIns="0" rIns="0" bIns="0" anchor="t" anchorCtr="0">
              <a:spAutoFit/>
            </a:bodyPr>
            <a:lstStyle/>
            <a:p>
              <a:pPr algn="ctr"/>
              <a:r>
                <a:rPr lang="ru" sz="1650" b="1" dirty="0">
                  <a:solidFill>
                    <a:srgbClr val="17212B"/>
                  </a:solidFill>
                  <a:latin typeface="+mn-lt"/>
                  <a:ea typeface="+mn-ea"/>
                  <a:cs typeface="+mn-cs"/>
                </a:rPr>
                <a:t>2. Шлюз</a:t>
              </a:r>
            </a:p>
          </p:txBody>
        </p:sp>
        <p:sp>
          <p:nvSpPr>
            <p:cNvPr id="36" name="TextBox 36"/>
            <p:cNvSpPr txBox="1"/>
            <p:nvPr/>
          </p:nvSpPr>
          <p:spPr>
            <a:xfrm>
              <a:off x="2696551" y="4616450"/>
              <a:ext cx="2341200" cy="589407"/>
            </a:xfrm>
            <a:prstGeom prst="rect">
              <a:avLst/>
            </a:prstGeom>
            <a:noFill/>
            <a:ln>
              <a:noFill/>
            </a:ln>
          </p:spPr>
          <p:txBody>
            <a:bodyPr wrap="square" lIns="0" tIns="0" rIns="0" bIns="0" anchor="t" anchorCtr="0">
              <a:spAutoFit/>
            </a:bodyPr>
            <a:lstStyle/>
            <a:p>
              <a:pPr algn="ctr">
                <a:lnSpc>
                  <a:spcPts val="2100"/>
                </a:lnSpc>
              </a:pPr>
              <a:r>
                <a:rPr lang="ru" sz="1650" dirty="0">
                  <a:solidFill>
                    <a:srgbClr val="4A5663"/>
                  </a:solidFill>
                  <a:latin typeface="+mn-lt"/>
                  <a:ea typeface="+mn-ea"/>
                  <a:cs typeface="+mn-cs"/>
                </a:rPr>
                <a:t>убирает ошибочные</a:t>
              </a:r>
              <a:br>
                <a:rPr lang="ru" sz="1650" dirty="0">
                  <a:solidFill>
                    <a:srgbClr val="4A5663"/>
                  </a:solidFill>
                  <a:latin typeface="+mn-lt"/>
                  <a:ea typeface="+mn-ea"/>
                  <a:cs typeface="+mn-cs"/>
                </a:rPr>
              </a:br>
              <a:r>
                <a:rPr lang="ru" sz="1650" dirty="0">
                  <a:solidFill>
                    <a:srgbClr val="4A5663"/>
                  </a:solidFill>
                  <a:latin typeface="+mn-lt"/>
                  <a:ea typeface="+mn-ea"/>
                  <a:cs typeface="+mn-cs"/>
                </a:rPr>
                <a:t>значения</a:t>
              </a:r>
            </a:p>
          </p:txBody>
        </p:sp>
      </p:grpSp>
      <p:grpSp>
        <p:nvGrpSpPr>
          <p:cNvPr id="40" name="step-kafka"/>
          <p:cNvGrpSpPr/>
          <p:nvPr/>
        </p:nvGrpSpPr>
        <p:grpSpPr>
          <a:xfrm>
            <a:off x="5078810" y="4311650"/>
            <a:ext cx="1977230" cy="894207"/>
            <a:chOff x="5078810" y="4311650"/>
            <a:chExt cx="1977230" cy="894207"/>
          </a:xfrm>
        </p:grpSpPr>
        <p:sp>
          <p:nvSpPr>
            <p:cNvPr id="38" name="TextBox 38"/>
            <p:cNvSpPr txBox="1"/>
            <p:nvPr/>
          </p:nvSpPr>
          <p:spPr>
            <a:xfrm>
              <a:off x="5513933" y="4311650"/>
              <a:ext cx="1106984" cy="322707"/>
            </a:xfrm>
            <a:prstGeom prst="rect">
              <a:avLst/>
            </a:prstGeom>
            <a:noFill/>
            <a:ln>
              <a:noFill/>
            </a:ln>
          </p:spPr>
          <p:txBody>
            <a:bodyPr wrap="square" lIns="0" tIns="0" rIns="0" bIns="0" anchor="t" anchorCtr="0">
              <a:spAutoFit/>
            </a:bodyPr>
            <a:lstStyle/>
            <a:p>
              <a:pPr algn="ctr"/>
              <a:r>
                <a:rPr lang="en-US" sz="1650" b="1" dirty="0">
                  <a:solidFill>
                    <a:srgbClr val="17212B"/>
                  </a:solidFill>
                  <a:latin typeface="+mn-lt"/>
                  <a:ea typeface="+mn-ea"/>
                  <a:cs typeface="+mn-cs"/>
                </a:rPr>
                <a:t>3. Kafka</a:t>
              </a:r>
            </a:p>
          </p:txBody>
        </p:sp>
        <p:sp>
          <p:nvSpPr>
            <p:cNvPr id="39" name="TextBox 39"/>
            <p:cNvSpPr txBox="1"/>
            <p:nvPr/>
          </p:nvSpPr>
          <p:spPr>
            <a:xfrm>
              <a:off x="4861315" y="4616450"/>
              <a:ext cx="2412220" cy="589407"/>
            </a:xfrm>
            <a:prstGeom prst="rect">
              <a:avLst/>
            </a:prstGeom>
            <a:noFill/>
            <a:ln>
              <a:noFill/>
            </a:ln>
          </p:spPr>
          <p:txBody>
            <a:bodyPr wrap="square" lIns="0" tIns="0" rIns="0" bIns="0" anchor="t" anchorCtr="0">
              <a:spAutoFit/>
            </a:bodyPr>
            <a:lstStyle/>
            <a:p>
              <a:pPr algn="ctr">
                <a:lnSpc>
                  <a:spcPts val="2100"/>
                </a:lnSpc>
              </a:pPr>
              <a:r>
                <a:rPr lang="ru" sz="1650" dirty="0">
                  <a:solidFill>
                    <a:srgbClr val="4A5663"/>
                  </a:solidFill>
                  <a:latin typeface="+mn-lt"/>
                  <a:ea typeface="+mn-ea"/>
                  <a:cs typeface="+mn-cs"/>
                </a:rPr>
                <a:t>принимает и хранит</a:t>
              </a:r>
              <a:br>
                <a:rPr lang="ru" sz="1650" dirty="0">
                  <a:solidFill>
                    <a:srgbClr val="4A5663"/>
                  </a:solidFill>
                  <a:latin typeface="+mn-lt"/>
                  <a:ea typeface="+mn-ea"/>
                  <a:cs typeface="+mn-cs"/>
                </a:rPr>
              </a:br>
              <a:r>
                <a:rPr lang="ru" sz="1650" dirty="0">
                  <a:solidFill>
                    <a:srgbClr val="4A5663"/>
                  </a:solidFill>
                  <a:latin typeface="+mn-lt"/>
                  <a:ea typeface="+mn-ea"/>
                  <a:cs typeface="+mn-cs"/>
                </a:rPr>
                <a:t>события</a:t>
              </a:r>
            </a:p>
          </p:txBody>
        </p:sp>
      </p:grpSp>
      <p:grpSp>
        <p:nvGrpSpPr>
          <p:cNvPr id="43" name="step-engine"/>
          <p:cNvGrpSpPr/>
          <p:nvPr/>
        </p:nvGrpSpPr>
        <p:grpSpPr>
          <a:xfrm>
            <a:off x="7269560" y="4311650"/>
            <a:ext cx="1977230" cy="1160907"/>
            <a:chOff x="7269560" y="4311650"/>
            <a:chExt cx="1977230" cy="1160907"/>
          </a:xfrm>
        </p:grpSpPr>
        <p:sp>
          <p:nvSpPr>
            <p:cNvPr id="41" name="TextBox 41"/>
            <p:cNvSpPr txBox="1"/>
            <p:nvPr/>
          </p:nvSpPr>
          <p:spPr>
            <a:xfrm>
              <a:off x="7387694" y="4311650"/>
              <a:ext cx="1740963" cy="322707"/>
            </a:xfrm>
            <a:prstGeom prst="rect">
              <a:avLst/>
            </a:prstGeom>
            <a:noFill/>
            <a:ln>
              <a:noFill/>
            </a:ln>
          </p:spPr>
          <p:txBody>
            <a:bodyPr wrap="square" lIns="0" tIns="0" rIns="0" bIns="0" anchor="t" anchorCtr="0">
              <a:spAutoFit/>
            </a:bodyPr>
            <a:lstStyle/>
            <a:p>
              <a:pPr algn="ctr"/>
              <a:r>
                <a:rPr lang="ru" sz="1650" b="1" dirty="0">
                  <a:solidFill>
                    <a:srgbClr val="17212B"/>
                  </a:solidFill>
                  <a:latin typeface="+mn-lt"/>
                  <a:ea typeface="+mn-ea"/>
                  <a:cs typeface="+mn-cs"/>
                </a:rPr>
                <a:t>4. Обработка</a:t>
              </a:r>
            </a:p>
          </p:txBody>
        </p:sp>
        <p:sp>
          <p:nvSpPr>
            <p:cNvPr id="42" name="TextBox 42"/>
            <p:cNvSpPr txBox="1"/>
            <p:nvPr/>
          </p:nvSpPr>
          <p:spPr>
            <a:xfrm>
              <a:off x="7052065" y="4616450"/>
              <a:ext cx="2412220" cy="856107"/>
            </a:xfrm>
            <a:prstGeom prst="rect">
              <a:avLst/>
            </a:prstGeom>
            <a:noFill/>
            <a:ln>
              <a:noFill/>
            </a:ln>
          </p:spPr>
          <p:txBody>
            <a:bodyPr wrap="square" lIns="0" tIns="0" rIns="0" bIns="0" anchor="t" anchorCtr="0">
              <a:spAutoFit/>
            </a:bodyPr>
            <a:lstStyle/>
            <a:p>
              <a:pPr algn="ctr">
                <a:lnSpc>
                  <a:spcPts val="2100"/>
                </a:lnSpc>
              </a:pPr>
              <a:r>
                <a:rPr lang="ru" sz="1650" dirty="0">
                  <a:solidFill>
                    <a:srgbClr val="4A5663"/>
                  </a:solidFill>
                  <a:latin typeface="+mn-lt"/>
                  <a:ea typeface="+mn-ea"/>
                  <a:cs typeface="+mn-cs"/>
                </a:rPr>
                <a:t>минутные окна:</a:t>
              </a:r>
              <a:br>
                <a:rPr lang="ru" sz="1650" dirty="0">
                  <a:solidFill>
                    <a:srgbClr val="4A5663"/>
                  </a:solidFill>
                  <a:latin typeface="+mn-lt"/>
                  <a:ea typeface="+mn-ea"/>
                  <a:cs typeface="+mn-cs"/>
                </a:rPr>
              </a:br>
              <a:r>
                <a:rPr lang="ru" sz="1650" dirty="0">
                  <a:solidFill>
                    <a:srgbClr val="4A5663"/>
                  </a:solidFill>
                  <a:latin typeface="+mn-lt"/>
                  <a:ea typeface="+mn-ea"/>
                  <a:cs typeface="+mn-cs"/>
                </a:rPr>
                <a:t>среднее и максимум</a:t>
              </a:r>
              <a:br>
                <a:rPr lang="ru" sz="1650" dirty="0">
                  <a:solidFill>
                    <a:srgbClr val="4A5663"/>
                  </a:solidFill>
                  <a:latin typeface="+mn-lt"/>
                  <a:ea typeface="+mn-ea"/>
                  <a:cs typeface="+mn-cs"/>
                </a:rPr>
              </a:br>
              <a:r>
                <a:rPr lang="ru" sz="1650" dirty="0">
                  <a:solidFill>
                    <a:srgbClr val="4A5663"/>
                  </a:solidFill>
                  <a:latin typeface="+mn-lt"/>
                  <a:ea typeface="+mn-ea"/>
                  <a:cs typeface="+mn-cs"/>
                </a:rPr>
                <a:t>по каждому насосу</a:t>
              </a:r>
            </a:p>
          </p:txBody>
        </p:sp>
      </p:grpSp>
      <p:grpSp>
        <p:nvGrpSpPr>
          <p:cNvPr id="49" name="step-result"/>
          <p:cNvGrpSpPr/>
          <p:nvPr/>
        </p:nvGrpSpPr>
        <p:grpSpPr>
          <a:xfrm>
            <a:off x="9448800" y="4311650"/>
            <a:ext cx="2076450" cy="1708150"/>
            <a:chOff x="9448800" y="4311650"/>
            <a:chExt cx="2076450" cy="1708150"/>
          </a:xfrm>
        </p:grpSpPr>
        <p:sp>
          <p:nvSpPr>
            <p:cNvPr id="44" name="TextBox 44"/>
            <p:cNvSpPr txBox="1"/>
            <p:nvPr/>
          </p:nvSpPr>
          <p:spPr>
            <a:xfrm>
              <a:off x="9616544" y="4311650"/>
              <a:ext cx="1740963" cy="322707"/>
            </a:xfrm>
            <a:prstGeom prst="rect">
              <a:avLst/>
            </a:prstGeom>
            <a:noFill/>
            <a:ln>
              <a:noFill/>
            </a:ln>
          </p:spPr>
          <p:txBody>
            <a:bodyPr wrap="square" lIns="0" tIns="0" rIns="0" bIns="0" anchor="t" anchorCtr="0">
              <a:spAutoFit/>
            </a:bodyPr>
            <a:lstStyle/>
            <a:p>
              <a:pPr algn="ctr"/>
              <a:r>
                <a:rPr lang="ru" sz="1650" b="1" dirty="0">
                  <a:solidFill>
                    <a:srgbClr val="17212B"/>
                  </a:solidFill>
                  <a:latin typeface="+mn-lt"/>
                  <a:ea typeface="+mn-ea"/>
                  <a:cs typeface="+mn-cs"/>
                </a:rPr>
                <a:t>5. Результат</a:t>
              </a:r>
            </a:p>
          </p:txBody>
        </p:sp>
        <p:sp>
          <p:nvSpPr>
            <p:cNvPr id="45" name="Rectangle 45"/>
            <p:cNvSpPr/>
            <p:nvPr/>
          </p:nvSpPr>
          <p:spPr>
            <a:xfrm>
              <a:off x="9448800" y="4648200"/>
              <a:ext cx="2076450" cy="628650"/>
            </a:xfrm>
            <a:prstGeom prst="rect">
              <a:avLst/>
            </a:prstGeom>
            <a:solidFill>
              <a:srgbClr val="FFFFFF"/>
            </a:solidFill>
            <a:ln w="19050">
              <a:solidFill>
                <a:srgbClr val="B35A12"/>
              </a:solidFill>
            </a:ln>
          </p:spPr>
        </p:sp>
        <p:sp>
          <p:nvSpPr>
            <p:cNvPr id="46" name="TextBox 46"/>
            <p:cNvSpPr txBox="1"/>
            <p:nvPr/>
          </p:nvSpPr>
          <p:spPr>
            <a:xfrm>
              <a:off x="9629611" y="4718050"/>
              <a:ext cx="1714830" cy="492633"/>
            </a:xfrm>
            <a:prstGeom prst="rect">
              <a:avLst/>
            </a:prstGeom>
            <a:noFill/>
            <a:ln>
              <a:noFill/>
            </a:ln>
          </p:spPr>
          <p:txBody>
            <a:bodyPr wrap="square" lIns="0" tIns="0" rIns="0" bIns="0" anchor="t" anchorCtr="0">
              <a:spAutoFit/>
            </a:bodyPr>
            <a:lstStyle/>
            <a:p>
              <a:pPr algn="ctr">
                <a:lnSpc>
                  <a:spcPts val="1800"/>
                </a:lnSpc>
              </a:pPr>
              <a:r>
                <a:rPr lang="ru" sz="1350" b="1" dirty="0">
                  <a:solidFill>
                    <a:srgbClr val="B35A12"/>
                  </a:solidFill>
                  <a:latin typeface="+mn-lt"/>
                  <a:ea typeface="+mn-ea"/>
                  <a:cs typeface="+mn-cs"/>
                </a:rPr>
                <a:t>порог превышен:</a:t>
              </a:r>
              <a:br>
                <a:rPr lang="ru" sz="1350" b="1" dirty="0">
                  <a:solidFill>
                    <a:srgbClr val="B35A12"/>
                  </a:solidFill>
                  <a:latin typeface="+mn-lt"/>
                  <a:ea typeface="+mn-ea"/>
                  <a:cs typeface="+mn-cs"/>
                </a:rPr>
              </a:br>
              <a:r>
                <a:rPr lang="ru" sz="1350" b="1" dirty="0">
                  <a:solidFill>
                    <a:srgbClr val="B35A12"/>
                  </a:solidFill>
                  <a:latin typeface="+mn-lt"/>
                  <a:ea typeface="+mn-ea"/>
                  <a:cs typeface="+mn-cs"/>
                </a:rPr>
                <a:t>оповещение</a:t>
              </a:r>
            </a:p>
          </p:txBody>
        </p:sp>
        <p:sp>
          <p:nvSpPr>
            <p:cNvPr id="47" name="Rectangle 47"/>
            <p:cNvSpPr/>
            <p:nvPr/>
          </p:nvSpPr>
          <p:spPr>
            <a:xfrm>
              <a:off x="9448800" y="5391150"/>
              <a:ext cx="2076450" cy="628650"/>
            </a:xfrm>
            <a:prstGeom prst="rect">
              <a:avLst/>
            </a:prstGeom>
            <a:solidFill>
              <a:srgbClr val="F3F5F7"/>
            </a:solidFill>
            <a:ln>
              <a:noFill/>
            </a:ln>
          </p:spPr>
        </p:sp>
        <p:sp>
          <p:nvSpPr>
            <p:cNvPr id="48" name="TextBox 48"/>
            <p:cNvSpPr txBox="1"/>
            <p:nvPr/>
          </p:nvSpPr>
          <p:spPr>
            <a:xfrm>
              <a:off x="9514588" y="5461000"/>
              <a:ext cx="1944873" cy="492633"/>
            </a:xfrm>
            <a:prstGeom prst="rect">
              <a:avLst/>
            </a:prstGeom>
            <a:noFill/>
            <a:ln>
              <a:noFill/>
            </a:ln>
          </p:spPr>
          <p:txBody>
            <a:bodyPr wrap="square" lIns="0" tIns="0" rIns="0" bIns="0" anchor="t" anchorCtr="0">
              <a:spAutoFit/>
            </a:bodyPr>
            <a:lstStyle/>
            <a:p>
              <a:pPr algn="ctr">
                <a:lnSpc>
                  <a:spcPts val="1800"/>
                </a:lnSpc>
              </a:pPr>
              <a:r>
                <a:rPr lang="ru" sz="1350" b="1" dirty="0">
                  <a:solidFill>
                    <a:srgbClr val="17212B"/>
                  </a:solidFill>
                  <a:latin typeface="+mn-lt"/>
                  <a:ea typeface="+mn-ea"/>
                  <a:cs typeface="+mn-cs"/>
                </a:rPr>
                <a:t>агрегаты:</a:t>
              </a:r>
              <a:br>
                <a:rPr lang="ru" sz="1350" b="1" dirty="0">
                  <a:solidFill>
                    <a:srgbClr val="17212B"/>
                  </a:solidFill>
                  <a:latin typeface="+mn-lt"/>
                  <a:ea typeface="+mn-ea"/>
                  <a:cs typeface="+mn-cs"/>
                </a:rPr>
              </a:br>
              <a:r>
                <a:rPr lang="ru" sz="1350" b="1" dirty="0">
                  <a:solidFill>
                    <a:srgbClr val="17212B"/>
                  </a:solidFill>
                  <a:latin typeface="+mn-lt"/>
                  <a:ea typeface="+mn-ea"/>
                  <a:cs typeface="+mn-cs"/>
                </a:rPr>
                <a:t>хранилище, отчёты</a:t>
              </a:r>
            </a:p>
          </p:txBody>
        </p:sp>
      </p:grpSp>
      <p:grpSp>
        <p:nvGrpSpPr>
          <p:cNvPr id="53" name="footer"/>
          <p:cNvGrpSpPr/>
          <p:nvPr/>
        </p:nvGrpSpPr>
        <p:grpSpPr>
          <a:xfrm>
            <a:off x="603504" y="6400800"/>
            <a:ext cx="10984992" cy="348996"/>
            <a:chOff x="603504" y="6400800"/>
            <a:chExt cx="10984992" cy="348996"/>
          </a:xfrm>
        </p:grpSpPr>
        <p:sp>
          <p:nvSpPr>
            <p:cNvPr id="50" name="Line 50"/>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51" name="TextBox 51"/>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52" name="TextBox 52"/>
            <p:cNvSpPr txBox="1"/>
            <p:nvPr/>
          </p:nvSpPr>
          <p:spPr>
            <a:xfrm>
              <a:off x="10853670" y="6515100"/>
              <a:ext cx="734826"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10 / 12</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1028353" cy="714629"/>
            <a:chOff x="596646" y="381000"/>
            <a:chExt cx="1028353" cy="71462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596900"/>
              <a:ext cx="1256953"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Вывод</a:t>
              </a:r>
            </a:p>
          </p:txBody>
        </p:sp>
      </p:grpSp>
      <p:grpSp>
        <p:nvGrpSpPr>
          <p:cNvPr id="7" name="conclusion-1"/>
          <p:cNvGrpSpPr/>
          <p:nvPr/>
        </p:nvGrpSpPr>
        <p:grpSpPr>
          <a:xfrm>
            <a:off x="594360" y="2051050"/>
            <a:ext cx="5781324" cy="1063244"/>
            <a:chOff x="594360" y="2051050"/>
            <a:chExt cx="5781324" cy="1063244"/>
          </a:xfrm>
        </p:grpSpPr>
        <p:sp>
          <p:nvSpPr>
            <p:cNvPr id="5" name="TextBox 5"/>
            <p:cNvSpPr txBox="1"/>
            <p:nvPr/>
          </p:nvSpPr>
          <p:spPr>
            <a:xfrm>
              <a:off x="594360" y="2051050"/>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01</a:t>
              </a:r>
            </a:p>
          </p:txBody>
        </p:sp>
        <p:sp>
          <p:nvSpPr>
            <p:cNvPr id="6" name="TextBox 6"/>
            <p:cNvSpPr txBox="1"/>
            <p:nvPr/>
          </p:nvSpPr>
          <p:spPr>
            <a:xfrm>
              <a:off x="1324356" y="2152650"/>
              <a:ext cx="6162620" cy="961644"/>
            </a:xfrm>
            <a:prstGeom prst="rect">
              <a:avLst/>
            </a:prstGeom>
            <a:noFill/>
            <a:ln>
              <a:noFill/>
            </a:ln>
          </p:spPr>
          <p:txBody>
            <a:bodyPr wrap="square" lIns="0" tIns="0" rIns="0" bIns="0" anchor="t" anchorCtr="0">
              <a:spAutoFit/>
            </a:bodyPr>
            <a:lstStyle/>
            <a:p>
              <a:pPr algn="l">
                <a:lnSpc>
                  <a:spcPts val="2400"/>
                </a:lnSpc>
              </a:pPr>
              <a:r>
                <a:rPr lang="ru" sz="1800" dirty="0">
                  <a:solidFill>
                    <a:srgbClr val="17212B"/>
                  </a:solidFill>
                  <a:latin typeface="+mn-lt"/>
                  <a:ea typeface="+mn-ea"/>
                  <a:cs typeface="+mn-cs"/>
                </a:rPr>
                <a:t>По оценке IoT Analytics, в мире около 21 млрд</a:t>
              </a:r>
              <a:br>
                <a:rPr lang="ru" sz="1800" dirty="0">
                  <a:solidFill>
                    <a:srgbClr val="17212B"/>
                  </a:solidFill>
                  <a:latin typeface="+mn-lt"/>
                  <a:ea typeface="+mn-ea"/>
                  <a:cs typeface="+mn-cs"/>
                </a:rPr>
              </a:br>
              <a:r>
                <a:rPr lang="ru" sz="1800" dirty="0">
                  <a:solidFill>
                    <a:srgbClr val="17212B"/>
                  </a:solidFill>
                  <a:latin typeface="+mn-lt"/>
                  <a:ea typeface="+mn-ea"/>
                  <a:cs typeface="+mn-cs"/>
                </a:rPr>
                <a:t>устройств интернета вещей, и они непрерывно</a:t>
              </a:r>
              <a:br>
                <a:rPr lang="ru" sz="1800" dirty="0">
                  <a:solidFill>
                    <a:srgbClr val="17212B"/>
                  </a:solidFill>
                  <a:latin typeface="+mn-lt"/>
                  <a:ea typeface="+mn-ea"/>
                  <a:cs typeface="+mn-cs"/>
                </a:rPr>
              </a:br>
              <a:r>
                <a:rPr lang="ru" sz="1800" dirty="0">
                  <a:solidFill>
                    <a:srgbClr val="17212B"/>
                  </a:solidFill>
                  <a:latin typeface="+mn-lt"/>
                  <a:ea typeface="+mn-ea"/>
                  <a:cs typeface="+mn-cs"/>
                </a:rPr>
                <a:t>производят данные с метками времени.</a:t>
              </a:r>
            </a:p>
          </p:txBody>
        </p:sp>
      </p:grpSp>
      <p:grpSp>
        <p:nvGrpSpPr>
          <p:cNvPr id="10" name="conclusion-2"/>
          <p:cNvGrpSpPr/>
          <p:nvPr/>
        </p:nvGrpSpPr>
        <p:grpSpPr>
          <a:xfrm>
            <a:off x="594360" y="3441700"/>
            <a:ext cx="6161075" cy="758444"/>
            <a:chOff x="594360" y="3441700"/>
            <a:chExt cx="6161075" cy="758444"/>
          </a:xfrm>
        </p:grpSpPr>
        <p:sp>
          <p:nvSpPr>
            <p:cNvPr id="8" name="TextBox 8"/>
            <p:cNvSpPr txBox="1"/>
            <p:nvPr/>
          </p:nvSpPr>
          <p:spPr>
            <a:xfrm>
              <a:off x="594360" y="3441700"/>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02</a:t>
              </a:r>
            </a:p>
          </p:txBody>
        </p:sp>
        <p:sp>
          <p:nvSpPr>
            <p:cNvPr id="9" name="TextBox 9"/>
            <p:cNvSpPr txBox="1"/>
            <p:nvPr/>
          </p:nvSpPr>
          <p:spPr>
            <a:xfrm>
              <a:off x="1324356" y="3543300"/>
              <a:ext cx="6625916" cy="656844"/>
            </a:xfrm>
            <a:prstGeom prst="rect">
              <a:avLst/>
            </a:prstGeom>
            <a:noFill/>
            <a:ln>
              <a:noFill/>
            </a:ln>
          </p:spPr>
          <p:txBody>
            <a:bodyPr wrap="square" lIns="0" tIns="0" rIns="0" bIns="0" anchor="t" anchorCtr="0">
              <a:spAutoFit/>
            </a:bodyPr>
            <a:lstStyle/>
            <a:p>
              <a:pPr algn="l">
                <a:lnSpc>
                  <a:spcPts val="2400"/>
                </a:lnSpc>
              </a:pPr>
              <a:r>
                <a:rPr lang="ru" sz="1800" dirty="0">
                  <a:solidFill>
                    <a:srgbClr val="17212B"/>
                  </a:solidFill>
                  <a:latin typeface="+mn-lt"/>
                  <a:ea typeface="+mn-ea"/>
                  <a:cs typeface="+mn-cs"/>
                </a:rPr>
                <a:t>Такие данные анализируют в потоковом режиме</a:t>
              </a:r>
              <a:br>
                <a:rPr lang="ru" sz="1800" dirty="0">
                  <a:solidFill>
                    <a:srgbClr val="17212B"/>
                  </a:solidFill>
                  <a:latin typeface="+mn-lt"/>
                  <a:ea typeface="+mn-ea"/>
                  <a:cs typeface="+mn-cs"/>
                </a:rPr>
              </a:br>
              <a:r>
                <a:rPr lang="ru" sz="1800" dirty="0">
                  <a:solidFill>
                    <a:srgbClr val="17212B"/>
                  </a:solidFill>
                  <a:latin typeface="+mn-lt"/>
                  <a:ea typeface="+mn-ea"/>
                  <a:cs typeface="+mn-cs"/>
                </a:rPr>
                <a:t>с опорой на время события, водяные знаки и окна.</a:t>
              </a:r>
            </a:p>
          </p:txBody>
        </p:sp>
      </p:grpSp>
      <p:grpSp>
        <p:nvGrpSpPr>
          <p:cNvPr id="13" name="conclusion-3"/>
          <p:cNvGrpSpPr/>
          <p:nvPr/>
        </p:nvGrpSpPr>
        <p:grpSpPr>
          <a:xfrm>
            <a:off x="594360" y="4546600"/>
            <a:ext cx="5970560" cy="758444"/>
            <a:chOff x="594360" y="4546600"/>
            <a:chExt cx="5970560" cy="758444"/>
          </a:xfrm>
        </p:grpSpPr>
        <p:sp>
          <p:nvSpPr>
            <p:cNvPr id="11" name="TextBox 11"/>
            <p:cNvSpPr txBox="1"/>
            <p:nvPr/>
          </p:nvSpPr>
          <p:spPr>
            <a:xfrm>
              <a:off x="594360" y="4546600"/>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03</a:t>
              </a:r>
            </a:p>
          </p:txBody>
        </p:sp>
        <p:sp>
          <p:nvSpPr>
            <p:cNvPr id="12" name="TextBox 12"/>
            <p:cNvSpPr txBox="1"/>
            <p:nvPr/>
          </p:nvSpPr>
          <p:spPr>
            <a:xfrm>
              <a:off x="1324356" y="4648200"/>
              <a:ext cx="6393488" cy="656844"/>
            </a:xfrm>
            <a:prstGeom prst="rect">
              <a:avLst/>
            </a:prstGeom>
            <a:noFill/>
            <a:ln>
              <a:noFill/>
            </a:ln>
          </p:spPr>
          <p:txBody>
            <a:bodyPr wrap="square" lIns="0" tIns="0" rIns="0" bIns="0" anchor="t" anchorCtr="0">
              <a:spAutoFit/>
            </a:bodyPr>
            <a:lstStyle/>
            <a:p>
              <a:pPr algn="l">
                <a:lnSpc>
                  <a:spcPts val="2400"/>
                </a:lnSpc>
              </a:pPr>
              <a:r>
                <a:rPr lang="ru" sz="1800" dirty="0">
                  <a:solidFill>
                    <a:srgbClr val="17212B"/>
                  </a:solidFill>
                  <a:latin typeface="+mn-lt"/>
                  <a:ea typeface="+mn-ea"/>
                  <a:cs typeface="+mn-cs"/>
                </a:rPr>
                <a:t>Системы строят из брокера сообщений и движка</a:t>
              </a:r>
              <a:br>
                <a:rPr lang="ru" sz="1800" dirty="0">
                  <a:solidFill>
                    <a:srgbClr val="17212B"/>
                  </a:solidFill>
                  <a:latin typeface="+mn-lt"/>
                  <a:ea typeface="+mn-ea"/>
                  <a:cs typeface="+mn-cs"/>
                </a:rPr>
              </a:br>
              <a:r>
                <a:rPr lang="ru" sz="1800" dirty="0">
                  <a:solidFill>
                    <a:srgbClr val="17212B"/>
                  </a:solidFill>
                  <a:latin typeface="+mn-lt"/>
                  <a:ea typeface="+mn-ea"/>
                  <a:cs typeface="+mn-cs"/>
                </a:rPr>
                <a:t>обработки, а пакетная обработка дополняет их.</a:t>
              </a:r>
            </a:p>
          </p:txBody>
        </p:sp>
      </p:grpSp>
      <p:grpSp>
        <p:nvGrpSpPr>
          <p:cNvPr id="17" name="core-message"/>
          <p:cNvGrpSpPr/>
          <p:nvPr/>
        </p:nvGrpSpPr>
        <p:grpSpPr>
          <a:xfrm>
            <a:off x="7429500" y="1752600"/>
            <a:ext cx="4152900" cy="4343400"/>
            <a:chOff x="7429500" y="1752600"/>
            <a:chExt cx="4152900" cy="4343400"/>
          </a:xfrm>
        </p:grpSpPr>
        <p:sp>
          <p:nvSpPr>
            <p:cNvPr id="14" name="Rectangle 14"/>
            <p:cNvSpPr/>
            <p:nvPr/>
          </p:nvSpPr>
          <p:spPr>
            <a:xfrm>
              <a:off x="7429500" y="1752600"/>
              <a:ext cx="4152900" cy="4343400"/>
            </a:xfrm>
            <a:prstGeom prst="rect">
              <a:avLst/>
            </a:prstGeom>
            <a:solidFill>
              <a:srgbClr val="0E6680"/>
            </a:solidFill>
            <a:ln>
              <a:noFill/>
            </a:ln>
          </p:spPr>
        </p:sp>
        <p:sp>
          <p:nvSpPr>
            <p:cNvPr id="15" name="TextBox 15"/>
            <p:cNvSpPr txBox="1"/>
            <p:nvPr/>
          </p:nvSpPr>
          <p:spPr>
            <a:xfrm>
              <a:off x="7727442" y="2692400"/>
              <a:ext cx="1622379" cy="264033"/>
            </a:xfrm>
            <a:prstGeom prst="rect">
              <a:avLst/>
            </a:prstGeom>
            <a:noFill/>
            <a:ln>
              <a:noFill/>
            </a:ln>
          </p:spPr>
          <p:txBody>
            <a:bodyPr wrap="square" lIns="0" tIns="0" rIns="0" bIns="0" anchor="t" anchorCtr="0">
              <a:spAutoFit/>
            </a:bodyPr>
            <a:lstStyle/>
            <a:p>
              <a:pPr algn="l"/>
              <a:r>
                <a:rPr lang="ru" sz="1350" b="1" dirty="0">
                  <a:solidFill>
                    <a:srgbClr val="CFE3EA"/>
                  </a:solidFill>
                  <a:latin typeface="+mn-lt"/>
                  <a:ea typeface="+mn-ea"/>
                  <a:cs typeface="+mn-cs"/>
                </a:rPr>
                <a:t>Главная мысль</a:t>
              </a:r>
            </a:p>
          </p:txBody>
        </p:sp>
        <p:sp>
          <p:nvSpPr>
            <p:cNvPr id="16" name="TextBox 16"/>
            <p:cNvSpPr txBox="1"/>
            <p:nvPr/>
          </p:nvSpPr>
          <p:spPr>
            <a:xfrm>
              <a:off x="7722870" y="3136900"/>
              <a:ext cx="3644107" cy="2345055"/>
            </a:xfrm>
            <a:prstGeom prst="rect">
              <a:avLst/>
            </a:prstGeom>
            <a:noFill/>
            <a:ln>
              <a:noFill/>
            </a:ln>
          </p:spPr>
          <p:txBody>
            <a:bodyPr wrap="square" lIns="0" tIns="0" rIns="0" bIns="0" anchor="t" anchorCtr="0">
              <a:spAutoFit/>
            </a:bodyPr>
            <a:lstStyle/>
            <a:p>
              <a:pPr algn="l">
                <a:lnSpc>
                  <a:spcPts val="3000"/>
                </a:lnSpc>
              </a:pPr>
              <a:r>
                <a:rPr lang="ru" sz="2250" b="1" dirty="0">
                  <a:solidFill>
                    <a:srgbClr val="FFFFFF"/>
                  </a:solidFill>
                  <a:latin typeface="+mn-lt"/>
                  <a:ea typeface="+mn-ea"/>
                  <a:cs typeface="+mn-cs"/>
                </a:rPr>
                <a:t>Данные интернета</a:t>
              </a:r>
              <a:br>
                <a:rPr lang="ru" sz="2250" b="1" dirty="0">
                  <a:solidFill>
                    <a:srgbClr val="FFFFFF"/>
                  </a:solidFill>
                  <a:latin typeface="+mn-lt"/>
                  <a:ea typeface="+mn-ea"/>
                  <a:cs typeface="+mn-cs"/>
                </a:rPr>
              </a:br>
              <a:r>
                <a:rPr lang="ru" sz="2250" b="1" dirty="0">
                  <a:solidFill>
                    <a:srgbClr val="FFFFFF"/>
                  </a:solidFill>
                  <a:latin typeface="+mn-lt"/>
                  <a:ea typeface="+mn-ea"/>
                  <a:cs typeface="+mn-cs"/>
                </a:rPr>
                <a:t>вещей поступают</a:t>
              </a:r>
              <a:br>
                <a:rPr lang="ru" sz="2250" b="1" dirty="0">
                  <a:solidFill>
                    <a:srgbClr val="FFFFFF"/>
                  </a:solidFill>
                  <a:latin typeface="+mn-lt"/>
                  <a:ea typeface="+mn-ea"/>
                  <a:cs typeface="+mn-cs"/>
                </a:rPr>
              </a:br>
              <a:r>
                <a:rPr lang="ru" sz="2250" b="1" dirty="0">
                  <a:solidFill>
                    <a:srgbClr val="FFFFFF"/>
                  </a:solidFill>
                  <a:latin typeface="+mn-lt"/>
                  <a:ea typeface="+mn-ea"/>
                  <a:cs typeface="+mn-cs"/>
                </a:rPr>
                <a:t>непрерывно, поэтому</a:t>
              </a:r>
              <a:br>
                <a:rPr lang="ru" sz="2250" b="1" dirty="0">
                  <a:solidFill>
                    <a:srgbClr val="FFFFFF"/>
                  </a:solidFill>
                  <a:latin typeface="+mn-lt"/>
                  <a:ea typeface="+mn-ea"/>
                  <a:cs typeface="+mn-cs"/>
                </a:rPr>
              </a:br>
              <a:r>
                <a:rPr lang="ru" sz="2250" b="1" dirty="0">
                  <a:solidFill>
                    <a:srgbClr val="FFFFFF"/>
                  </a:solidFill>
                  <a:latin typeface="+mn-lt"/>
                  <a:ea typeface="+mn-ea"/>
                  <a:cs typeface="+mn-cs"/>
                </a:rPr>
                <a:t>их анализируют</a:t>
              </a:r>
              <a:br>
                <a:rPr lang="ru" sz="2250" b="1" dirty="0">
                  <a:solidFill>
                    <a:srgbClr val="FFFFFF"/>
                  </a:solidFill>
                  <a:latin typeface="+mn-lt"/>
                  <a:ea typeface="+mn-ea"/>
                  <a:cs typeface="+mn-cs"/>
                </a:rPr>
              </a:br>
              <a:r>
                <a:rPr lang="ru" sz="2250" b="1" dirty="0">
                  <a:solidFill>
                    <a:srgbClr val="FFFFFF"/>
                  </a:solidFill>
                  <a:latin typeface="+mn-lt"/>
                  <a:ea typeface="+mn-ea"/>
                  <a:cs typeface="+mn-cs"/>
                </a:rPr>
                <a:t>прежде всего</a:t>
              </a:r>
              <a:br>
                <a:rPr lang="ru" sz="2250" b="1" dirty="0">
                  <a:solidFill>
                    <a:srgbClr val="FFFFFF"/>
                  </a:solidFill>
                  <a:latin typeface="+mn-lt"/>
                  <a:ea typeface="+mn-ea"/>
                  <a:cs typeface="+mn-cs"/>
                </a:rPr>
              </a:br>
              <a:r>
                <a:rPr lang="ru" sz="2250" b="1" dirty="0">
                  <a:solidFill>
                    <a:srgbClr val="FFFFFF"/>
                  </a:solidFill>
                  <a:latin typeface="+mn-lt"/>
                  <a:ea typeface="+mn-ea"/>
                  <a:cs typeface="+mn-cs"/>
                </a:rPr>
                <a:t>как поток</a:t>
              </a:r>
            </a:p>
          </p:txBody>
        </p:sp>
      </p:grpSp>
      <p:grpSp>
        <p:nvGrpSpPr>
          <p:cNvPr id="21" name="footer"/>
          <p:cNvGrpSpPr/>
          <p:nvPr/>
        </p:nvGrpSpPr>
        <p:grpSpPr>
          <a:xfrm>
            <a:off x="603504" y="6400800"/>
            <a:ext cx="10984992" cy="348996"/>
            <a:chOff x="603504" y="6400800"/>
            <a:chExt cx="10984992" cy="348996"/>
          </a:xfrm>
        </p:grpSpPr>
        <p:sp>
          <p:nvSpPr>
            <p:cNvPr id="18" name="Line 18"/>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9" name="TextBox 19"/>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20" name="TextBox 20"/>
            <p:cNvSpPr txBox="1"/>
            <p:nvPr/>
          </p:nvSpPr>
          <p:spPr>
            <a:xfrm>
              <a:off x="10853670" y="6515100"/>
              <a:ext cx="734826"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11 / 12</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1821332" cy="714629"/>
            <a:chOff x="596646" y="381000"/>
            <a:chExt cx="1821332" cy="71462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596900"/>
              <a:ext cx="2222025"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Источники</a:t>
              </a:r>
            </a:p>
          </p:txBody>
        </p:sp>
      </p:grpSp>
      <p:grpSp>
        <p:nvGrpSpPr>
          <p:cNvPr id="31" name="source-list"/>
          <p:cNvGrpSpPr/>
          <p:nvPr/>
        </p:nvGrpSpPr>
        <p:grpSpPr>
          <a:xfrm>
            <a:off x="692991" y="1701800"/>
            <a:ext cx="9972803" cy="4245483"/>
            <a:chOff x="692991" y="1701800"/>
            <a:chExt cx="9972803" cy="4245483"/>
          </a:xfrm>
        </p:grpSpPr>
        <p:grpSp>
          <p:nvGrpSpPr>
            <p:cNvPr id="17" name="source-numbers"/>
            <p:cNvGrpSpPr/>
            <p:nvPr/>
          </p:nvGrpSpPr>
          <p:grpSpPr>
            <a:xfrm>
              <a:off x="692991" y="1701800"/>
              <a:ext cx="266367" cy="4245483"/>
              <a:chOff x="692991" y="1701800"/>
              <a:chExt cx="266367" cy="4245483"/>
            </a:xfrm>
          </p:grpSpPr>
          <p:sp>
            <p:nvSpPr>
              <p:cNvPr id="5" name="TextBox 5"/>
              <p:cNvSpPr txBox="1"/>
              <p:nvPr/>
            </p:nvSpPr>
            <p:spPr>
              <a:xfrm>
                <a:off x="565473" y="17018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1.</a:t>
                </a:r>
              </a:p>
            </p:txBody>
          </p:sp>
          <p:sp>
            <p:nvSpPr>
              <p:cNvPr id="6" name="TextBox 6"/>
              <p:cNvSpPr txBox="1"/>
              <p:nvPr/>
            </p:nvSpPr>
            <p:spPr>
              <a:xfrm>
                <a:off x="565473" y="206375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2.</a:t>
                </a:r>
              </a:p>
            </p:txBody>
          </p:sp>
          <p:sp>
            <p:nvSpPr>
              <p:cNvPr id="7" name="TextBox 7"/>
              <p:cNvSpPr txBox="1"/>
              <p:nvPr/>
            </p:nvSpPr>
            <p:spPr>
              <a:xfrm>
                <a:off x="565473" y="24257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3.</a:t>
                </a:r>
              </a:p>
            </p:txBody>
          </p:sp>
          <p:sp>
            <p:nvSpPr>
              <p:cNvPr id="8" name="TextBox 8"/>
              <p:cNvSpPr txBox="1"/>
              <p:nvPr/>
            </p:nvSpPr>
            <p:spPr>
              <a:xfrm>
                <a:off x="565473" y="278765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4.</a:t>
                </a:r>
              </a:p>
            </p:txBody>
          </p:sp>
          <p:sp>
            <p:nvSpPr>
              <p:cNvPr id="9" name="TextBox 9"/>
              <p:cNvSpPr txBox="1"/>
              <p:nvPr/>
            </p:nvSpPr>
            <p:spPr>
              <a:xfrm>
                <a:off x="565473" y="31496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5.</a:t>
                </a:r>
              </a:p>
            </p:txBody>
          </p:sp>
          <p:sp>
            <p:nvSpPr>
              <p:cNvPr id="10" name="TextBox 10"/>
              <p:cNvSpPr txBox="1"/>
              <p:nvPr/>
            </p:nvSpPr>
            <p:spPr>
              <a:xfrm>
                <a:off x="565473" y="351155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6.</a:t>
                </a:r>
              </a:p>
            </p:txBody>
          </p:sp>
          <p:sp>
            <p:nvSpPr>
              <p:cNvPr id="11" name="TextBox 11"/>
              <p:cNvSpPr txBox="1"/>
              <p:nvPr/>
            </p:nvSpPr>
            <p:spPr>
              <a:xfrm>
                <a:off x="565473" y="38735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7.</a:t>
                </a:r>
              </a:p>
            </p:txBody>
          </p:sp>
          <p:sp>
            <p:nvSpPr>
              <p:cNvPr id="12" name="TextBox 12"/>
              <p:cNvSpPr txBox="1"/>
              <p:nvPr/>
            </p:nvSpPr>
            <p:spPr>
              <a:xfrm>
                <a:off x="565473" y="423545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8.</a:t>
                </a:r>
              </a:p>
            </p:txBody>
          </p:sp>
          <p:sp>
            <p:nvSpPr>
              <p:cNvPr id="13" name="TextBox 13"/>
              <p:cNvSpPr txBox="1"/>
              <p:nvPr/>
            </p:nvSpPr>
            <p:spPr>
              <a:xfrm>
                <a:off x="565473" y="45974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9.</a:t>
                </a:r>
              </a:p>
            </p:txBody>
          </p:sp>
          <p:sp>
            <p:nvSpPr>
              <p:cNvPr id="14" name="TextBox 14"/>
              <p:cNvSpPr txBox="1"/>
              <p:nvPr/>
            </p:nvSpPr>
            <p:spPr>
              <a:xfrm>
                <a:off x="464391" y="4959350"/>
                <a:ext cx="494967"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10.</a:t>
                </a:r>
              </a:p>
            </p:txBody>
          </p:sp>
          <p:sp>
            <p:nvSpPr>
              <p:cNvPr id="15" name="TextBox 15"/>
              <p:cNvSpPr txBox="1"/>
              <p:nvPr/>
            </p:nvSpPr>
            <p:spPr>
              <a:xfrm>
                <a:off x="464391" y="5321300"/>
                <a:ext cx="494967"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11.</a:t>
                </a:r>
              </a:p>
            </p:txBody>
          </p:sp>
          <p:sp>
            <p:nvSpPr>
              <p:cNvPr id="16" name="TextBox 16"/>
              <p:cNvSpPr txBox="1"/>
              <p:nvPr/>
            </p:nvSpPr>
            <p:spPr>
              <a:xfrm>
                <a:off x="464391" y="5683250"/>
                <a:ext cx="494967"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12.</a:t>
                </a:r>
              </a:p>
            </p:txBody>
          </p:sp>
        </p:grpSp>
        <p:grpSp>
          <p:nvGrpSpPr>
            <p:cNvPr id="30" name="source-entries"/>
            <p:cNvGrpSpPr/>
            <p:nvPr/>
          </p:nvGrpSpPr>
          <p:grpSpPr>
            <a:xfrm>
              <a:off x="1098042" y="1701800"/>
              <a:ext cx="9567752" cy="4245483"/>
              <a:chOff x="1098042" y="1701800"/>
              <a:chExt cx="9567752" cy="4245483"/>
            </a:xfrm>
          </p:grpSpPr>
          <p:sp>
            <p:nvSpPr>
              <p:cNvPr id="18" name="TextBox 18"/>
              <p:cNvSpPr txBox="1"/>
              <p:nvPr/>
            </p:nvSpPr>
            <p:spPr>
              <a:xfrm>
                <a:off x="1098042" y="1701800"/>
                <a:ext cx="6355386"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Ashton K. That “Internet of Things” Thing // RFID Journal. 2009.</a:t>
                </a:r>
              </a:p>
            </p:txBody>
          </p:sp>
          <p:sp>
            <p:nvSpPr>
              <p:cNvPr id="19" name="TextBox 19"/>
              <p:cNvSpPr txBox="1"/>
              <p:nvPr/>
            </p:nvSpPr>
            <p:spPr>
              <a:xfrm>
                <a:off x="1098042" y="2063750"/>
                <a:ext cx="10826847"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IoT Analytics. State of IoT 2025: Number of connected IoT devices growing 14% to 21.1 billion globally. 2025.</a:t>
                </a:r>
              </a:p>
            </p:txBody>
          </p:sp>
          <p:sp>
            <p:nvSpPr>
              <p:cNvPr id="20" name="TextBox 20"/>
              <p:cNvSpPr txBox="1"/>
              <p:nvPr/>
            </p:nvSpPr>
            <p:spPr>
              <a:xfrm>
                <a:off x="1098042" y="2425700"/>
                <a:ext cx="7331721"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ITU-T. Recommendation Y.2060: Overview of the Internet of things. 2012.</a:t>
                </a:r>
              </a:p>
            </p:txBody>
          </p:sp>
          <p:sp>
            <p:nvSpPr>
              <p:cNvPr id="21" name="TextBox 21"/>
              <p:cNvSpPr txBox="1"/>
              <p:nvPr/>
            </p:nvSpPr>
            <p:spPr>
              <a:xfrm>
                <a:off x="1098042" y="2787650"/>
                <a:ext cx="5227103"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OASIS. MQTT Version 5.0. OASIS Standard. 2019.</a:t>
                </a:r>
              </a:p>
            </p:txBody>
          </p:sp>
          <p:sp>
            <p:nvSpPr>
              <p:cNvPr id="22" name="TextBox 22"/>
              <p:cNvSpPr txBox="1"/>
              <p:nvPr/>
            </p:nvSpPr>
            <p:spPr>
              <a:xfrm>
                <a:off x="1098042" y="3149600"/>
                <a:ext cx="9758475"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Akidau T. et al. The Dataflow Model // Proceedings of the VLDB Endowment. 2015. Vol. 8, No. 12.</a:t>
                </a:r>
              </a:p>
            </p:txBody>
          </p:sp>
          <p:sp>
            <p:nvSpPr>
              <p:cNvPr id="23" name="TextBox 23"/>
              <p:cNvSpPr txBox="1"/>
              <p:nvPr/>
            </p:nvSpPr>
            <p:spPr>
              <a:xfrm>
                <a:off x="1098042" y="3511550"/>
                <a:ext cx="10903458"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Akidau T., Fernández-Moctezuma R., Lax R., Mills S. The Dataflow Model Revisited // PVLDB. 2026. Vol. 19, No. 12.</a:t>
                </a:r>
              </a:p>
            </p:txBody>
          </p:sp>
          <p:sp>
            <p:nvSpPr>
              <p:cNvPr id="24" name="TextBox 24"/>
              <p:cNvSpPr txBox="1"/>
              <p:nvPr/>
            </p:nvSpPr>
            <p:spPr>
              <a:xfrm>
                <a:off x="1098042" y="3873500"/>
                <a:ext cx="10503125"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Kreps J., Narkhede N., Rao J. Kafka: a Distributed Messaging System for Log Processing // NetDB. 2011.</a:t>
                </a:r>
              </a:p>
            </p:txBody>
          </p:sp>
          <p:sp>
            <p:nvSpPr>
              <p:cNvPr id="25" name="TextBox 25"/>
              <p:cNvSpPr txBox="1"/>
              <p:nvPr/>
            </p:nvSpPr>
            <p:spPr>
              <a:xfrm>
                <a:off x="1098042" y="4235450"/>
                <a:ext cx="6830011"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Confluent. Kafka Connect MQTT Source Connector. Documentation.</a:t>
                </a:r>
              </a:p>
            </p:txBody>
          </p:sp>
          <p:sp>
            <p:nvSpPr>
              <p:cNvPr id="26" name="TextBox 26"/>
              <p:cNvSpPr txBox="1"/>
              <p:nvPr/>
            </p:nvSpPr>
            <p:spPr>
              <a:xfrm>
                <a:off x="1098042" y="4597400"/>
                <a:ext cx="4534060"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Marz N. How to beat the CAP theorem. 2011.</a:t>
                </a:r>
              </a:p>
            </p:txBody>
          </p:sp>
          <p:sp>
            <p:nvSpPr>
              <p:cNvPr id="27" name="TextBox 27"/>
              <p:cNvSpPr txBox="1"/>
              <p:nvPr/>
            </p:nvSpPr>
            <p:spPr>
              <a:xfrm>
                <a:off x="1098042" y="4959350"/>
                <a:ext cx="6968428"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Kreps J. Questioning the Lambda Architecture // O’Reilly Radar. 2014.</a:t>
                </a:r>
              </a:p>
            </p:txBody>
          </p:sp>
          <p:sp>
            <p:nvSpPr>
              <p:cNvPr id="28" name="TextBox 28"/>
              <p:cNvSpPr txBox="1"/>
              <p:nvPr/>
            </p:nvSpPr>
            <p:spPr>
              <a:xfrm>
                <a:off x="1098042" y="5321300"/>
                <a:ext cx="9248710"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Apache Flink. Documentation: Windows; Generating Watermarks; Timely Stream Processing.</a:t>
                </a:r>
              </a:p>
            </p:txBody>
          </p:sp>
          <p:sp>
            <p:nvSpPr>
              <p:cNvPr id="29" name="TextBox 29"/>
              <p:cNvSpPr txBox="1"/>
              <p:nvPr/>
            </p:nvSpPr>
            <p:spPr>
              <a:xfrm>
                <a:off x="1098042" y="5683250"/>
                <a:ext cx="5777266"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Apache Spark. Structured Streaming Programming Guide.</a:t>
                </a:r>
              </a:p>
            </p:txBody>
          </p:sp>
        </p:grpSp>
      </p:grpSp>
      <p:grpSp>
        <p:nvGrpSpPr>
          <p:cNvPr id="35" name="footer"/>
          <p:cNvGrpSpPr/>
          <p:nvPr/>
        </p:nvGrpSpPr>
        <p:grpSpPr>
          <a:xfrm>
            <a:off x="603504" y="6400800"/>
            <a:ext cx="10984992" cy="348996"/>
            <a:chOff x="603504" y="6400800"/>
            <a:chExt cx="10984992" cy="348996"/>
          </a:xfrm>
        </p:grpSpPr>
        <p:sp>
          <p:nvSpPr>
            <p:cNvPr id="32" name="Line 32"/>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33" name="TextBox 33"/>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34" name="TextBox 34"/>
            <p:cNvSpPr txBox="1"/>
            <p:nvPr/>
          </p:nvSpPr>
          <p:spPr>
            <a:xfrm>
              <a:off x="10853670" y="6515100"/>
              <a:ext cx="734826"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12 / 12</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iot-streaming">
  <a:themeElements>
    <a:clrScheme name="iot-streaming">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iot-streaming">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t-streaming">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iot-streaming">
  <a:themeElements>
    <a:clrScheme name="iot-streaming">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iot-streaming">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t-streaming">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ru</dc:language>
  <cp:lastModifiedBy/>
  <cp:revision>1</cp:revision>
  <dcterms:created xsi:type="dcterms:W3CDTF">2026-10-23T14:11:17Z</dcterms:created>
  <dcterms:modified xsi:type="dcterms:W3CDTF">2026-10-23T14:11:17Z</dcterms:modified>
  <cp:category/>
  <cp:contentStatus/>
</cp:coreProperties>
</file>